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B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C8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MAVEN SMART SYSTEM (MSS) — TRAINING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B560"/>
                </a:solidFill>
              </a:rPr>
              <a:t>USAREUR-AF C2DAO  ·  Wiesbaden, Germany  ·  UNCLASSIFIED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43032" y="201168"/>
            <a:ext cx="1463040" cy="347472"/>
          </a:xfrm>
          <a:prstGeom prst="rect">
            <a:avLst/>
          </a:prstGeom>
          <a:solidFill>
            <a:srgbClr val="C8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23774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3818"/>
                </a:solidFill>
              </a:rPr>
              <a:t>UNCLASSIFIED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24712"/>
            <a:ext cx="373989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124712"/>
            <a:ext cx="3739896" cy="292608"/>
          </a:xfrm>
          <a:prstGeom prst="rect">
            <a:avLst/>
          </a:prstGeom>
          <a:solidFill>
            <a:srgbClr val="4B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170432"/>
            <a:ext cx="3648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WHAT IT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453896"/>
            <a:ext cx="360273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A structured curriculum — three sequential core courses for all personnel, followed by role-specific specialty tracks — that builds every USAREUR-AF soldier, officer, and civilian into a data-capable user of the Maven Smart System (Palantir Foundry as the Army's operational data platform).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70632"/>
            <a:ext cx="3739896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770632"/>
            <a:ext cx="3739896" cy="292608"/>
          </a:xfrm>
          <a:prstGeom prst="rect">
            <a:avLst/>
          </a:prstGeom>
          <a:solidFill>
            <a:srgbClr val="2E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2816352"/>
            <a:ext cx="3648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LEARNING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18104"/>
            <a:ext cx="3602736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TM-10  Maven User
All personnel — navigate MSS, read
dashboards, verify data currency
      ↓  prereq: TM-10
TM-20  Builder
All staff — dashboards, forms,
basic pipelines (no-code / low-code)
      ↓  prereq: TM-20
TM-30  Advanced Builder
Data-adjacent specialists, unit data
leads — pipeline authoring, governance,
production promotion
      ↓  prereq: TM-30
TM-40  Role-Specific Tracks
WFF Functional (A–F): INT · FIRES
M&amp;M · SUST · PROT · Mission Cmd
Technical Specialist (G–L)
      ↓  (specialists only)
TM-50  Advanced / Expert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1124712"/>
            <a:ext cx="3739896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24528" y="1124712"/>
            <a:ext cx="3739896" cy="292608"/>
          </a:xfrm>
          <a:prstGeom prst="rect">
            <a:avLst/>
          </a:prstGeom>
          <a:solidFill>
            <a:srgbClr val="4B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170432"/>
            <a:ext cx="3648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TM-40 WFF FUNCTIONAL TRACKS (A–F)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472184"/>
            <a:ext cx="3602736" cy="2651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1508760"/>
            <a:ext cx="6858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B5A2A"/>
                </a:solidFill>
              </a:rPr>
              <a:t>TM-40A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1508760"/>
            <a:ext cx="28254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Intelligence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1737360"/>
            <a:ext cx="3602736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4256" y="1773936"/>
            <a:ext cx="6858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B5A2A"/>
                </a:solidFill>
              </a:rPr>
              <a:t>TM-40B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1773936"/>
            <a:ext cx="28254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Fires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002536"/>
            <a:ext cx="3602736" cy="2651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34256" y="2039112"/>
            <a:ext cx="6858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B5A2A"/>
                </a:solidFill>
              </a:rPr>
              <a:t>TM-40C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2039112"/>
            <a:ext cx="28254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Movement &amp; Maneuver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2267712"/>
            <a:ext cx="3602736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34256" y="2304288"/>
            <a:ext cx="6858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B5A2A"/>
                </a:solidFill>
              </a:rPr>
              <a:t>TM-40D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2304288"/>
            <a:ext cx="28254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Sustainment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532888"/>
            <a:ext cx="3602736" cy="2651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6" y="2569464"/>
            <a:ext cx="6858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B5A2A"/>
                </a:solidFill>
              </a:rPr>
              <a:t>TM-40E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2569464"/>
            <a:ext cx="28254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Protection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2798064"/>
            <a:ext cx="3602736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34256" y="2834640"/>
            <a:ext cx="6858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B5A2A"/>
                </a:solidFill>
              </a:rPr>
              <a:t>TM-40F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2834640"/>
            <a:ext cx="28254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Mission Command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3118104"/>
            <a:ext cx="3602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</a:rPr>
              <a:t>Prereq: TM-30  ·  No coding required  ·  Audience: functional WFF staff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24528" y="3593592"/>
            <a:ext cx="373989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24528" y="3593592"/>
            <a:ext cx="3739896" cy="292608"/>
          </a:xfrm>
          <a:prstGeom prst="rect">
            <a:avLst/>
          </a:prstGeom>
          <a:solidFill>
            <a:srgbClr val="2E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3639312"/>
            <a:ext cx="3648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TRAINING ENVIRONMENT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5968" y="3941064"/>
            <a:ext cx="36027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All training conducted in a dedicated MSS Training Environment with synthetic operational data. No training in the production MSS instance. Trainees never ingest, modify, or export production operational data.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24528" y="5148072"/>
            <a:ext cx="3739896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24528" y="5148072"/>
            <a:ext cx="3739896" cy="292608"/>
          </a:xfrm>
          <a:prstGeom prst="rect">
            <a:avLst/>
          </a:prstGeom>
          <a:solidFill>
            <a:srgbClr val="4B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80" y="5193792"/>
            <a:ext cx="3648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SCOPE &amp; SCALE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5968" y="5513832"/>
            <a:ext cx="3602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▪  3 core courses (TM-10/20/30) + specialty tracks for all roles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5968" y="5797296"/>
            <a:ext cx="3602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▪  ~141 published PDFs; Markdown source maintained in version control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5968" y="6080760"/>
            <a:ext cx="3602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▪  Dedicated exercises with hands-on labs per track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5968" y="6364224"/>
            <a:ext cx="3602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▪  PRE + POST assessments for every course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15968" y="6647688"/>
            <a:ext cx="3602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▪  Authority: USAREUR-AF G6/G9 Data Governance Directive (MSS-POI-001)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15968" y="6931152"/>
            <a:ext cx="3602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▪  Review cycle: annual or on major platform update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29016" y="1124712"/>
            <a:ext cx="3739896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29016" y="1124712"/>
            <a:ext cx="3739896" cy="292608"/>
          </a:xfrm>
          <a:prstGeom prst="rect">
            <a:avLst/>
          </a:prstGeom>
          <a:solidFill>
            <a:srgbClr val="4B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02168" y="1170432"/>
            <a:ext cx="3648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SUPPORTING PUBLICATIONS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02168" y="1472184"/>
            <a:ext cx="3602736" cy="429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38744" y="14996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A2A"/>
                </a:solidFill>
              </a:rPr>
              <a:t>Doctrine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38744" y="1673352"/>
            <a:ext cx="3538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Data Literacy (Sr Leaders + Technical), Foundry Glossary, CDA Constraints &amp; Directives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02168" y="1901952"/>
            <a:ext cx="3602736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38744" y="192938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A2A"/>
                </a:solidFill>
              </a:rPr>
              <a:t>Syllabi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38744" y="2103120"/>
            <a:ext cx="3538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Per-course learning objectives, task lists, and evaluation criteria (all 18 courses)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02168" y="2331720"/>
            <a:ext cx="3602736" cy="429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38744" y="23591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A2A"/>
                </a:solidFill>
              </a:rPr>
              <a:t>Exercises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38744" y="2532888"/>
            <a:ext cx="3538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Hands-on lab guides + environment setup per track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02168" y="2761488"/>
            <a:ext cx="3602736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38744" y="27889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A2A"/>
                </a:solidFill>
              </a:rPr>
              <a:t>Assessments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38744" y="2962656"/>
            <a:ext cx="3538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PRE + POST exams for every course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02168" y="3191256"/>
            <a:ext cx="3602736" cy="429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38744" y="321868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A2A"/>
                </a:solidFill>
              </a:rPr>
              <a:t>Training Mgmt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38744" y="3392424"/>
            <a:ext cx="3538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POI · MTP · CAD · TEO · Enrollment SOP · Annual Schedule · Faculty Dev Plan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02168" y="3621024"/>
            <a:ext cx="3602736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38744" y="36484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A2A"/>
                </a:solidFill>
              </a:rPr>
              <a:t>Standards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38744" y="3822192"/>
            <a:ext cx="3538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Naming &amp; governance standards; dependency map (cross-reference index)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29016" y="4325112"/>
            <a:ext cx="3739896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129016" y="4325112"/>
            <a:ext cx="3739896" cy="292608"/>
          </a:xfrm>
          <a:prstGeom prst="rect">
            <a:avLst/>
          </a:prstGeom>
          <a:solidFill>
            <a:srgbClr val="2E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02168" y="4370832"/>
            <a:ext cx="3648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DOCTRINE PUBLICATIONS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38744" y="4672584"/>
            <a:ext cx="3557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B5A2A"/>
                </a:solidFill>
              </a:rPr>
              <a:t>Data Literacy — Senior Leaders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38744" y="4864608"/>
            <a:ext cx="3557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1A"/>
                </a:solidFill>
              </a:rPr>
              <a:t>Strategic framing for O-5+, CSM+, and senior civilians. Principles, not procedures.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38744" y="5148072"/>
            <a:ext cx="3557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B5A2A"/>
                </a:solidFill>
              </a:rPr>
              <a:t>Data Literacy — Technical Reference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38744" y="5340096"/>
            <a:ext cx="3557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1A"/>
                </a:solidFill>
              </a:rPr>
              <a:t>Foundation data concepts for all personnel. Recommended pre-reading before TM-10.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38744" y="5623560"/>
            <a:ext cx="3557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B5A2A"/>
                </a:solidFill>
              </a:rPr>
              <a:t>Foundry Glossary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38744" y="5815584"/>
            <a:ext cx="3557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1A"/>
                </a:solidFill>
              </a:rPr>
              <a:t>Army data terms mapped to Palantir Foundry equivalents. All personnel.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38744" y="6099048"/>
            <a:ext cx="3557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B5A2A"/>
                </a:solidFill>
              </a:rPr>
              <a:t>CDA Constraints &amp; Directives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38744" y="6291072"/>
            <a:ext cx="3557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1A"/>
                </a:solidFill>
              </a:rPr>
              <a:t>Authoritative constraints on data architecture decisions. Required for TM-30+ and all specialists.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4B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0" y="6446520"/>
            <a:ext cx="12188952" cy="36576"/>
          </a:xfrm>
          <a:prstGeom prst="rect">
            <a:avLst/>
          </a:prstGeom>
          <a:solidFill>
            <a:srgbClr val="C8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28600" y="65196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B560"/>
                </a:solidFill>
              </a:rPr>
              <a:t>UNCLASSIFIED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0" y="6519672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USAREUR-AF  ·  C2DAO  ·  MSS-POI-001  ·  March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59752" y="651967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C8B560"/>
                </a:solidFill>
              </a:rPr>
              <a:t>For official use — distribution authorized to U.S. Government agencies and contractors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