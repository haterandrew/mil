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408" r:id="rId7"/>
    <p:sldId id="266" r:id="rId8"/>
    <p:sldId id="409" r:id="rId16"/>
    <p:sldId id="410" r:id="rId17"/>
    <p:sldId id="411" r:id="rId18"/>
    <p:sldId id="412" r:id="rId19"/>
    <p:sldId id="413" r:id="rId20"/>
    <p:sldId id="414" r:id="rId2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EB8A-C1B6-E98C-D759-C06A0D796A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282190"/>
            <a:ext cx="9144000" cy="492443"/>
          </a:xfrm>
        </p:spPr>
        <p:txBody>
          <a:bodyPr lIns="91440" tIns="45720" rIns="91440" bIns="45720" anchor="b"/>
          <a:lstStyle/>
          <a:p>
            <a:pPr algn="ctr"/>
            <a:r>
              <a:rPr sz="2600" b="1"/>
              <a:t>ADVANCED MSS LEADERSHIP</a:t>
            </a:r>
          </a:p>
          <a:p>
            <a:pPr algn="ctr"/>
            <a:r>
              <a:rPr sz="1700" b="0"/>
              <a:t>TM-50 Series  ·  Platform Leadership  ·  Prereq: TM-40 (track-specific)</a:t>
            </a:r>
          </a:p>
        </p:txBody>
      </p:sp>
      <p:sp>
        <p:nvSpPr>
          <p:cNvPr id="3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C5801854-AFF8-7AE9-DC62-35D4428B57A8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5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68F99201-56F1-5846-F502-599B9469BE0C}"/>
              </a:ext>
            </a:extLst>
          </p:cNvPr>
          <p:cNvSpPr txBox="1"/>
          <p:nvPr/>
        </p:nvSpPr>
        <p:spPr>
          <a:xfrm>
            <a:off x="0" y="6630439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AE28D5-6DC8-3FF0-9D86-C9BA83809A87}"/>
              </a:ext>
            </a:extLst>
          </p:cNvPr>
          <p:cNvSpPr txBox="1"/>
          <p:nvPr/>
        </p:nvSpPr>
        <p:spPr>
          <a:xfrm>
            <a:off x="4805018" y="4405608"/>
            <a:ext cx="2581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8335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  <a:endParaRPr lang="en-US" sz="11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33E84-4FF3-1460-B548-AC4726622AB9}"/>
              </a:ext>
            </a:extLst>
          </p:cNvPr>
          <p:cNvSpPr txBox="1"/>
          <p:nvPr/>
        </p:nvSpPr>
        <p:spPr>
          <a:xfrm>
            <a:off x="4065243" y="4867203"/>
            <a:ext cx="406151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>
                <a:solidFill>
                  <a:srgbClr val="17325C"/>
                </a:solidFill>
              </a:rPr>
              <a:t>USAREUR-AF  ·  C2DAO  ·  MSS</a:t>
            </a:r>
          </a:p>
        </p:txBody>
      </p:sp>
    </p:spTree>
    <p:extLst>
      <p:ext uri="{BB962C8B-B14F-4D97-AF65-F5344CB8AC3E}">
        <p14:creationId xmlns:p14="http://schemas.microsoft.com/office/powerpoint/2010/main" val="23275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WHAT CHANGES AT TM-50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TM-50 is not a continuation of TM-40 tasks — it is a change of role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TM-40: Practitioner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You execute within an established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You build models, write transforms, manage sprints, maintain knowledge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Your scope is a project or a function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TM-50: Platform Leader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You design the architecture others work within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You set standards, review work, and grow junior practitioners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Your scope is a program, a capability, or an enterprise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 Core Shift: From Doing to Governing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 practitioners spend less time writing code and more time reviewing it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Less feature engineering; more feature store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Less sprint planning; more program increment planning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Prerequisite: each TM-50 track requires its corresponding TM-40 track</a:t>
            </a:r>
          </a:p>
        </p:txBody>
      </p:sp>
    </p:spTree>
    <p:extLst>
      <p:ext uri="{BB962C8B-B14F-4D97-AF65-F5344CB8AC3E}">
        <p14:creationId xmlns:p14="http://schemas.microsoft.com/office/powerpoint/2010/main" val="22958625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THE SIX TM-50 SPECIALIST TRACKS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TM-50G — Advanced ORSA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Advanced optimization, agent-based modeling, Bayesian analysis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Wargame and campaign analysis; theater-level OR products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TM-50H — Advanced AI Engineer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Multi-agent orchestration, LLM fine-tuning, advanced RAG, AI red-teaming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Enterprise AI architecture and governance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TM-50I — Advanced ML Engineer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Advanced MLOps, federated learning, neural architectures, adversarial robustness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ML platform architecture and leadership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TM-50J — Advanced Program Manager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Scaled Agile, portfolio-level tracking, theater visibility, vendor management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TM-50K — Advanced Knowledge Manager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Enterprise KM architecture at corps/theater level, coalition knowledge sharing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TM-50L — Advanced Software Engineer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Platform SDK at scale, high-performance development, DevSecOps, security review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PLATFORM LEADERSHIP RESPONSIBILITIES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All TM-50 practitioners share a common set of platform leadership duties: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Architecture Governance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Review designs proposed by TM-40 practitioners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Enforce standards; escalate architectural risks to C2DAO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Standards Setting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Define coding standards, documentation requirements, and review criteria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Own the Definition of Done for your domain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Mentorship and Team Development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Structured code review and design review for TM-40 practitioners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Succession planning: document institutional knowledge before rotation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Cross-Track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 practitioners coordinate across all TM-50 tracks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domain operates in isolation at enterprise scale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Governance Reporting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Produce domain status assessments for GO/SES leadership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Communicate technical debt, risk, and capacity constraints clearly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ENTERPRISE RISK AND COMPLIANCE AT TM-50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Policy Framework (common across all TM-50 tracks)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DoD Instruction 5000.89 — Test and Evaluation of AI/ML Systems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DoD RAIMTF — Responsible AI Implementation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Army AI Ethics Policy and USAREUR-AF implementing instructions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AR 25-2 — Army Cybersecurity (governs all platform code)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ATO (Authority to Operate) Responsibilities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TM-50L owns ATO support documentation for platform components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TM-50H/I own model-level risk documentation (RAIMTF)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TM-50J owns program-level governance and policy compliance framework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Institutional Memory Risk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At TM-50, you hold disproportionate institutional knowledge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Knowledge documentation is not optional — it is a platform resilience requirement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Model cards, architecture diagrams, decision records must survive your rotation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TM-50 TRACK SELECTION AND ENROLLMENT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Enrollment Prerequisite: Corresponding TM-40 Track Required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TM-50G: requires TM-40G (ORSA)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TM-50H: requires TM-40H (AI Engineer)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TM-50I: requires TM-40I (ML Engineer)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TM-50J: requires TM-40J (Program Manager)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TM-50K: requires TM-40K (Knowledge Manager)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TM-50L: requires TM-40L (Software Engineer)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Who Should Enroll in TM-50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Personnel who will lead a platform domain (not just contribute to it)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Personnel who supervise TM-40 practitioners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Senior civilian or warrant officer personnel in technical leadership roles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Enrollment is coordinator-approved — not self-service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Nomination by direct supervisor required; MSS Training Coordinator approval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 is not a competition — it is a responsibility assignment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CROSS-TRACK TM-50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At enterprise scale, TM-50 tracks must coordinate as a leadership team: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TM-50L + TM-50H/I — Platform and AI/ML Alignment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SWE provides the platform; AI/ML operates on it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Shared Feature Store design, inference endpoint architecture, CI/CD pipeline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TM-50G + TM-50H/I — ORSA and AI/ML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ORSA validates AI/ML model assumptions and interprets outputs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AI/ML operationalizes ORSA research findings at production scale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TM-50K + All Tracks — Knowledge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KM owns the ontology and knowledge graph that all tracks depend 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Ontology changes require TM-50K review before implementation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TM-50J — Program Integration Authority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PM is the integration point for all TM-50 domains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Dependency management, portfolio visibility, and commander reporting are PM-owned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Monthly TM-50 leadership sync recommended: dependency review + risk escalation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MSS LEADERSHIP  ·  TM-50 OVERVIEW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FROM TM-40 TO TM-50 — THE READINESS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Before enrolling in TM-50, practitioners should be able to: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Technical Readiness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Independently complete all TM-40 tasks without reference to the manual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Have reviewed the work of at least one other TM-40 practitioner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Have experienced at least one production incident in your domain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Leadership Readiness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Have given structured feedback on a design or code review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Have documented an architectural decision (ADR format preferred)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Have communicated technical status to a non-technical senior leader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Governance Readiness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Understand your domain's policy framework (DoD RAIMTF, AR 25-2, etc.)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Have completed at least one Model Card or architecture review artifact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Talk to your supervisor and MSS Training Coordinator before enrolling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 enrollment without readiness wastes institutional capacity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