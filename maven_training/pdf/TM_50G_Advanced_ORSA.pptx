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  <p:sldMasterId id="2147483656" r:id="rId6"/>
  </p:sldMasterIdLst>
  <p:notesMasterIdLst>
    <p:notesMasterId r:id="rId9"/>
  </p:notesMasterIdLst>
  <p:handoutMasterIdLst>
    <p:handoutMasterId r:id="rId10"/>
  </p:handoutMasterIdLst>
  <p:sldIdLst>
    <p:sldId id="408" r:id="rId7"/>
    <p:sldId id="266" r:id="rId8"/>
    <p:sldId id="409" r:id="rId16"/>
    <p:sldId id="410" r:id="rId17"/>
    <p:sldId id="411" r:id="rId18"/>
    <p:sldId id="412" r:id="rId19"/>
    <p:sldId id="413" r:id="rId20"/>
    <p:sldId id="414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5B"/>
    <a:srgbClr val="007A33"/>
    <a:srgbClr val="18335F"/>
    <a:srgbClr val="14A89C"/>
    <a:srgbClr val="E33525"/>
    <a:srgbClr val="6BB572"/>
    <a:srgbClr val="D4E0F4"/>
    <a:srgbClr val="B9CDED"/>
    <a:srgbClr val="55AB5D"/>
    <a:srgbClr val="35B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92B2E-49A2-402D-A26B-5C538659EFC8}" v="122" dt="2026-02-11T14:00:46.117"/>
    <p1510:client id="{463AD0CE-DD73-4DA3-99F2-0704B0E55521}" v="262" dt="2026-02-11T10:53:40.130"/>
    <p1510:client id="{6D831AC9-A3F8-FED7-23CC-34E2FE2DA58E}" v="8" dt="2026-02-11T10:10:32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08" y="103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DADEB-4281-237A-DFA4-F48BC050D0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17722-4BCC-638B-7C83-EB41553C8E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C9A975-6FC3-4939-A82D-0C7EB457A410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55B00-7AEB-18E9-156C-FB575CEE5D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E733EE-4555-1770-2A4C-00CFAE4FBA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EB839-8834-49B1-9A1E-0BEF01290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97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B995F2B-7481-44A3-AD31-CCFCA44A813A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1162050"/>
            <a:ext cx="5578475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3"/>
            <a:ext cx="5608320" cy="3660458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7C0CC641-8F98-4103-9AA8-4ECF5A0510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810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2DF65-F599-38E0-9D95-C4D556A2DD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183870"/>
            <a:ext cx="9144000" cy="490259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l">
              <a:defRPr sz="3200">
                <a:solidFill>
                  <a:schemeClr val="bg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4212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lSlideMaster.BlankHeader" descr="CLASSIFICATION: UNCLASSIFIED//REL TO CAN, NATO"/>
          <p:cNvSpPr txBox="1"/>
          <p:nvPr userDrawn="1"/>
        </p:nvSpPr>
        <p:spPr>
          <a:xfrm>
            <a:off x="0" y="0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E57D0782-9828-DDF2-EDB3-1C9A429C2271}"/>
              </a:ext>
            </a:extLst>
          </p:cNvPr>
          <p:cNvSpPr txBox="1"/>
          <p:nvPr userDrawn="1"/>
        </p:nvSpPr>
        <p:spPr>
          <a:xfrm>
            <a:off x="0" y="6611779"/>
            <a:ext cx="1219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1000" b="1" i="0" u="none" baseline="0">
                <a:solidFill>
                  <a:schemeClr val="bg1"/>
                </a:solidFill>
                <a:latin typeface="arial" panose="020B0604020202020204" pitchFamily="34" charset="0"/>
              </a:rPr>
              <a:t>CUI//REL TO USA, NATO</a:t>
            </a:r>
          </a:p>
        </p:txBody>
      </p:sp>
    </p:spTree>
    <p:extLst>
      <p:ext uri="{BB962C8B-B14F-4D97-AF65-F5344CB8AC3E}">
        <p14:creationId xmlns:p14="http://schemas.microsoft.com/office/powerpoint/2010/main" val="42751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0865E3A-0875-BC3D-AC1C-BA7AB625F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3B314D-DC9D-74EC-5306-9BDAD410377A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</p:spTree>
    <p:extLst>
      <p:ext uri="{BB962C8B-B14F-4D97-AF65-F5344CB8AC3E}">
        <p14:creationId xmlns:p14="http://schemas.microsoft.com/office/powerpoint/2010/main" val="2452036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C6F9-AC9F-84FB-7F37-5FF05AF27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86408A-440A-3618-782A-04FD90050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A782D-2A4A-407B-A19B-CE3E0EB33462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2B866-3835-1DBB-3EEA-766D3BA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BCE51-6783-29CC-CBE3-ED5730FDC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187072-E7F1-4C19-9E98-96DEAF7C2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85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2.xml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7">
            <a:extLst>
              <a:ext uri="{FF2B5EF4-FFF2-40B4-BE49-F238E27FC236}">
                <a16:creationId xmlns:a16="http://schemas.microsoft.com/office/drawing/2014/main" id="{301D12D0-C067-0E7E-5B6A-70C9F9D73C9D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713880" y="0"/>
            <a:ext cx="552960" cy="713520"/>
          </a:xfrm>
          <a:prstGeom prst="rect">
            <a:avLst/>
          </a:prstGeom>
          <a:ln>
            <a:noFill/>
          </a:ln>
        </p:spPr>
      </p:pic>
      <p:sp>
        <p:nvSpPr>
          <p:cNvPr id="25" name="CustomShape 1">
            <a:extLst>
              <a:ext uri="{FF2B5EF4-FFF2-40B4-BE49-F238E27FC236}">
                <a16:creationId xmlns:a16="http://schemas.microsoft.com/office/drawing/2014/main" id="{485D91C9-3496-74D4-68D4-E929EE6279E7}"/>
              </a:ext>
            </a:extLst>
          </p:cNvPr>
          <p:cNvSpPr/>
          <p:nvPr userDrawn="1"/>
        </p:nvSpPr>
        <p:spPr>
          <a:xfrm>
            <a:off x="51120" y="6604200"/>
            <a:ext cx="1683720" cy="25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050" b="0" i="1" strike="noStrike" spc="-1">
                <a:solidFill>
                  <a:srgbClr val="FFFFFF"/>
                </a:solidFill>
                <a:latin typeface="Franklin Gothic Demi"/>
              </a:rPr>
              <a:t>STRONGER TOGETHER</a:t>
            </a:r>
            <a:endParaRPr lang="en-US" sz="1050" b="0" strike="noStrike" spc="-1">
              <a:latin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B11185-54EB-877D-0649-86E1A3CF45DC}"/>
              </a:ext>
            </a:extLst>
          </p:cNvPr>
          <p:cNvSpPr txBox="1"/>
          <p:nvPr userDrawn="1"/>
        </p:nvSpPr>
        <p:spPr>
          <a:xfrm>
            <a:off x="10524258" y="6600283"/>
            <a:ext cx="105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i="1" kern="1200">
                <a:solidFill>
                  <a:prstClr val="white"/>
                </a:solidFill>
                <a:latin typeface="Arial"/>
              </a:rPr>
              <a:t>20 AUG 24</a:t>
            </a:r>
            <a:endParaRPr kumimoji="0" lang="en-US" sz="800" b="1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925F3-B8CD-0466-070D-41F4E005AE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1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>
            <a:extLst>
              <a:ext uri="{FF2B5EF4-FFF2-40B4-BE49-F238E27FC236}">
                <a16:creationId xmlns:a16="http://schemas.microsoft.com/office/drawing/2014/main" id="{19BFCBB0-49E2-1DF3-CA77-3EDCA8BA82AE}"/>
              </a:ext>
            </a:extLst>
          </p:cNvPr>
          <p:cNvPicPr/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102"/>
            <a:ext cx="12187439" cy="6855434"/>
          </a:xfrm>
          <a:prstGeom prst="rect">
            <a:avLst/>
          </a:prstGeom>
          <a:ln>
            <a:noFill/>
          </a:ln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FDD424F-C8B5-7EC0-EBB0-384358D3F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7527" y="6652985"/>
            <a:ext cx="350520" cy="185738"/>
          </a:xfrm>
          <a:prstGeom prst="rect">
            <a:avLst/>
          </a:prstGeom>
        </p:spPr>
        <p:txBody>
          <a:bodyPr anchor="ctr"/>
          <a:lstStyle>
            <a:lvl1pPr algn="ctr">
              <a:defRPr sz="900">
                <a:latin typeface="Franklin Gothic Demi Cond" panose="020B0706030402020204" pitchFamily="34" charset="0"/>
              </a:defRPr>
            </a:lvl1pPr>
          </a:lstStyle>
          <a:p>
            <a:fld id="{871F8A0E-E126-4E4A-8440-333DA579F00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05D163-4D52-F1AB-BA97-43F1FEBB9547}"/>
              </a:ext>
            </a:extLst>
          </p:cNvPr>
          <p:cNvSpPr/>
          <p:nvPr userDrawn="1"/>
        </p:nvSpPr>
        <p:spPr>
          <a:xfrm>
            <a:off x="11114928" y="206375"/>
            <a:ext cx="1074793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NATO ALLIED </a:t>
            </a:r>
          </a:p>
          <a:p>
            <a:pPr algn="r"/>
            <a:r>
              <a:rPr lang="en-US" sz="900">
                <a:latin typeface="Franklin Gothic Medium Cond" panose="020B0606030402020204" pitchFamily="34" charset="0"/>
                <a:cs typeface="Gisha" panose="020B0502040204020203" pitchFamily="34" charset="-79"/>
              </a:rPr>
              <a:t>LAND COMMAND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B09D3-7306-306D-B12F-D66D4C517E3D}"/>
              </a:ext>
            </a:extLst>
          </p:cNvPr>
          <p:cNvSpPr/>
          <p:nvPr userDrawn="1"/>
        </p:nvSpPr>
        <p:spPr>
          <a:xfrm>
            <a:off x="0" y="206375"/>
            <a:ext cx="638175" cy="431800"/>
          </a:xfrm>
          <a:prstGeom prst="rect">
            <a:avLst/>
          </a:prstGeom>
          <a:solidFill>
            <a:srgbClr val="1731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U.S. ARMY</a:t>
            </a:r>
          </a:p>
          <a:p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EUROPE</a:t>
            </a:r>
            <a:b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</a:br>
            <a:r>
              <a:rPr lang="en-US" sz="900" dirty="0">
                <a:latin typeface="Franklin Gothic Medium Cond" panose="020B0606030402020204" pitchFamily="34" charset="0"/>
                <a:cs typeface="Gisha" panose="020B0502040204020203" pitchFamily="34" charset="-79"/>
              </a:rPr>
              <a:t>&amp; AFRICA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778D578-0837-9A33-8018-92ECDC67F499}"/>
              </a:ext>
            </a:extLst>
          </p:cNvPr>
          <p:cNvSpPr/>
          <p:nvPr userDrawn="1"/>
        </p:nvSpPr>
        <p:spPr>
          <a:xfrm>
            <a:off x="10975734" y="177006"/>
            <a:ext cx="366713" cy="490537"/>
          </a:xfrm>
          <a:custGeom>
            <a:avLst/>
            <a:gdLst>
              <a:gd name="connsiteX0" fmla="*/ 0 w 366713"/>
              <a:gd name="connsiteY0" fmla="*/ 59531 h 490537"/>
              <a:gd name="connsiteX1" fmla="*/ 35719 w 366713"/>
              <a:gd name="connsiteY1" fmla="*/ 0 h 490537"/>
              <a:gd name="connsiteX2" fmla="*/ 335756 w 366713"/>
              <a:gd name="connsiteY2" fmla="*/ 2381 h 490537"/>
              <a:gd name="connsiteX3" fmla="*/ 366713 w 366713"/>
              <a:gd name="connsiteY3" fmla="*/ 57150 h 490537"/>
              <a:gd name="connsiteX4" fmla="*/ 352425 w 366713"/>
              <a:gd name="connsiteY4" fmla="*/ 85725 h 490537"/>
              <a:gd name="connsiteX5" fmla="*/ 342900 w 366713"/>
              <a:gd name="connsiteY5" fmla="*/ 100012 h 490537"/>
              <a:gd name="connsiteX6" fmla="*/ 338138 w 366713"/>
              <a:gd name="connsiteY6" fmla="*/ 116681 h 490537"/>
              <a:gd name="connsiteX7" fmla="*/ 338138 w 366713"/>
              <a:gd name="connsiteY7" fmla="*/ 128587 h 490537"/>
              <a:gd name="connsiteX8" fmla="*/ 352425 w 366713"/>
              <a:gd name="connsiteY8" fmla="*/ 328612 h 490537"/>
              <a:gd name="connsiteX9" fmla="*/ 345281 w 366713"/>
              <a:gd name="connsiteY9" fmla="*/ 350043 h 490537"/>
              <a:gd name="connsiteX10" fmla="*/ 335756 w 366713"/>
              <a:gd name="connsiteY10" fmla="*/ 369093 h 490537"/>
              <a:gd name="connsiteX11" fmla="*/ 309563 w 366713"/>
              <a:gd name="connsiteY11" fmla="*/ 397668 h 490537"/>
              <a:gd name="connsiteX12" fmla="*/ 269081 w 366713"/>
              <a:gd name="connsiteY12" fmla="*/ 426243 h 490537"/>
              <a:gd name="connsiteX13" fmla="*/ 247650 w 366713"/>
              <a:gd name="connsiteY13" fmla="*/ 435768 h 490537"/>
              <a:gd name="connsiteX14" fmla="*/ 247650 w 366713"/>
              <a:gd name="connsiteY14" fmla="*/ 435768 h 490537"/>
              <a:gd name="connsiteX15" fmla="*/ 228600 w 366713"/>
              <a:gd name="connsiteY15" fmla="*/ 454818 h 490537"/>
              <a:gd name="connsiteX16" fmla="*/ 185738 w 366713"/>
              <a:gd name="connsiteY16" fmla="*/ 490537 h 490537"/>
              <a:gd name="connsiteX17" fmla="*/ 142875 w 366713"/>
              <a:gd name="connsiteY17" fmla="*/ 452437 h 490537"/>
              <a:gd name="connsiteX18" fmla="*/ 126206 w 366713"/>
              <a:gd name="connsiteY18" fmla="*/ 440531 h 490537"/>
              <a:gd name="connsiteX19" fmla="*/ 107156 w 366713"/>
              <a:gd name="connsiteY19" fmla="*/ 431006 h 490537"/>
              <a:gd name="connsiteX20" fmla="*/ 80963 w 366713"/>
              <a:gd name="connsiteY20" fmla="*/ 416718 h 490537"/>
              <a:gd name="connsiteX21" fmla="*/ 69056 w 366713"/>
              <a:gd name="connsiteY21" fmla="*/ 404812 h 490537"/>
              <a:gd name="connsiteX22" fmla="*/ 47625 w 366713"/>
              <a:gd name="connsiteY22" fmla="*/ 392906 h 490537"/>
              <a:gd name="connsiteX23" fmla="*/ 26194 w 366713"/>
              <a:gd name="connsiteY23" fmla="*/ 354806 h 490537"/>
              <a:gd name="connsiteX24" fmla="*/ 14288 w 366713"/>
              <a:gd name="connsiteY24" fmla="*/ 330993 h 490537"/>
              <a:gd name="connsiteX25" fmla="*/ 28575 w 366713"/>
              <a:gd name="connsiteY25" fmla="*/ 119062 h 490537"/>
              <a:gd name="connsiteX26" fmla="*/ 0 w 366713"/>
              <a:gd name="connsiteY26" fmla="*/ 59531 h 490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366713" h="490537">
                <a:moveTo>
                  <a:pt x="0" y="59531"/>
                </a:moveTo>
                <a:lnTo>
                  <a:pt x="35719" y="0"/>
                </a:lnTo>
                <a:lnTo>
                  <a:pt x="335756" y="2381"/>
                </a:lnTo>
                <a:lnTo>
                  <a:pt x="366713" y="57150"/>
                </a:lnTo>
                <a:lnTo>
                  <a:pt x="352425" y="85725"/>
                </a:lnTo>
                <a:lnTo>
                  <a:pt x="342900" y="100012"/>
                </a:lnTo>
                <a:lnTo>
                  <a:pt x="338138" y="116681"/>
                </a:lnTo>
                <a:lnTo>
                  <a:pt x="338138" y="128587"/>
                </a:lnTo>
                <a:lnTo>
                  <a:pt x="352425" y="328612"/>
                </a:lnTo>
                <a:lnTo>
                  <a:pt x="345281" y="350043"/>
                </a:lnTo>
                <a:lnTo>
                  <a:pt x="335756" y="369093"/>
                </a:lnTo>
                <a:lnTo>
                  <a:pt x="309563" y="397668"/>
                </a:lnTo>
                <a:lnTo>
                  <a:pt x="269081" y="426243"/>
                </a:lnTo>
                <a:lnTo>
                  <a:pt x="247650" y="435768"/>
                </a:lnTo>
                <a:lnTo>
                  <a:pt x="247650" y="435768"/>
                </a:lnTo>
                <a:lnTo>
                  <a:pt x="228600" y="454818"/>
                </a:lnTo>
                <a:lnTo>
                  <a:pt x="185738" y="490537"/>
                </a:lnTo>
                <a:lnTo>
                  <a:pt x="142875" y="452437"/>
                </a:lnTo>
                <a:lnTo>
                  <a:pt x="126206" y="440531"/>
                </a:lnTo>
                <a:lnTo>
                  <a:pt x="107156" y="431006"/>
                </a:lnTo>
                <a:lnTo>
                  <a:pt x="80963" y="416718"/>
                </a:lnTo>
                <a:lnTo>
                  <a:pt x="69056" y="404812"/>
                </a:lnTo>
                <a:lnTo>
                  <a:pt x="47625" y="392906"/>
                </a:lnTo>
                <a:lnTo>
                  <a:pt x="26194" y="354806"/>
                </a:lnTo>
                <a:lnTo>
                  <a:pt x="14288" y="330993"/>
                </a:lnTo>
                <a:lnTo>
                  <a:pt x="28575" y="119062"/>
                </a:lnTo>
                <a:lnTo>
                  <a:pt x="0" y="59531"/>
                </a:lnTo>
                <a:close/>
              </a:path>
            </a:pathLst>
          </a:cu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529">
            <a:extLst>
              <a:ext uri="{FF2B5EF4-FFF2-40B4-BE49-F238E27FC236}">
                <a16:creationId xmlns:a16="http://schemas.microsoft.com/office/drawing/2014/main" id="{26C33E8B-269D-9501-387E-B4969E7418B7}"/>
              </a:ext>
            </a:extLst>
          </p:cNvPr>
          <p:cNvPicPr/>
          <p:nvPr userDrawn="1"/>
        </p:nvPicPr>
        <p:blipFill>
          <a:blip r:embed="rId5" cstate="print">
            <a:clrChange>
              <a:clrFrom>
                <a:srgbClr val="006A00"/>
              </a:clrFrom>
              <a:clrTo>
                <a:srgbClr val="006A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43191" y="170286"/>
            <a:ext cx="431800" cy="521987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Logo, icon&#10;&#10;Description automatically generated">
            <a:extLst>
              <a:ext uri="{FF2B5EF4-FFF2-40B4-BE49-F238E27FC236}">
                <a16:creationId xmlns:a16="http://schemas.microsoft.com/office/drawing/2014/main" id="{6DEC6DC4-9132-36C6-66F5-9B91251A593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6173" y="1117672"/>
            <a:ext cx="3893267" cy="510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241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BEB8A-C1B6-E98C-D759-C06A0D796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2057" y="3282190"/>
            <a:ext cx="9144000" cy="492443"/>
          </a:xfrm>
        </p:spPr>
        <p:txBody>
          <a:bodyPr lIns="91440" tIns="45720" rIns="91440" bIns="45720" anchor="b"/>
          <a:lstStyle/>
          <a:p>
            <a:pPr algn="ctr"/>
            <a:r>
              <a:rPr sz="2600" b="1"/>
              <a:t>ADVANCED ORSA: THEATER-LEVEL ANALYSIS</a:t>
            </a:r>
          </a:p>
          <a:p>
            <a:pPr algn="ctr"/>
            <a:r>
              <a:rPr sz="1700" b="0"/>
              <a:t>TM-50G  ·  Advanced Specialist  ·  Prereq: TM-40G</a:t>
            </a:r>
          </a:p>
        </p:txBody>
      </p:sp>
      <p:sp>
        <p:nvSpPr>
          <p:cNvPr id="3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C5801854-AFF8-7AE9-DC62-35D4428B57A8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5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68F99201-56F1-5846-F502-599B9469BE0C}"/>
              </a:ext>
            </a:extLst>
          </p:cNvPr>
          <p:cNvSpPr txBox="1"/>
          <p:nvPr/>
        </p:nvSpPr>
        <p:spPr>
          <a:xfrm>
            <a:off x="0" y="6630439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E28D5-6DC8-3FF0-9D86-C9BA83809A87}"/>
              </a:ext>
            </a:extLst>
          </p:cNvPr>
          <p:cNvSpPr txBox="1"/>
          <p:nvPr/>
        </p:nvSpPr>
        <p:spPr>
          <a:xfrm>
            <a:off x="4805018" y="4405608"/>
            <a:ext cx="25819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8335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  <a:endParaRPr lang="en-US" sz="11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33E84-4FF3-1460-B548-AC4726622AB9}"/>
              </a:ext>
            </a:extLst>
          </p:cNvPr>
          <p:cNvSpPr txBox="1"/>
          <p:nvPr/>
        </p:nvSpPr>
        <p:spPr>
          <a:xfrm>
            <a:off x="4065243" y="4867203"/>
            <a:ext cx="406151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100">
                <a:solidFill>
                  <a:srgbClr val="17325C"/>
                </a:solidFill>
              </a:rPr>
              <a:t>USAREUR-AF  ·  C2DAO  ·  MSS</a:t>
            </a:r>
          </a:p>
        </p:txBody>
      </p:sp>
    </p:spTree>
    <p:extLst>
      <p:ext uri="{BB962C8B-B14F-4D97-AF65-F5344CB8AC3E}">
        <p14:creationId xmlns:p14="http://schemas.microsoft.com/office/powerpoint/2010/main" val="2327521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FROM TM-40G TO TM-50G — SCOPE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TM-40G (ORSA): Practitioner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Statistical modeling, time series, Monte Carlo, code workspaces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Products for brigade/division-level commanders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TM-50G (Advanced ORSA): Platform Leader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Advanced optimization, agent-based modeling, Bayesian/causal inference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Wargame support and campaign-level assessment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Theater-level OR products for GO/SES audiences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Shifts at TM-50G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Analysis under deep uncertainty — not just risk quantification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Building persistent analytical environments, not one-off analyses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Leading OR teams and setting analytical standards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Integrating ML/AI outputs with ORSA products</a:t>
            </a:r>
          </a:p>
        </p:txBody>
      </p:sp>
    </p:spTree>
    <p:extLst>
      <p:ext uri="{BB962C8B-B14F-4D97-AF65-F5344CB8AC3E}">
        <p14:creationId xmlns:p14="http://schemas.microsoft.com/office/powerpoint/2010/main" val="229586251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ADVANCED OPTIMIZATION (CHAPTER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When Linear Programming Is Insufficient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LP assumes linearity, certainty, and single objective — operational reality has none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Move to: Nonlinear, Multi-Objective, and Stochastic programming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Multi-Objective Optimization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COA comparison: optimize simultaneously for speed, risk, and logistics cost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Pareto frontier: surface the tradeoff, let the commander choose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Stochastic Programming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Scenarios drawn from probability distributions — not single-point estimates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Two-stage stochastic models: decide now, respond to uncertainty later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Metaheuristic Methods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Genetic algorithms, simulated annealing for large combinatorial problems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Use when exact optimization is computationally intractable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Task: Multi-Objective COA Comparison using Pareto analysis in MSS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AGENT-BASED MODELING AND SIMULATION (CHAPTER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When to Use ABMS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Emergent behavior from individual agent interactions — not solvable analytically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Examples: adversary adaptation, convoy security, crowd dynamics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ABMS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Agents: each unit/entity has rules for perception, decision, and action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Environment: terrain, supply levels, threat data — loaded from MSS datasets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Rules: doctrine-aligned — agents follow FM-consistent decision logic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Mesa Framework (Python) on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Mesa: approved ABMS library for MSS code workspaces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Calibration: tune agent parameters against historical operational data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Advanced ABMS: Adversary Adaptation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RED force agents adapt to BLUE actions — not static threat modeling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Enables robust COA testing against adaptive, not scripted, opposition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BAYESIAN ANALYSIS AND CAUSAL INFERENCE (CHAPTER 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Bayesian Framework for Operational Analysis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Prior belief + new evidence → updated belief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Explicitly handles small data and expert knowledge incorporation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Produces probability distributions, not point estimates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Bayesian Networks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causal relationships between operational variables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Use case: readiness cascade — how maintenance backlog affects C-rating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Causal Inference for Operational Analysis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Correlation ≠ causation — especially in operational data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Counterfactual analysis: 'What would readiness have been without intervention X?'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DoWhy and CausalML frameworks approved for MSS use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Key Distinction: Bayesian inference (updating beliefs) vs. causal inference (mechanism)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Both required for rigorous theater-level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WARGAME AND CAMPAIGN ANALYSIS (CHAPTER 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OR Support to MDMP — The Analytical Cell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ORSA embedded in planning team: quantifies COA comparison criteria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Products at each MDMP step: from mission analysis through COA approval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Designing OR Support to Multi-Echelon Wargames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Data architecture for wargame: inputs, adjudication data, outputs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Real-time analysis during wargame execution — not post-hoc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Campaign-Level Assessment Architecture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Persistent model library supports theater campaign assessment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MOE/MOP framework: what we measure and why, defined before operations begin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RED Force Modeling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Adversary decision modeling — not just capability inventory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Threat COA probability estimates fed from intelligence data in MSS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DECISION ANALYSIS UNDER DEEP UNCERTAINTY (CHAPTER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The Deep Uncertainty Problem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Some operational uncertainties cannot be quantified with probabilities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Deep uncertainty: we do not know the probability distribution itself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XLRM Framework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X: Exogenous uncertainties (what we cannot control)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L: Levers (COA options)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R: Relationships (models connecting X and L to outcomes)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M: Measures of performance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Robustness Analysis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Identify COAs that perform acceptably across ALL plausible futures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Not 'best expected outcome' — 'least regret under worst case'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Scenario-Based Planning and Adaptive Strategy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Decision trees with branch conditions — when to switch COA based on indicators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ORSA communicates uncertainty honestly to GO/SES — not false precision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>
            <a:extLst>
              <a:ext uri="{FF2B5EF4-FFF2-40B4-BE49-F238E27FC236}">
                <a16:creationId xmlns:a16="http://schemas.microsoft.com/office/drawing/2014/main" id="{8E715E04-BA43-421C-27BE-4D6053801C15}"/>
              </a:ext>
            </a:extLst>
          </p:cNvPr>
          <p:cNvSpPr txBox="1"/>
          <p:nvPr/>
        </p:nvSpPr>
        <p:spPr>
          <a:xfrm>
            <a:off x="1062990" y="20852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7325C"/>
                </a:solidFill>
              </a:rPr>
              <a:t>ADVANCED ORSA  ·  TM-50G  ·  Advanced Specialist</a:t>
            </a:r>
            <a:endParaRPr lang="en-CA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hlSlideMaster.BlankHeader" descr="CLASSIFICATION: UNCLASSIFIED//REL TO CAN, NATO">
            <a:extLst>
              <a:ext uri="{FF2B5EF4-FFF2-40B4-BE49-F238E27FC236}">
                <a16:creationId xmlns:a16="http://schemas.microsoft.com/office/drawing/2014/main" id="{29BF3DA0-AD4D-B0FA-DC24-FE551C0CC702}"/>
              </a:ext>
            </a:extLst>
          </p:cNvPr>
          <p:cNvSpPr txBox="1"/>
          <p:nvPr/>
        </p:nvSpPr>
        <p:spPr>
          <a:xfrm>
            <a:off x="0" y="0"/>
            <a:ext cx="12192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CA" sz="900" b="1" i="0" u="none" baseline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UNCLASSIFIED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4985785-28F3-F833-8C85-F13A81C47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7030A0"/>
                </a:solidFill>
              </a:rPr>
              <a:t>UNCLASSIFIED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731520"/>
            <a:ext cx="119146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7325C"/>
                </a:solidFill>
              </a:rPr>
              <a:t>SENIOR-LEVEL OR PRODUCTS AND TEAM STANDARDS (CHAPTERS 7–8)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1207008"/>
            <a:ext cx="11914632" cy="18288"/>
          </a:xfrm>
          <a:prstGeom prst="rect">
            <a:avLst/>
          </a:prstGeom>
          <a:noFill/>
          <a:solidFill>
            <a:srgbClr val="C89A00"/>
          </a:solidFill>
        </p:spPr>
        <p:txBody>
          <a:bodyPr wrap="none">
            <a:spAutoFit/>
          </a:bodyPr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" y="1280160"/>
            <a:ext cx="11914632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Understanding the GO/SES Audience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Senior leaders need: What is the answer? Why should I trust it? What is the risk?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They do not need: methodology detail, code output, literature citations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OR Product Structure for Senior Audiences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BLUF: one sentence answer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Key assumptions: what had to be true for this answer to hold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Sensitivity: how much does the answer change if assumptions shift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Uncertainty communication standard: provide ranges, not false precision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Building Persistent OR Capability on MSS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library: documented, versioned, reproducible analyses in Foundry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Model Cards required for all production OR models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Team standards: peer review before any product reaches a senior leader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Succession Planning</a:t>
            </a:r>
          </a:p>
          <a:p>
            <a:pPr>
              <a:spcBef>
                <a:spcPts val="100"/>
              </a:spcBef>
            </a:pPr>
            <a:r>
              <a:rPr sz="1150">
                <a:solidFill>
                  <a:srgbClr val="264D7E"/>
                </a:solidFill>
              </a:rPr>
              <a:t>    –  Knowledge does not leave with the ORSA — model library and documentation persist</a:t>
            </a:r>
          </a:p>
          <a:p>
            <a:pPr>
              <a:spcBef>
                <a:spcPts val="800"/>
              </a:spcBef>
            </a:pPr>
            <a:r>
              <a:rPr sz="1250" b="1">
                <a:solidFill>
                  <a:srgbClr val="17325C"/>
                </a:solidFill>
              </a:rPr>
              <a:t>Integrating ML/AI with ORSA: ORSA validates; ML operationalizes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ndard Slide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B12DE73CE5F54CA52A3C1EDD328F5B" ma:contentTypeVersion="3" ma:contentTypeDescription="Create a new document." ma:contentTypeScope="" ma:versionID="72069410d474a71a0bb69be6a8c60ac8">
  <xsd:schema xmlns:xsd="http://www.w3.org/2001/XMLSchema" xmlns:xs="http://www.w3.org/2001/XMLSchema" xmlns:p="http://schemas.microsoft.com/office/2006/metadata/properties" xmlns:ns2="f64051cc-6aa4-41cc-9162-9e63a73fdec7" targetNamespace="http://schemas.microsoft.com/office/2006/metadata/properties" ma:root="true" ma:fieldsID="30684f360ba2892a6954467fe3603677" ns2:_="">
    <xsd:import namespace="f64051cc-6aa4-41cc-9162-9e63a73fde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4051cc-6aa4-41cc-9162-9e63a73fde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lass:Classification xmlns:class="urn:us:gov:cia:enterprise:schema:Classification:2.3" dateClassified="2025-04-30" portionMarking="false" caveat="false" tool="Desktop" toolVersion="202420">
  <class:ClassificationMarking type="USClassificationMarking" value="UNCLASSIFIED"/>
  <class:ClassifiedBy>Shadrach Hicks</class:ClassifiedBy>
  <class:ClassificationHeader>
    <class:ClassificationBanner>UNCLASSIFIED</class:ClassificationBanner>
    <class:SCICaveat/>
    <class:DescriptiveMarkings/>
  </class:ClassificationHeader>
  <class:ClassificationFooter>
    <class:DescriptiveMarkings/>
    <class:ClassificationBanner>UNCLASSIFIED</class:ClassificationBanner>
  </class:ClassificationFooter>
</class:Classification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A62D9D-827F-4313-9EB5-AFC7A3CFDC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77975-79F6-4C75-B509-3C1E0AD17F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4051cc-6aa4-41cc-9162-9e63a73fde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45DC-8C3C-4045-A552-3671F45717F5}">
  <ds:schemaRefs>
    <ds:schemaRef ds:uri="urn:us:gov:cia:enterprise:schema:Classification:2.3"/>
  </ds:schemaRefs>
</ds:datastoreItem>
</file>

<file path=customXml/itemProps4.xml><?xml version="1.0" encoding="utf-8"?>
<ds:datastoreItem xmlns:ds="http://schemas.openxmlformats.org/officeDocument/2006/customXml" ds:itemID="{75441766-B0AA-4230-8FAD-516F41626D51}">
  <ds:schemaRefs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dcmitype/"/>
    <ds:schemaRef ds:uri="f64051cc-6aa4-41cc-9162-9e63a73fdec7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7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Aptos</vt:lpstr>
      <vt:lpstr>arial</vt:lpstr>
      <vt:lpstr>arial</vt:lpstr>
      <vt:lpstr>Calibri</vt:lpstr>
      <vt:lpstr>Franklin Gothic Demi</vt:lpstr>
      <vt:lpstr>Franklin Gothic Demi Cond</vt:lpstr>
      <vt:lpstr>Franklin Gothic Medium</vt:lpstr>
      <vt:lpstr>Franklin Gothic Medium Cond</vt:lpstr>
      <vt:lpstr>Title Slide</vt:lpstr>
      <vt:lpstr>Standard Slide </vt:lpstr>
      <vt:lpstr>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Schiff, Benjamin E MAJ USARMY USAREUR-AF (USA)</dc:creator>
  <cp:keywords>Classification=UNCLASSIFIED, Caveat=NATO</cp:keywords>
  <cp:lastModifiedBy>Hater, Andrew D CPT USARMY USAREUR-AF (USA)</cp:lastModifiedBy>
  <cp:revision>10</cp:revision>
  <cp:lastPrinted>2024-08-20T10:58:15Z</cp:lastPrinted>
  <dcterms:created xsi:type="dcterms:W3CDTF">2023-11-09T18:36:45Z</dcterms:created>
  <dcterms:modified xsi:type="dcterms:W3CDTF">2026-03-14T12:17:13Z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9bab5c8b-586e-4fd8-8a5a-4ef50aff8ba9</vt:lpwstr>
  </property>
  <property fmtid="{D5CDD505-2E9C-101B-9397-08002B2CF9AE}" pid="3" name="Classification">
    <vt:lpwstr>UNCLASSIFIED</vt:lpwstr>
  </property>
  <property fmtid="{D5CDD505-2E9C-101B-9397-08002B2CF9AE}" pid="4" name="Caveat">
    <vt:lpwstr>NATO2</vt:lpwstr>
  </property>
  <property fmtid="{D5CDD505-2E9C-101B-9397-08002B2CF9AE}" pid="5" name="MediaServiceImageTags">
    <vt:lpwstr/>
  </property>
  <property fmtid="{D5CDD505-2E9C-101B-9397-08002B2CF9AE}" pid="6" name="ContentTypeId">
    <vt:lpwstr>0x010100B1B12DE73CE5F54CA52A3C1EDD328F5B</vt:lpwstr>
  </property>
  <property fmtid="{D5CDD505-2E9C-101B-9397-08002B2CF9AE}" pid="7" name="AACG_OFFICE_DLL">
    <vt:bool>true</vt:bool>
  </property>
  <property fmtid="{D5CDD505-2E9C-101B-9397-08002B2CF9AE}" pid="8" name="AACG_Created">
    <vt:bool>true</vt:bool>
  </property>
  <property fmtid="{D5CDD505-2E9C-101B-9397-08002B2CF9AE}" pid="9" name="AACG_DescMarkings">
    <vt:lpwstr/>
  </property>
  <property fmtid="{D5CDD505-2E9C-101B-9397-08002B2CF9AE}" pid="10" name="AACG_AddMark">
    <vt:lpwstr/>
  </property>
  <property fmtid="{D5CDD505-2E9C-101B-9397-08002B2CF9AE}" pid="11" name="AACG_Header">
    <vt:lpwstr>UNCLASSIFIED</vt:lpwstr>
  </property>
  <property fmtid="{D5CDD505-2E9C-101B-9397-08002B2CF9AE}" pid="12" name="AACG_Footer">
    <vt:lpwstr>_x000d_UNCLASSIFIED</vt:lpwstr>
  </property>
  <property fmtid="{D5CDD505-2E9C-101B-9397-08002B2CF9AE}" pid="13" name="AACG_ClassBlock">
    <vt:lpwstr/>
  </property>
  <property fmtid="{D5CDD505-2E9C-101B-9397-08002B2CF9AE}" pid="14" name="AACG_ClassType">
    <vt:lpwstr>USClassificationMarking</vt:lpwstr>
  </property>
  <property fmtid="{D5CDD505-2E9C-101B-9397-08002B2CF9AE}" pid="15" name="AACG_DeclOnList">
    <vt:lpwstr/>
  </property>
  <property fmtid="{D5CDD505-2E9C-101B-9397-08002B2CF9AE}" pid="16" name="AACG_USAF_Derivatives">
    <vt:lpwstr/>
  </property>
  <property fmtid="{D5CDD505-2E9C-101B-9397-08002B2CF9AE}" pid="17" name="AACG_SCI_Other">
    <vt:lpwstr/>
  </property>
  <property fmtid="{D5CDD505-2E9C-101B-9397-08002B2CF9AE}" pid="18" name="AACG_Dissem_Other">
    <vt:lpwstr/>
  </property>
  <property fmtid="{D5CDD505-2E9C-101B-9397-08002B2CF9AE}" pid="19" name="PortionWaiver">
    <vt:lpwstr/>
  </property>
  <property fmtid="{D5CDD505-2E9C-101B-9397-08002B2CF9AE}" pid="20" name="AACG_OrconOriginator">
    <vt:lpwstr/>
  </property>
  <property fmtid="{D5CDD505-2E9C-101B-9397-08002B2CF9AE}" pid="21" name="AACG_OrconRecipients">
    <vt:lpwstr/>
  </property>
  <property fmtid="{D5CDD505-2E9C-101B-9397-08002B2CF9AE}" pid="22" name="AACG_SatWarningType">
    <vt:lpwstr/>
  </property>
  <property fmtid="{D5CDD505-2E9C-101B-9397-08002B2CF9AE}" pid="23" name="AACG_NatoWarningClassLevel">
    <vt:lpwstr/>
  </property>
  <property fmtid="{D5CDD505-2E9C-101B-9397-08002B2CF9AE}" pid="24" name="AACG_Version">
    <vt:lpwstr>202420</vt:lpwstr>
  </property>
  <property fmtid="{D5CDD505-2E9C-101B-9397-08002B2CF9AE}" pid="25" name="AACG_CustomClassXMLPart">
    <vt:lpwstr>{EAC345DC-8C3C-4045-A552-3671F45717F5}</vt:lpwstr>
  </property>
</Properties>
</file>