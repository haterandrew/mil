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408" r:id="rId7"/>
    <p:sldId id="266" r:id="rId8"/>
    <p:sldId id="409" r:id="rId16"/>
    <p:sldId id="410" r:id="rId17"/>
    <p:sldId id="411" r:id="rId18"/>
    <p:sldId id="412" r:id="rId19"/>
    <p:sldId id="413" r:id="rId20"/>
    <p:sldId id="414" r:id="rId21"/>
    <p:sldId id="415" r:id="rId22"/>
    <p:sldId id="416" r:id="rId2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EB8A-C1B6-E98C-D759-C06A0D79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282190"/>
            <a:ext cx="9144000" cy="492443"/>
          </a:xfrm>
        </p:spPr>
        <p:txBody>
          <a:bodyPr lIns="91440" tIns="45720" rIns="91440" bIns="45720" anchor="b"/>
          <a:lstStyle/>
          <a:p>
            <a:pPr algn="ctr"/>
            <a:r>
              <a:rPr sz="2600" b="1"/>
              <a:t>ML ENGINEERING ON MSS</a:t>
            </a:r>
          </a:p>
          <a:p>
            <a:pPr algn="ctr"/>
            <a:r>
              <a:rPr sz="1700" b="0"/>
              <a:t>TM-40I  ·  Specialist Track  ·  Prereq: TM-30</a:t>
            </a:r>
          </a:p>
        </p:txBody>
      </p:sp>
      <p:sp>
        <p:nvSpPr>
          <p:cNvPr id="3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C5801854-AFF8-7AE9-DC62-35D4428B57A8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5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68F99201-56F1-5846-F502-599B9469BE0C}"/>
              </a:ext>
            </a:extLst>
          </p:cNvPr>
          <p:cNvSpPr txBox="1"/>
          <p:nvPr/>
        </p:nvSpPr>
        <p:spPr>
          <a:xfrm>
            <a:off x="0" y="6630439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E28D5-6DC8-3FF0-9D86-C9BA83809A87}"/>
              </a:ext>
            </a:extLst>
          </p:cNvPr>
          <p:cNvSpPr txBox="1"/>
          <p:nvPr/>
        </p:nvSpPr>
        <p:spPr>
          <a:xfrm>
            <a:off x="4805018" y="4405608"/>
            <a:ext cx="258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8335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  <a:endParaRPr lang="en-US" sz="11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3E84-4FF3-1460-B548-AC4726622AB9}"/>
              </a:ext>
            </a:extLst>
          </p:cNvPr>
          <p:cNvSpPr txBox="1"/>
          <p:nvPr/>
        </p:nvSpPr>
        <p:spPr>
          <a:xfrm>
            <a:off x="4065243" y="4867203"/>
            <a:ext cx="406151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>
                <a:solidFill>
                  <a:srgbClr val="17325C"/>
                </a:solidFill>
              </a:rPr>
              <a:t>USAREUR-AF  ·  C2DAO  ·  MSS</a:t>
            </a:r>
          </a:p>
        </p:txBody>
      </p:sp>
    </p:spTree>
    <p:extLst>
      <p:ext uri="{BB962C8B-B14F-4D97-AF65-F5344CB8AC3E}">
        <p14:creationId xmlns:p14="http://schemas.microsoft.com/office/powerpoint/2010/main" val="23275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ML ENGINEERING ON MSS  ·  TM-40I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THE MLE ROLE IN USAREUR-AF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8335F"/>
                </a:solidFill>
              </a:rPr>
              <a:t>▪  ML Engineers build, evaluate, deploy, and sustain predictive models on MSS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What MLE Does — Not What It Does Not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MLE owns the model lifecycle from feature engineering through production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MLE does NOT make operational decisions — models support human judgment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MLE does NOT author AIP Logic workflows — that is TM-40H (AI Engineer)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Where MLE Sits in the Data Chain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Downstream of data engineers (Pipeline Builder, TM-20/30)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Upstream of analysts and operators who consume model outputs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Parallel to AI Engineers (AIP) and ORSA (statistical analysis)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Model Governance Requirement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Every model in production requires a signed Model Card (six-gate process)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No model may reach production without commander-level risk acceptance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ML ENGINEERING ON MSS  ·  TM-40I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CODE WORKSPACES — THE MLE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Code Workspace Overview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Jupyter-compatible environment inside Foundry — no local setup required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Connects directly to Foundry datasets, ontology objects, and model registry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Key Setup Tasks (TM-40I Chapter 2)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Create and configure workspace; select correct compute tier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Connect to Foundry datasets in a notebook (no file downloads)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Version control via Foundry's branch mechanism — not git-external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Compute Management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Compute costs real capacity — select minimum tier for task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Terminate workloads that complete; do not leave large kernels running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Package Management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Pre-approved package list governs available libraries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scikit-learn, PyTorch, XGBoost, Optuna, MLflow approved for MSS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ML ENGINEERING ON MSS  ·  TM-40I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FEATURE ENGINEERING AND FEATURE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Feature Engineering Transform (Chapter 3)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Built as a Foundry Transform — versioned, auditable, reproducible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Input: raw Foundry dataset; Output: feature table registered in Feature Store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Common MSS Feature Patterns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Unit readiness: C-rating history, equipment status, personnel fill rate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Temporal features: rolling averages, lag features, trend indicators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Categorical encoding: MOS, echelon, equipment type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Feature Store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Central registry — prevents re-computation of shared features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Feature versioning enables reproducibility across model iterations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Feature lineage tracked: every feature traces back to a source dataset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Temporal Split Requirement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ALL training splits must respect time — never random shuffle operational data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Leakage from future data invalidates model validity for operational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ML ENGINEERING ON MSS  ·  TM-40I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MODEL TRAINING AND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Training on MSS (Chapter 4)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scikit-learn models: standard fit/predict with MLflow experiment tracking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Hyperparameter tuning: Optuna (approved); grid search acceptable for small models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PyTorch: available for deep learning use cases with GPU compute tier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Evaluation Standards (Chapter 5)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Every model requires a documented Evaluation Report before deployment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Metrics selected based on use case: F1 for classification, RMSE for regression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Bias and Fairness Assessment required — especially for personnel-affecting models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Evaluation Metrics Reference by Use Case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C-rating prediction: classification (Precision/Recall/F1)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Logistics demand: regression (MAE, RMSE, MAPE)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Anomaly detection: precision at k, area under PR curve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Peer review required before any evaluation report is finalized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ML ENGINEERING ON MSS  ·  TM-40I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MODEL DEPLOYMENT AND MLOPS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Deployment Patterns (Chapter 6)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Batch inference: deployed as a Foundry Transform — runs on schedule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Online inference: available for low-latency use cases (requires architecture review)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Predictions published as Ontology Object Properties — visible to analysts/operators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MLOps on Foundry (Chapter 7)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 versioning: every deployment tagged with version, training date, metrics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Drift detection: Production Software Index (PSI) monitored continuously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Retraining triggers: PSI threshold breach OR schedule (whichever comes first)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Inference Caching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Freshness indicators attached to all predictions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Stale predictions flagged for operators — no silent staleness allowed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Model Versioning Requirement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All prior model versions retained for 180 days for audit purposes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ML ENGINEERING ON MSS  ·  TM-40I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APPROVED OPERATIONAL USE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Three Primary Use Cases (Chapter 8)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Unit Readiness C-Rating Prediction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Input: equipment status, personnel fill, maintenance backlog, historical C-ratings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Output: predicted C-rating (30-day horizon), confidence interval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Consumer: S3/G3, readiness officers, sustainment S4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Logistics Demand Forecasting (Class IX)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Input: usage rates, operational tempo, historical consumption, deployment data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Output: projected demand by supply class, reorder triggers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Consumer: S4/G4, BSB/FSB supply officers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OPDATA Anomaly Detection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Input: time-series operational data streams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Output: anomaly flags and severity scores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Consumer: intelligence analysts, operations center watch officers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All use cases require authorization before model development begins (Gate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ML ENGINEERING ON MSS  ·  TM-40I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MODEL GOVERNANCE — THE SIX-GATE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8335F"/>
                </a:solidFill>
              </a:rPr>
              <a:t>▪  Every production model in MSS must pass six governance gates: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Gate 1 — Use Case Authorization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Commander-level approval for the use case before any development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Gate 2 — Design Review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Architecture, data sources, and risk profile reviewed by peers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Gate 3 — Evaluation Acceptance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Metrics meet threshold; bias/fairness assessment completed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Gate 4 — Pre-Production Review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Deployment architecture, monitoring plan, and rollback procedure approved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Gate 5 — Production Deployment Approval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Final commander sign-off; Model Card completed and signed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Gate 6 — Post-Deployment Monitoring Confirmation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Drift monitoring active; retraining triggers configured; on-call defined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Model Card: 10-section document (purpose, data, evaluation, deployment, monitoring)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 Card is the authoritative artifact — survives personnel turnover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ML ENGINEERING ON MSS  ·  TM-40I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MLE ROLE BOUNDARIES AND CROSS-TRACK COORDINATION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MLE vs. AI Engineer (TM-40H)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MLE: statistical/ML models, feature engineering, model lifecycle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AI Engineer: LLM workflows, AIP Logic, Agent Studio, RAG pipelines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Overlap: code workspaces, Foundry data access, MLflow; coordinate on shared infra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MLE vs. ORSA (TM-40G)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ORSA: statistical modeling, simulation, decision analysis, OR products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MLE: predictive models in production, automated outputs at scale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ORSA validates MLE model assumptions; MLE operationalizes ORSA research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MLE vs. Software Engineer (TM-40L)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SWE builds the platform and APIs; MLE consumes them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SWE designs Feature Store schema; MLE populates it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Coordinate on inference endpoint architecture and data contracts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MLE Governing References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DoD RAIMTF, Army AI Ethics Policy, MSS ML Governance SOP, TM-40I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ML ENGINEERING ON MSS  ·  TM-40I  · 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TM-40I CURRICULUM OVERVIEW AND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TM-40I Chapter Structure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1: MLE Role and Scope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2: Code Workspaces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3: Feature Engineering and Feature Store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4: Model Training (scikit-learn, Optuna, PyTorch)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5: Model Evaluation and Bias Assessment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6: Model Deployment (batch, online, ontology integration)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7: MLOps (versioning, drift detection, retraining)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8: Operational Use Cases (readiness, logistics, anomaly)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 9: Model Governance (six-gate process, Model Card)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Appendices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 Governance Checklist (all six gates)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Approved Model Use Cases (USAREUR-AF)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ML Quick Reference (imports, split patterns, drift detection, MLflow)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Next Steps: Complete TM-40I → eligible for TM-50I (Advanced ML Engineer)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