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5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4572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B5B2E"/>
                </a:solidFill>
                <a:latin typeface="Arial"/>
              </a:rPr>
              <a:t>USAREUR-AF  |  Maven Smart System — Command-Wide Adoption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347472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D1C"/>
                </a:solidFill>
                <a:latin typeface="Arial"/>
              </a:rPr>
              <a:t>Training Infrastructure: TM-10 through TM-30  |  The Baseline That Makes Maven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880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4B5B2E"/>
                </a:solidFill>
                <a:latin typeface="Arial"/>
              </a:rPr>
              <a:t>UNCLASSIFIED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6574536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4B5B2E"/>
                </a:solidFill>
                <a:latin typeface="Arial"/>
              </a:rPr>
              <a:t>USAREUR-AF Operational Data Team  ·  Wiesbaden, Germany  ·  UNCLASSIFIED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94944"/>
            <a:ext cx="11823192" cy="347472"/>
          </a:xfrm>
          <a:prstGeom prst="rect">
            <a:avLst/>
          </a:prstGeom>
          <a:solidFill>
            <a:srgbClr val="323D1C"/>
          </a:solidFill>
          <a:ln w="9525">
            <a:solidFill>
              <a:srgbClr val="C8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71323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8A032"/>
                </a:solidFill>
                <a:latin typeface="Arial"/>
              </a:rPr>
              <a:t>BLUF:  Maven adoption fails at the unit level when personnel cannot access, navigate, or trust the platform. TM-10/20/30 are the command's solution — doctrine-based, zero-prerequisite training that builds the data-literate formation Maven requires to deliver operational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11556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032"/>
                </a:solidFill>
                <a:latin typeface="Arial"/>
              </a:rPr>
              <a:t>THE BASELINE TIERS  (mandatory for all personnel)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11556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0B8D0"/>
                </a:solidFill>
                <a:latin typeface="Arial"/>
              </a:rPr>
              <a:t>SPECIALIST / ADVANCED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078992"/>
            <a:ext cx="36576" cy="431596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335024"/>
            <a:ext cx="2231136" cy="566928"/>
          </a:xfrm>
          <a:prstGeom prst="rect">
            <a:avLst/>
          </a:prstGeom>
          <a:solidFill>
            <a:srgbClr val="6B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1901952"/>
            <a:ext cx="2231136" cy="2944368"/>
          </a:xfrm>
          <a:prstGeom prst="rect">
            <a:avLst/>
          </a:prstGeom>
          <a:solidFill>
            <a:srgbClr val="323D1C"/>
          </a:solidFill>
          <a:ln w="15240">
            <a:solidFill>
              <a:srgbClr val="6B7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371600"/>
            <a:ext cx="78089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DE0"/>
                </a:solidFill>
                <a:latin typeface="Arial"/>
              </a:rPr>
              <a:t>TM-10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1664207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ALL personnel — every Soldier and civilian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956816"/>
            <a:ext cx="2048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032"/>
                </a:solidFill>
                <a:latin typeface="Arial"/>
              </a:rPr>
              <a:t>WHY IT'S CRITICAL:  No access = no adoption.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194560"/>
            <a:ext cx="2048255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Covers: CAC login, project navigation, Workshop apps,
  authorized Actions, Contour/Quiver, AIP interfaces
  classification markings, export procedures
Without TM-10, personnel cannot use Maven at all.
Every unit-level use case begins here.
Prerequisite to all other levels.
Go/No-Go: 10-task practical evaluation
Duration: 1 day (8 hours) | No prerequisites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05456" y="1335024"/>
            <a:ext cx="2231136" cy="566928"/>
          </a:xfrm>
          <a:prstGeom prst="rect">
            <a:avLst/>
          </a:prstGeom>
          <a:solidFill>
            <a:srgbClr val="6B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05456" y="1901952"/>
            <a:ext cx="2231136" cy="2944368"/>
          </a:xfrm>
          <a:prstGeom prst="rect">
            <a:avLst/>
          </a:prstGeom>
          <a:solidFill>
            <a:srgbClr val="323D1C"/>
          </a:solidFill>
          <a:ln w="15240">
            <a:solidFill>
              <a:srgbClr val="6B7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1371600"/>
            <a:ext cx="78089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DE0"/>
                </a:solidFill>
                <a:latin typeface="Arial"/>
              </a:rPr>
              <a:t>TM-20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1664207"/>
            <a:ext cx="20848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ALL staff — light builders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1956816"/>
            <a:ext cx="20482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032"/>
                </a:solidFill>
                <a:latin typeface="Arial"/>
              </a:rPr>
              <a:t>WHY IT'S CRITICAL:  Units must own their data products.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2194560"/>
            <a:ext cx="2048255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Covers: Pipeline Builder (visual, no-code), Workshop
  dashboards, forms, Object Types, Actions,
  project organization, access management,
  branching, USAREUR-AF naming standards
Without TM-20, the command depends on a small
specialist cadre for every dashboard and form.
TM-20 distributes capability to every staff section.
Go/No-Go: Build a functional pipeline + dashboard
Duration: 5 days (40 hours) | Prereq: TM-10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28032" y="1335024"/>
            <a:ext cx="2121408" cy="566928"/>
          </a:xfrm>
          <a:prstGeom prst="rect">
            <a:avLst/>
          </a:prstGeom>
          <a:solidFill>
            <a:srgbClr val="6B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28032" y="1901952"/>
            <a:ext cx="2121408" cy="2944368"/>
          </a:xfrm>
          <a:prstGeom prst="rect">
            <a:avLst/>
          </a:prstGeom>
          <a:solidFill>
            <a:srgbClr val="323D1C"/>
          </a:solidFill>
          <a:ln w="15240">
            <a:solidFill>
              <a:srgbClr val="6B7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1184" y="1371600"/>
            <a:ext cx="7424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DE0"/>
                </a:solidFill>
                <a:latin typeface="Arial"/>
              </a:rPr>
              <a:t>TM-30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1184" y="1664207"/>
            <a:ext cx="19751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Data-adjacent specialists (17/25-series, S6, G2, G9)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1956816"/>
            <a:ext cx="19385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032"/>
                </a:solidFill>
                <a:latin typeface="Arial"/>
              </a:rPr>
              <a:t>WHY IT'S CRITICAL:  Maven's power is in complex, connected products.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2194560"/>
            <a:ext cx="1938527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Covers: Multi-source pipelines, complex Workshop apps,
  Ontology architecture (no-code), advanced Contour/Quiver,
  AIP Logic configuration, data lineage review,
  governance + data steward workflows, C2DAO standards
Without TM-30, the command cannot build the
operational products that Maven was procured for:
readiness tracking, logistics dashboards, ISR integration.
Go/No-Go: Multi-source pipeline + integrated app
Duration: 5 days (40 hours) | Prereq: TM-10, TM-20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77456" y="1335024"/>
            <a:ext cx="4928616" cy="1572768"/>
          </a:xfrm>
          <a:prstGeom prst="rect">
            <a:avLst/>
          </a:prstGeom>
          <a:solidFill>
            <a:srgbClr val="2A4A6B"/>
          </a:solidFill>
          <a:ln w="9525">
            <a:solidFill>
              <a:srgbClr val="9A7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4" y="13716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032"/>
                </a:solidFill>
                <a:latin typeface="Arial"/>
              </a:rPr>
              <a:t>TM-40 SERIES  —  6 Specialist Tracks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1591056"/>
            <a:ext cx="46634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40A ORSA  ·  40B AI Engineer  ·  40C ML Engineer
40D Program Manager  ·  40E Knowledge Manager  ·  40F Software Engineer
Prereq: TM-30. Role-assigned. Each track: Technical Manual + Concepts Guide + Syllabus.
Produces the analysts, engineers, and PMs who build the platform's most capable products.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77456" y="2980944"/>
            <a:ext cx="4928616" cy="1188720"/>
          </a:xfrm>
          <a:prstGeom prst="rect">
            <a:avLst/>
          </a:prstGeom>
          <a:solidFill>
            <a:srgbClr val="2A4A6B"/>
          </a:solidFill>
          <a:ln w="9525">
            <a:solidFill>
              <a:srgbClr val="9A7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7184" y="30175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032"/>
                </a:solidFill>
                <a:latin typeface="Arial"/>
              </a:rPr>
              <a:t>TM-50 SERIES  —  6 Advanced Tracks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4" y="3236976"/>
            <a:ext cx="46634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Advanced mastery post-TM-40, per role. 6 tracks (ORSA, AI Eng, MLE, PM, KM, SWE).
Produces the command's subject matter experts — the personnel who sustain, extend,
and govern the platform long-term.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77456" y="4242816"/>
            <a:ext cx="4928616" cy="603504"/>
          </a:xfrm>
          <a:prstGeom prst="rect">
            <a:avLst/>
          </a:prstGeom>
          <a:solidFill>
            <a:srgbClr val="323D1C"/>
          </a:solidFill>
          <a:ln w="9525">
            <a:solidFill>
              <a:srgbClr val="9A7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7184" y="4270248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032"/>
                </a:solidFill>
                <a:latin typeface="Arial"/>
              </a:rPr>
              <a:t>TRAINING MANAGEMENT PACKAGE (READY TO EXECUTE)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87184" y="44622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MTP · POI · CAD · TEO · Annual Schedule · Enrollment SOP · Lesson Plans · Syllabi · Policy Letter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919472"/>
            <a:ext cx="6803136" cy="548640"/>
          </a:xfrm>
          <a:prstGeom prst="rect">
            <a:avLst/>
          </a:prstGeom>
          <a:solidFill>
            <a:srgbClr val="8B1A1A"/>
          </a:solidFill>
          <a:ln w="9525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937760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C0C0"/>
                </a:solidFill>
                <a:latin typeface="Arial"/>
              </a:rPr>
              <a:t>ADOPTION RISK WITHOUT THIS 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" y="5111496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DE0"/>
                </a:solidFill>
                <a:latin typeface="Arial"/>
              </a:rPr>
              <a:t>Personnel cannot log in or navigate  ·  Staff sections depend on 1–2 specialists for every product  ·  Commanders cannot evaluate or trust data outputs  ·  Platform investment goes unrealized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5541264"/>
            <a:ext cx="6803136" cy="420624"/>
          </a:xfrm>
          <a:prstGeom prst="rect">
            <a:avLst/>
          </a:prstGeom>
          <a:solidFill>
            <a:srgbClr val="323D1C"/>
          </a:solidFill>
          <a:ln w="6350">
            <a:solidFill>
              <a:srgbClr val="C8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" y="5559552"/>
            <a:ext cx="1060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032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" y="572414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0EDE0"/>
                </a:solidFill>
                <a:latin typeface="Arial"/>
              </a:rPr>
              <a:t>Mandatory
Baseline TMs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2" y="5559552"/>
            <a:ext cx="1060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032"/>
                </a:solidFill>
                <a:latin typeface="Arial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3312" y="572414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0EDE0"/>
                </a:solidFill>
                <a:latin typeface="Arial"/>
              </a:rPr>
              <a:t>MOS
Coverage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87168" y="5559552"/>
            <a:ext cx="1060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032"/>
                </a:solidFill>
                <a:latin typeface="Arial"/>
              </a:rPr>
              <a:t>88 hrs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7168" y="572414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0EDE0"/>
                </a:solidFill>
                <a:latin typeface="Arial"/>
              </a:rPr>
              <a:t>TM-10→30
Total Instruction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21024" y="5559552"/>
            <a:ext cx="1060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032"/>
                </a:solidFill>
                <a:latin typeface="Arial"/>
              </a:rPr>
              <a:t>3-tier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21024" y="572414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0EDE0"/>
                </a:solidFill>
                <a:latin typeface="Arial"/>
              </a:rPr>
              <a:t>Progression
(No-Code → Code)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5559552"/>
            <a:ext cx="1060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032"/>
                </a:solidFill>
                <a:latin typeface="Arial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72414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0EDE0"/>
                </a:solidFill>
                <a:latin typeface="Arial"/>
              </a:rPr>
              <a:t>Syllabi
Ready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88736" y="5559552"/>
            <a:ext cx="1060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032"/>
                </a:solidFill>
                <a:latin typeface="Arial"/>
              </a:rPr>
              <a:t>33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88736" y="5724144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F0EDE0"/>
                </a:solidFill>
                <a:latin typeface="Arial"/>
              </a:rPr>
              <a:t>PDFs
Published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77456" y="4919472"/>
            <a:ext cx="4928616" cy="1042415"/>
          </a:xfrm>
          <a:prstGeom prst="rect">
            <a:avLst/>
          </a:prstGeom>
          <a:solidFill>
            <a:srgbClr val="323D1C"/>
          </a:solidFill>
          <a:ln w="9525">
            <a:solidFill>
              <a:srgbClr val="C8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87184" y="4946904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032"/>
                </a:solidFill>
                <a:latin typeface="Arial"/>
              </a:rPr>
              <a:t>NEXT STEPS — COMMAND ACTION REQUIRED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87184" y="5138928"/>
            <a:ext cx="4663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DE0"/>
                </a:solidFill>
                <a:latin typeface="Arial"/>
              </a:rPr>
              <a:t>① Issue training policy letter (template ready)
② Certify instructors per Faculty Development Plan
③ Provision MSS accounts — prerequisite to TM-10 execution
④ Execute first TM-10 cohort — all personnel, no exceptions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