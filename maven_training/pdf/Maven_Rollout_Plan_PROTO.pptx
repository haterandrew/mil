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800" b="1"/>
              <a:t>MAVEN BUILDER TRAINING</a:t>
            </a:r>
          </a:p>
          <a:p>
            <a:pPr algn="ctr"/>
            <a:r>
              <a:rPr sz="2000" b="0"/>
              <a:t>FORCE ROLLOUT PLAN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>
                <a:solidFill>
                  <a:srgbClr val="17325C"/>
                </a:solidFill>
              </a:rPr>
              <a:t>USAREUR-AF Operational Data Team  |  C2DAO  |  MAR 2026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7325C"/>
                </a:solidFill>
              </a:rPr>
              <a:t>MAVEN BUILDER TRAINING — FORCE ROLLOUT PLAN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" y="841248"/>
          <a:ext cx="12006071" cy="507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069080"/>
                <a:gridCol w="3749039"/>
                <a:gridCol w="3090672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732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732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DECISION / OWNER</a:t>
                      </a:r>
                    </a:p>
                  </a:txBody>
                  <a:tcPr>
                    <a:solidFill>
                      <a:srgbClr val="1732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SUCCESS STANDARD</a:t>
                      </a:r>
                    </a:p>
                  </a:txBody>
                  <a:tcPr>
                    <a:solidFill>
                      <a:srgbClr val="17325C"/>
                    </a:solidFill>
                  </a:tcPr>
                </a:tc>
              </a:tr>
              <a:tr h="788212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1 | COMMAND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AUTHORITY</a:t>
                      </a:r>
                    </a:p>
                  </a:txBody>
                  <a:tcPr>
                    <a:solidFill>
                      <a:srgbClr val="1833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Issue training directive (EXORD or policy memo) designating Maven Builder Training as a command priority.</a:t>
                      </a:r>
                    </a:p>
                  </a:txBody>
                  <a:tcPr>
                    <a:solidFill>
                      <a:srgbClr val="D6DC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CDR decision: mandatory vs. encouraged by role.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G3/J3 staff action.</a:t>
                      </a:r>
                    </a:p>
                  </a:txBody>
                  <a:tcPr>
                    <a:solidFill>
                      <a:srgbClr val="D6DC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Signed directive published to all subordinate units.</a:t>
                      </a:r>
                    </a:p>
                  </a:txBody>
                  <a:tcPr>
                    <a:solidFill>
                      <a:srgbClr val="D6DCE4"/>
                    </a:solidFill>
                  </a:tcPr>
                </a:tc>
              </a:tr>
              <a:tr h="788212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2 | CADRE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STANDUP</a:t>
                      </a:r>
                    </a:p>
                  </a:txBody>
                  <a:tcPr>
                    <a:solidFill>
                      <a:srgbClr val="1833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Identify and assign 5 cadre: 1 OIC + 4 SMEs covering TM-10/20/30/40 tracks. Develop instructor SOP.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G6/G2/S6 nominations.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OIC appointed by CDR.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Cadre certified; SOP signed; instructors completed TM-40 series.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</a:tr>
              <a:tr h="788212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3 | AUDIENCE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SEQUENCING</a:t>
                      </a:r>
                    </a:p>
                  </a:txBody>
                  <a:tcPr>
                    <a:solidFill>
                      <a:srgbClr val="1833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Phase training: TM-10 (all staff) → TM-20/30 (data-adjacent billets) → TM-40 series by role.</a:t>
                      </a:r>
                    </a:p>
                  </a:txBody>
                  <a:tcPr>
                    <a:solidFill>
                      <a:srgbClr val="D6DC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G3 decision: phased by echelon or MOS priority.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Unit S3s build into ATP.</a:t>
                      </a:r>
                    </a:p>
                  </a:txBody>
                  <a:tcPr>
                    <a:solidFill>
                      <a:srgbClr val="D6DC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100% TM-10 completion; TM-40 track assignments published.</a:t>
                      </a:r>
                    </a:p>
                  </a:txBody>
                  <a:tcPr>
                    <a:solidFill>
                      <a:srgbClr val="D6DCE4"/>
                    </a:solidFill>
                  </a:tcPr>
                </a:tc>
              </a:tr>
              <a:tr h="788212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4 | RESOURCE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&amp; ACCESS</a:t>
                      </a:r>
                    </a:p>
                  </a:txBody>
                  <a:tcPr>
                    <a:solidFill>
                      <a:srgbClr val="1833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Provision Foundry seats, schedule lab time/VTC blocks, integrate into unit training calendar.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G6 action: license provisioning.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G3: calendar deconfliction.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All students have Foundry access NLT training start date.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</a:tr>
              <a:tr h="788212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5 | TRACK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&amp; REPORT</a:t>
                      </a:r>
                    </a:p>
                  </a:txBody>
                  <a:tcPr>
                    <a:solidFill>
                      <a:srgbClr val="1833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Establish completion tracking in DTMS/ATRRS. Set Go/No-Go checkpoints per MTP. Report monthly.</a:t>
                      </a:r>
                    </a:p>
                  </a:txBody>
                  <a:tcPr>
                    <a:solidFill>
                      <a:srgbClr val="D6DC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G1/S1 action: reporting format.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CDR sets completion deadline (recommended D+180).</a:t>
                      </a:r>
                    </a:p>
                  </a:txBody>
                  <a:tcPr>
                    <a:solidFill>
                      <a:srgbClr val="D6DC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Monthly completion report to CDR; Go/No-Go recorded per student.</a:t>
                      </a:r>
                    </a:p>
                  </a:txBody>
                  <a:tcPr>
                    <a:solidFill>
                      <a:srgbClr val="D6DCE4"/>
                    </a:solidFill>
                  </a:tcPr>
                </a:tc>
              </a:tr>
              <a:tr h="788212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6 | FEEDBACK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&amp; SUSTAIN</a:t>
                      </a:r>
                    </a:p>
                  </a:txBody>
                  <a:tcPr>
                    <a:solidFill>
                      <a:srgbClr val="1833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Conduct AAR after first cohort; update curriculum and cadre SOP quarterly. Integrate into onboarding.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Cadre OIC owns curriculum updates.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CDR approves policy changes.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7325C"/>
                          </a:solidFill>
                        </a:rPr>
                        <a:t>Quarterly AAR complete; curriculum version controlled; onboarding updated.</a:t>
                      </a:r>
                    </a:p>
                  </a:txBody>
                  <a:tcPr>
                    <a:solidFill>
                      <a:srgbClr val="EBEE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" y="5952744"/>
            <a:ext cx="12006072" cy="256032"/>
          </a:xfrm>
          <a:prstGeom prst="rect">
            <a:avLst/>
          </a:prstGeom>
          <a:noFill/>
          <a:solidFill>
            <a:srgbClr val="0D1F3C"/>
          </a:solidFill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FFFFFF"/>
                </a:solidFill>
              </a:rPr>
              <a:t>RECOMMENDED TIMELINE:  Directive signed NLT D+30  |  Cadre designated NLT D+45  |  First TM-10 cohort NLT D+60  |  Full TM-40 coverage NLT D+180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6227064"/>
            <a:ext cx="120060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18335F"/>
                </a:solidFill>
              </a:rPr>
              <a:t>USAREUR-AF  ·  C2DAO  ·  MSS-POI-001  ·  MAR 2026  ·  UNCLASSIFIED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