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MSS TRAINING PROGRESSION</a:t>
            </a:r>
          </a:p>
          <a:p>
            <a:pPr algn="ctr"/>
            <a:r>
              <a:rPr sz="1800" b="0"/>
              <a:t>Maven Smart System  —  Core Learning Path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Operational Data Team  |  C2DAO  |  MAR 2026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5C"/>
                </a:solidFill>
              </a:rPr>
              <a:t>MSS TRAINING PROGRESSION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722376"/>
            <a:ext cx="2743200" cy="53492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685800"/>
            <a:ext cx="2743200" cy="53492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685800"/>
            <a:ext cx="2743200" cy="804672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722376"/>
            <a:ext cx="25968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TM-10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1124712"/>
            <a:ext cx="2596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MAVEN USER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490472"/>
            <a:ext cx="274320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1508760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ALL PERSONNEL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1719072"/>
            <a:ext cx="2596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Every Soldier, Officer &amp; Civilian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965960"/>
            <a:ext cx="2743200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1984248"/>
            <a:ext cx="25968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None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22199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Navigate the MSS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862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Access datasets &amp;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502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Run saved queries / 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Export and share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Understand data provenance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722376"/>
            <a:ext cx="2743200" cy="53492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63824" y="685800"/>
            <a:ext cx="2743200" cy="53492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3824" y="685800"/>
            <a:ext cx="2743200" cy="804672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722376"/>
            <a:ext cx="25968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TM-20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124712"/>
            <a:ext cx="2596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BUILDER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63824" y="1490472"/>
            <a:ext cx="274320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36976" y="1508760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ALL STAFF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76" y="1719072"/>
            <a:ext cx="2596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Light Builders  (no coding required)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3824" y="1965960"/>
            <a:ext cx="2743200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1984248"/>
            <a:ext cx="25968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Prereq: TM-10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5264" y="222199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Build Workshop dashboards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5264" y="2862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Create no-code transforms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5264" y="3502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Design basic data pipelines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5264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Configure object 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5264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Publish products to unit portals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722376"/>
            <a:ext cx="2743200" cy="53492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44768" y="685800"/>
            <a:ext cx="2743200" cy="53492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44768" y="685800"/>
            <a:ext cx="2743200" cy="804672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722376"/>
            <a:ext cx="25968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TM-30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124712"/>
            <a:ext cx="2596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ADVANCED BUILDER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4768" y="1490472"/>
            <a:ext cx="2743200" cy="4754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1508760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DATA-ADJACENT SPECIALISTS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1719072"/>
            <a:ext cx="2596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17/25-series · S6/G6 · G2/G9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1965960"/>
            <a:ext cx="2743200" cy="219456"/>
          </a:xfrm>
          <a:prstGeom prst="rect">
            <a:avLst/>
          </a:prstGeom>
          <a:solidFill>
            <a:srgbClr val="3A6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1984248"/>
            <a:ext cx="25968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2E8F0"/>
                </a:solidFill>
              </a:rPr>
              <a:t>Prereq: TM-20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7" y="222199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Author Python/SQL transforms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7" y="28620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Model ontology object types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7" y="3502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Build AIP Logic workflows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7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Performance-tune pipelines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7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7325C"/>
                </a:solidFill>
              </a:rPr>
              <a:t>▸  Govern datasets &amp; lineage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62656" y="3195827"/>
            <a:ext cx="2011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64D7E"/>
                </a:solidFill>
              </a:rPr>
              <a:t>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3195827"/>
            <a:ext cx="20116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64D7E"/>
                </a:solidFill>
              </a:rPr>
              <a:t>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62287" y="722376"/>
            <a:ext cx="2898648" cy="534924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25711" y="685800"/>
            <a:ext cx="2898648" cy="53492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25711" y="685800"/>
            <a:ext cx="2898648" cy="475488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98863" y="758952"/>
            <a:ext cx="275234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SPECIALIST TRACKS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0576" y="1197864"/>
            <a:ext cx="2788920" cy="219456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17151" y="1216152"/>
            <a:ext cx="2715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TM-40 SERIES  (Prereq: TM-30)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17151" y="1453895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93807" y="1453895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Intelligence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17151" y="1691639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93807" y="1691639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Fires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17151" y="1929384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93807" y="1929384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Movement &amp; Maneuver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17151" y="2167128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93807" y="2167128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Sustainment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17151" y="2404872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93807" y="2404872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Protection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17151" y="2642615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93807" y="2642615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Mission Command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17151" y="2880359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93807" y="2880359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ORSA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17151" y="3118103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93807" y="3118103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AI Engineer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17151" y="3355847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93807" y="3355847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ML Engineer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17151" y="3593591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TM-40J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93807" y="3593591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Program Manager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17151" y="3831335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93807" y="3831335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Knowledge Manager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17151" y="4069079"/>
            <a:ext cx="6583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7325C"/>
                </a:solidFill>
              </a:rPr>
              <a:t>TM-40L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93807" y="4069079"/>
            <a:ext cx="20391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Software Engineer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80576" y="4325111"/>
            <a:ext cx="2788920" cy="18288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80576" y="4379975"/>
            <a:ext cx="2788920" cy="219456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17151" y="4398263"/>
            <a:ext cx="2715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TM-50 SERIES  (Prereq: TM-40)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17151" y="4636007"/>
            <a:ext cx="2715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Advanced / expert continuation for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TM-40G–L tracks only.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" y="6062472"/>
            <a:ext cx="120060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8335F"/>
                </a:solidFill>
              </a:rPr>
              <a:t>USAREUR-AF  ·  C2DAO  ·  MSS-POI-001  ·  MAR 2026  ·  UNCLASSIFIED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