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DATA PROGRAM MANAGER ESSENTIALS</a:t>
            </a:r>
          </a:p>
          <a:p>
            <a:pPr algn="ctr"/>
            <a:r>
              <a:rPr sz="1700" b="0"/>
              <a:t>TM-40J  ·  Specialist Track  ·  Prereq: TM-30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 ·  C2DAO  ·  MSS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THE TECHNICAL PM ROLE IN THE MSS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8335F"/>
                </a:solidFill>
              </a:rPr>
              <a:t>▪  The TM-40J PM translates between technical teams and operational stakeholders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What Technical PMs Do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Scope and sequence data/AI projects from requirement to production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Manage backlogs, sprints, dependencies, risks, and delivery timelines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Build visibility: commander-facing dashboards and project tracking on MSS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What Technical PMs Do NOT Do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 not make technical architecture decisions (that is TM-40L/H/I)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 not interpret analytical outputs (that is ORSA/analyst function)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 not approve models for production (commander retains risk authority)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PM Authority vs. Technical Authority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owns schedule, scope, and stakeholder communication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Technical lead owns design decisions within approved constraints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Conflict resolution: PM escalates scope disputes; tech lead escalates design disputes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Curriculum Position: TM-40J after TM-30; advanced track is TM-50J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AGILE FOR DATA AND AI PROJECTS (CHAPTER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Agile — Not Waterfall — for Data Projects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requirements are discovered, not specified upfront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performance is unknown until training; iteration is essential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Operational feedback loops require frequent delivery, not big-bang releases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Scrum Framework for MSS Projects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Sprint: 2-week default; daily standup; sprint review with stakeholder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Backlog groomed weekly; stories estimated in story points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Definition of Done enforced before any story is accepted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Kanban for Operational Support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Board structure: Backlog → In Progress → Review → Done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WIP limits prevent overloading the team during high-tempo periods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Sprint Ceremonies: Planning, Standup, Review, Retrospective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Review: demo working software/data product — no slide decks as proof of work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Retrospective: identify one improvement per sprint, not a complaint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ML/AI PROJECT LIFECYCLE (CHAPTER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8335F"/>
                </a:solidFill>
              </a:rPr>
              <a:t>▪  The ML/AI project lifecycle has six phases — PM has specific actions in each: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Phase 1 — Problem Definition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translates commander's question into a machine-learnable problem statement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Success criteria defined in measurable terms before development begins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Phase 2 — Data Audit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coordinates access; data engineers assess quality and availability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documents risk if data is insufficient — does not proceed without acknowledgment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Phase 3 — Prototype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scopes the prototype (not full production); time-boxes to 2–3 sprints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Phase 4 — Evaluation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chairs evaluation review; ensures non-technical stakeholders understand output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Phase 5 — Production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coordinates Model Card completion, governance gates, deployment approval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Phase 6 — Sustainment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owns monitoring cadence; escalates model performance degradation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STAKEHOLDER MANAGEMENT AND REQUIREMENTS (CHAPTER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The Translation Problem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Commanders ask questions; ML Engineers build models; PM bridges the gap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'We need better readiness forecasting' ≠ a model specification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extracts: What decision will this inform? What timeframe? What accuracy?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Requirements Elicitation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Structured interviews: ask for examples of decisions, not feature lists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Document as user stories: 'As a [role], I need [output] so that [decision]'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Managing Expectations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Communicate velocity honestly — resist pressure to commit to unrealistic dates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'Ready in 2 sprints' is a forecast, not a guarantee; qualify uncertainty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Cross-Track Coordination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maintains dependency log across TM-40H (AI), TM-40I (ML), TM-40L (SWE)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Blocked dependencies escalated to PM — not resolved ad hoc by engineers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Protecting the Team: PM absorbs stakeholder pressure; engineers execute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PROJECT TRACKING SYSTEMS ON MSS (CHAPTER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Track on MSS — Not Spreadsheets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Single source of truth: same platform as delivery artifacts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Stakeholder visibility without meetings: dashboard replaces status briefs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Audit trail: all changes timestamped and attributed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Sprint Board in Workshop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Object Types: Epic, Story, Task, Blocker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Link Types: Story-to-Epic, Task-to-Story, Blocker-to-Story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Views: Sprint Board (Kanban), Backlog (table), Burndown (chart)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Commander-Facing Dashboard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One page: status by project, milestones hit/missed, blockers, risk flag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 jargon: 'Green/Amber/Red' with plain-language description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Design principle: GO/SES reads in 90 seconds — not a data dump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Automated Status Alerts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AIP-driven alerts when story count drops or blockers age past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RISK AND DEPENDENCY MANAGEMENT (CHAPTER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Risk Types Specific to Data Products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quality risk: source data is incomplete, stale, or inconsistent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risk: model performs in training but fails on operational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Infrastructure risk: compute, storage, or access not available when needed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Governance risk: model card not completed; commander approval not obtained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Personnel risk: key technical staff rotate before knowledge transfer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Risk Register in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Risk object: description, probability, impact, mitigation, owner, due date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Sprint risk review: PM reviews risk register every sprint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Severity matrix: probability × impact → Red/Amber/Green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Dependency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Common patterns: data pipeline must complete before feature store update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training depends on feature engineering completion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Deployment depends on governance gate approval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Technical Debt: track as a risk; allocate 20% of sprint capacity to debt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DELIVERY PLANNING AND PRODUCTION READINESS (CHAPTER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Scope / Timeline / Quality Tradeoffs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manages the tradeoff triangle — cannot optimize all three simultaneously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Default position: do not cut quality; adjust scope or timeline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Definition of Done — Data Product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Code reviewed and merged; tests passing; documentation current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Monitoring configured; on-call procedure documented; stakeholder accepted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What 'Production Ready' Means for a Data Product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Card signed; all six governance gates passed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Rollback procedure tested; drift detection active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User guide published; training delivered to operational consumers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Milestone Types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Internal: sprint demo, evaluation complete, staging deployment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External: commander review, governance gate, production deployment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Post-Release Review: PM chairs at T+14 — measures adoption, not just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CHANGE MANAGEMENT AND USER ADOPTION (CHAPTER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Operational Users Resist New Data Products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Not laziness — trained to distrust unfamiliar data sources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Legacy tool habits are deeply embedded (AFATDS, GCSS-Army, Excel)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Fear: wrong model output leads to bad operational decision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Change Management Planning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Stakeholder map: identify champions, skeptics, and blockers by name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Champion first: get one influential user to adopt and endorse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Train-the-trainer: embed capability with unit S6 or data champion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Managing Resistance at Rollout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Low adoption at T+14: diagnose cause before adding features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Common cause: product answers the wrong question — go back to requirements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Platform Governance — PM Perspective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PM participates in C2DAO governance reviews for own products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product retirement: PM owns decommission plan and user notification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DATA PROGRAM MANAGER ESSENTIALS  ·  TM-40J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TM-40J CURRICULUM OVERVIEW AND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TM-40J Chapter Structure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1: Technical PM Role and Scope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2: Agile Project Management (Scrum/Kanban for data projects)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3: ML/AI Project Lifecycle (six phases)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4: Stakeholder Management and Requirements Translation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5: Project Tracking Systems on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6: Risk and Dependency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7: Delivery Planning and Production Readiness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8: Change Management and User Adoption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Appendices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Project Kickoff Checklist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Definition of Done — Data Product Standards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Glossary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TM-40J is the only management-track specialist publication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Cross-track coordination: works with TM-40G, H, I, K, L daily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Next Steps: Complete TM-40J → eligible for TM-50J (Advanced Program Manager)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