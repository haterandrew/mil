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C325"/>
                </a:solidFill>
              </a:rPr>
              <a:t>MSS TRAINING PROGRESSION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5303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USAREUR-AF Operational Data Team  |  Maven Smart System (MSS)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228600"/>
            <a:ext cx="1691640" cy="365760"/>
          </a:xfrm>
          <a:prstGeom prst="rect">
            <a:avLst/>
          </a:prstGeom>
          <a:solidFill>
            <a:srgbClr val="FFC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04040"/>
                </a:solidFill>
              </a:rPr>
              <a:t>UNCLASSIFIED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FFC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4" y="1197864"/>
            <a:ext cx="2743200" cy="5029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14300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4B5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143000"/>
            <a:ext cx="2743200" cy="777240"/>
          </a:xfrm>
          <a:prstGeom prst="rect">
            <a:avLst/>
          </a:prstGeom>
          <a:solidFill>
            <a:srgbClr val="4B5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1795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C325"/>
                </a:solidFill>
              </a:rPr>
              <a:t>TM-10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15270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MAVEN USER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920240"/>
            <a:ext cx="2743200" cy="47548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9385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325"/>
                </a:solidFill>
              </a:rPr>
              <a:t>ALL PERSONNEL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157984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Every Soldier, Officer &amp; Civilian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24231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0A0A0"/>
                </a:solidFill>
              </a:rPr>
              <a:t>None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5176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Navigate the MSS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7355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Access datasets &amp; 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89534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Run saved queries / filters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51713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Export and share products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13892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Understand data provenance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410712"/>
            <a:ext cx="292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B5F27"/>
                </a:solidFill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11296" y="1197864"/>
            <a:ext cx="2743200" cy="5029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56432" y="114300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4B5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56432" y="1143000"/>
            <a:ext cx="2743200" cy="777240"/>
          </a:xfrm>
          <a:prstGeom prst="rect">
            <a:avLst/>
          </a:prstGeom>
          <a:solidFill>
            <a:srgbClr val="4B5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6432" y="11795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C325"/>
                </a:solidFill>
              </a:rPr>
              <a:t>TM-20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432" y="15270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BUILDER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56432" y="1920240"/>
            <a:ext cx="2743200" cy="47548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02152" y="19385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325"/>
                </a:solidFill>
              </a:rPr>
              <a:t>ALL STAFF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2152" y="2157984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Light Builders (no coding required)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7872" y="24231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0A0A0"/>
                </a:solidFill>
              </a:rPr>
              <a:t>Prereq: TM-10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93592" y="265176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Build Workshop dashboards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93592" y="327355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Create no-code transforms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93592" y="389534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Design basic data pipelines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93592" y="451713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Configure object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513892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Publish products to unit portals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3410712"/>
            <a:ext cx="292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B5F27"/>
                </a:solidFill>
              </a:rPr>
              <a:t>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39128" y="1197864"/>
            <a:ext cx="2743200" cy="5029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84264" y="114300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4B5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84264" y="1143000"/>
            <a:ext cx="2743200" cy="777240"/>
          </a:xfrm>
          <a:prstGeom prst="rect">
            <a:avLst/>
          </a:prstGeom>
          <a:solidFill>
            <a:srgbClr val="4B5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84264" y="11795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C325"/>
                </a:solidFill>
              </a:rPr>
              <a:t>TM-30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84264" y="15270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ADVANCED BUILDER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84264" y="1920240"/>
            <a:ext cx="2743200" cy="47548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9984" y="19385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325"/>
                </a:solidFill>
              </a:rPr>
              <a:t>DATA-ADJACENT SPECIALISTS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4" y="2157984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17/25-series, S6/G6, G2/G9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75704" y="24231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0A0A0"/>
                </a:solidFill>
              </a:rPr>
              <a:t>Prereq: TM-20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4" y="265176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Author Python/SQL transforms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1424" y="327355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Model ontology object types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21424" y="389534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Build AIP Logic workflows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21424" y="451713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Performance-tune pipelines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21424" y="513892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Govern datasets &amp; lineage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0656" y="1143000"/>
            <a:ext cx="2185415" cy="5029200"/>
          </a:xfrm>
          <a:prstGeom prst="rect">
            <a:avLst/>
          </a:prstGeom>
          <a:solidFill>
            <a:srgbClr val="E8ECD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20656" y="1143000"/>
            <a:ext cx="2185415" cy="50292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0656" y="1197864"/>
            <a:ext cx="21854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SPECIALIST TRACKS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12096" y="1737360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E3A18"/>
                </a:solidFill>
              </a:rPr>
              <a:t>TM-40 SERIES  (Prereq: TM-30)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2057400"/>
            <a:ext cx="20025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</a:rPr>
              <a:t>· TM-40A  ORSA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57816" y="2441448"/>
            <a:ext cx="20025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</a:rPr>
              <a:t>· TM-40B  AI Engineer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7816" y="2825496"/>
            <a:ext cx="20025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</a:rPr>
              <a:t>· TM-40C  ML Engineer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7816" y="3209544"/>
            <a:ext cx="20025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</a:rPr>
              <a:t>· TM-40D  Program Manager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57816" y="3593591"/>
            <a:ext cx="20025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</a:rPr>
              <a:t>· TM-40E  Knowledge Manager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57816" y="3977639"/>
            <a:ext cx="20025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</a:rPr>
              <a:t>· TM-40F  Software Engineer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12096" y="4480560"/>
            <a:ext cx="2002535" cy="36576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12096" y="4599431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E3A18"/>
                </a:solidFill>
              </a:rPr>
              <a:t>TM-50 SERIES  (Prereq: TM-40)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12096" y="4910328"/>
            <a:ext cx="20482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04040"/>
                </a:solidFill>
              </a:rPr>
              <a:t>Advanced / expert-level continuation
for each TM-40 track.
Focus: production pipelines,
MLOps, AIP Agents, advanced
Ontology patterns.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657453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0A0A0"/>
                </a:solidFill>
              </a:rPr>
              <a:t>USAREUR-AF OD Team  ·  MSS Training Program  ·  Wiesbaden, Germany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1200" y="657453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C325"/>
                </a:solidFill>
              </a:rPr>
              <a:t>UNCLASSIFIED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