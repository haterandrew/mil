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2E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C325"/>
                </a:solidFill>
              </a:rPr>
              <a:t>MSS TRAINING PROGRESSION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5303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USAREUR-AF Operational Data Team  |  Maven Smart System (MSS)</a:t>
            </a:r>
          </a:p>
        </p:txBody>
      </p:sp>
      <p:sp>
        <p:nvSpPr>
          <p:cNvPr id="6" name="Rectangle 5"/>
          <p:cNvSpPr/>
          <p:nvPr/>
        </p:nvSpPr>
        <p:spPr>
          <a:xfrm>
            <a:off x="10332720" y="228600"/>
            <a:ext cx="1691640" cy="365760"/>
          </a:xfrm>
          <a:prstGeom prst="rect">
            <a:avLst/>
          </a:prstGeom>
          <a:solidFill>
            <a:srgbClr val="FFC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228600"/>
            <a:ext cx="1691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404040"/>
                </a:solidFill>
              </a:rPr>
              <a:t>UNCLASSIFIED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914400"/>
            <a:ext cx="12188952" cy="54864"/>
          </a:xfrm>
          <a:prstGeom prst="rect">
            <a:avLst/>
          </a:prstGeom>
          <a:solidFill>
            <a:srgbClr val="FFC3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4" y="1197864"/>
            <a:ext cx="2743200" cy="502920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1143000"/>
            <a:ext cx="27432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4B5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8600" y="1143000"/>
            <a:ext cx="2743200" cy="777240"/>
          </a:xfrm>
          <a:prstGeom prst="rect">
            <a:avLst/>
          </a:prstGeom>
          <a:solidFill>
            <a:srgbClr val="4B5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8600" y="117957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C325"/>
                </a:solidFill>
              </a:rPr>
              <a:t>TM-10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15270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MAVEN USER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1920240"/>
            <a:ext cx="2743200" cy="475488"/>
          </a:xfrm>
          <a:prstGeom prst="rect">
            <a:avLst/>
          </a:prstGeom>
          <a:solidFill>
            <a:srgbClr val="2E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" y="19385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C325"/>
                </a:solidFill>
              </a:rPr>
              <a:t>ALL PERSONNEL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157984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Every Soldier, Officer &amp; Civilian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242316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0A0A0"/>
                </a:solidFill>
              </a:rPr>
              <a:t>None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51760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Navigate the MSS portal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273552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Access datasets &amp; dashboards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89534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Run saved queries / filters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51713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Export and share products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13892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Understand data provenance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410712"/>
            <a:ext cx="2926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4B5F27"/>
                </a:solidFill>
              </a:rPr>
              <a:t>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11296" y="1197864"/>
            <a:ext cx="2743200" cy="502920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56432" y="1143000"/>
            <a:ext cx="27432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4B5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56432" y="1143000"/>
            <a:ext cx="2743200" cy="777240"/>
          </a:xfrm>
          <a:prstGeom prst="rect">
            <a:avLst/>
          </a:prstGeom>
          <a:solidFill>
            <a:srgbClr val="4B5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6432" y="117957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C325"/>
                </a:solidFill>
              </a:rPr>
              <a:t>TM-20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432" y="15270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BUILDER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56432" y="1920240"/>
            <a:ext cx="2743200" cy="475488"/>
          </a:xfrm>
          <a:prstGeom prst="rect">
            <a:avLst/>
          </a:prstGeom>
          <a:solidFill>
            <a:srgbClr val="2E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02152" y="19385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C325"/>
                </a:solidFill>
              </a:rPr>
              <a:t>ALL STAFF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2152" y="2157984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Light Builders (no coding required)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47872" y="242316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0A0A0"/>
                </a:solidFill>
              </a:rPr>
              <a:t>Prereq: TM-10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93592" y="2651760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Build Workshop dashboards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93592" y="3273552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Create no-code transforms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93592" y="389534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Design basic data pipelines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93592" y="451713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Configure object views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513892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Publish products to unit portals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5352" y="3410712"/>
            <a:ext cx="29260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4B5F27"/>
                </a:solidFill>
              </a:rPr>
              <a:t>▶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39128" y="1197864"/>
            <a:ext cx="2743200" cy="502920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684264" y="1143000"/>
            <a:ext cx="2743200" cy="5029200"/>
          </a:xfrm>
          <a:prstGeom prst="rect">
            <a:avLst/>
          </a:prstGeom>
          <a:solidFill>
            <a:srgbClr val="FFFFFF"/>
          </a:solidFill>
          <a:ln w="25400">
            <a:solidFill>
              <a:srgbClr val="4B5F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684264" y="1143000"/>
            <a:ext cx="2743200" cy="777240"/>
          </a:xfrm>
          <a:prstGeom prst="rect">
            <a:avLst/>
          </a:prstGeom>
          <a:solidFill>
            <a:srgbClr val="4B5F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84264" y="1179576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C325"/>
                </a:solidFill>
              </a:rPr>
              <a:t>TM-30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84264" y="152704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ADVANCED BUILDER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84264" y="1920240"/>
            <a:ext cx="2743200" cy="475488"/>
          </a:xfrm>
          <a:prstGeom prst="rect">
            <a:avLst/>
          </a:prstGeom>
          <a:solidFill>
            <a:srgbClr val="2E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29984" y="19385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C325"/>
                </a:solidFill>
              </a:rPr>
              <a:t>DATA-ADJACENT SPECIALISTS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9984" y="2157984"/>
            <a:ext cx="2651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</a:rPr>
              <a:t>17/25-series, S6/G6, G2/G9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75704" y="242316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A0A0A0"/>
                </a:solidFill>
              </a:rPr>
              <a:t>Prereq: TM-20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1424" y="2651760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Author Python/SQL transforms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1424" y="3273552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Model ontology object types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21424" y="3895344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Build AIP Logic workflows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21424" y="4517136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Performance-tune pipelines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21424" y="5138928"/>
            <a:ext cx="25146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04040"/>
                </a:solidFill>
              </a:rPr>
              <a:t>▸  Govern datasets &amp; lineage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820656" y="1143000"/>
            <a:ext cx="2185415" cy="5029200"/>
          </a:xfrm>
          <a:prstGeom prst="rect">
            <a:avLst/>
          </a:prstGeom>
          <a:solidFill>
            <a:srgbClr val="E8ECDF"/>
          </a:solidFill>
          <a:ln w="12700">
            <a:solidFill>
              <a:srgbClr val="A0A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20656" y="1143000"/>
            <a:ext cx="2185415" cy="502920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2E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82880" y="6574536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A0A0A0"/>
                </a:solidFill>
              </a:rPr>
              <a:t>USAREUR-AF OD Team  ·  MSS Training Program  ·  Wiesbaden, Germany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01200" y="657453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>
                <a:solidFill>
                  <a:srgbClr val="FFC325"/>
                </a:solidFill>
              </a:rPr>
              <a:t>UNCLASSIFIED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66376" y="1175004"/>
            <a:ext cx="20939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SPECIALIST TRACKS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66376" y="1444752"/>
            <a:ext cx="209397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DDCCAA"/>
                </a:solidFill>
              </a:rPr>
              <a:t>TM-40 &amp; TM-50 Series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912096" y="1709928"/>
            <a:ext cx="2002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A951"/>
                </a:solidFill>
              </a:rPr>
              <a:t>TM-40 SERIES  (Prereq: TM-30)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912096" y="1929384"/>
            <a:ext cx="200253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4B"/>
                </a:solidFill>
              </a:rPr>
              <a:t>▸ WFF TRACKS (A–F)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85248" y="2125980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TM-40A  Intelligence (INT)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85248" y="2308860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TM-40B  Fires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85248" y="2491740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TM-40C  Movement &amp; Maneuver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985248" y="2674620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TM-40D  Sustainment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985248" y="2857500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TM-40E  Protection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85248" y="3040380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TM-40F  Mission Command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912096" y="3273552"/>
            <a:ext cx="200253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2F4B"/>
                </a:solidFill>
              </a:rPr>
              <a:t>▸ SPECIALIST (G–L)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985248" y="3470148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TM-40G  ORSA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985248" y="3653028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TM-40H  AI Engineer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85248" y="3835908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TM-40I  ML Engineer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85248" y="4018788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TM-40J  Program Manager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85248" y="4201668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TM-40K  Knowledge Mgr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85248" y="4384548"/>
            <a:ext cx="192938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333333"/>
                </a:solidFill>
              </a:rPr>
              <a:t>· TM-40L  Software Engineer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912096" y="4617720"/>
            <a:ext cx="2002536" cy="18288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912096" y="4668012"/>
            <a:ext cx="200253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8A951"/>
                </a:solidFill>
              </a:rPr>
              <a:t>TM-50 SERIES  (Prereq: TM-40G–L)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12096" y="4887468"/>
            <a:ext cx="200253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888888"/>
                </a:solidFill>
              </a:rPr>
              <a:t>Advanced continuation of each
specialist track (G–L only).
ORSA · AI Eng · MLE · PM · KM · SWE
No TM-50 for WFF tracks A–F.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