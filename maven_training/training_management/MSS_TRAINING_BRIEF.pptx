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266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5C"/>
                </a:solidFill>
              </a:rPr>
              <a:t>MSS TRAINING PROGRAM — USAREUR-AF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640080"/>
            <a:ext cx="11000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88"/>
                </a:solidFill>
              </a:rPr>
              <a:t>Operator training path  ·  prereq chain: TM-10 → TM-20 → TM-30  ·  BSP: quarterly parallel build sprint (dashed = not in prereq chain)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2"/>
            <a:ext cx="2194560" cy="1097280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960120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TM-10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261872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MAVEN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463040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8 hrs  ·  All Personnel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664208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FF"/>
                </a:solidFill>
              </a:rPr>
              <a:t>No prereq  ·  New soldier in-processing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1408176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2551176" y="1325880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0048" y="896112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960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SYLLABUS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1152144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TM-10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408176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4718304" y="1325880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37176" y="896112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960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EXERCISE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1152144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EX-10  Operator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1408176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n 25"/>
          <p:cNvSpPr/>
          <p:nvPr/>
        </p:nvSpPr>
        <p:spPr>
          <a:xfrm>
            <a:off x="6885432" y="1325880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04304" y="896112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960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EXAMS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1152144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Pre-assessment
Post-assessment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1993392"/>
            <a:ext cx="91440" cy="21945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n 30"/>
          <p:cNvSpPr/>
          <p:nvPr/>
        </p:nvSpPr>
        <p:spPr>
          <a:xfrm>
            <a:off x="1298448" y="2084832"/>
            <a:ext cx="237744" cy="256032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2340864"/>
            <a:ext cx="2194560" cy="1097280"/>
          </a:xfrm>
          <a:prstGeom prst="rect">
            <a:avLst/>
          </a:prstGeom>
          <a:solidFill>
            <a:srgbClr val="2E4D8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04872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TM-20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270662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BUILDER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2907792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40 hrs  ·  Data-Adjacent Staff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3108960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FF"/>
                </a:solidFill>
              </a:rPr>
              <a:t>Prereq: TM-10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42032" y="2852928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n 37"/>
          <p:cNvSpPr/>
          <p:nvPr/>
        </p:nvSpPr>
        <p:spPr>
          <a:xfrm>
            <a:off x="2551176" y="2770632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70048" y="2340864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24048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SYLLABUS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2596896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TM-20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852928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 42"/>
          <p:cNvSpPr/>
          <p:nvPr/>
        </p:nvSpPr>
        <p:spPr>
          <a:xfrm>
            <a:off x="4718304" y="2770632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37176" y="2340864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28616" y="24048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EXERCISE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8616" y="2596896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EX-20  No-Code Builder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76288" y="2852928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an 47"/>
          <p:cNvSpPr/>
          <p:nvPr/>
        </p:nvSpPr>
        <p:spPr>
          <a:xfrm>
            <a:off x="6885432" y="2770632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04304" y="2340864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95744" y="24048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EXAMS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95744" y="2596896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Pre-assessment
Post-assessment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14600" y="2889504.0"/>
            <a:ext cx="6775704" cy="0.0"/>
          </a:xfrm>
          <a:prstGeom prst="line">
            <a:avLst/>
          </a:prstGeom>
          <a:ln w="19050">
            <a:solidFill>
              <a:srgbClr val="C9A8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371600" y="3438144"/>
            <a:ext cx="91440" cy="21945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an 53"/>
          <p:cNvSpPr/>
          <p:nvPr/>
        </p:nvSpPr>
        <p:spPr>
          <a:xfrm>
            <a:off x="1298448" y="3529584"/>
            <a:ext cx="237744" cy="256032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3785616"/>
            <a:ext cx="2194560" cy="1097280"/>
          </a:xfrm>
          <a:prstGeom prst="rect">
            <a:avLst/>
          </a:prstGeom>
          <a:solidFill>
            <a:srgbClr val="3A62A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3849624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TM-30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4151376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ADVANCED BUILDER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" y="4352544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40 hrs  ·  Unit Data Leads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" y="4553712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FF"/>
                </a:solidFill>
              </a:rPr>
              <a:t>Prereq: TM-20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42032" y="4297680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an 60"/>
          <p:cNvSpPr/>
          <p:nvPr/>
        </p:nvSpPr>
        <p:spPr>
          <a:xfrm>
            <a:off x="2551176" y="4215384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70048" y="3785616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61488" y="38496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SYLLABUS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61488" y="4041648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TM-30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09160" y="4297680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n 65"/>
          <p:cNvSpPr/>
          <p:nvPr/>
        </p:nvSpPr>
        <p:spPr>
          <a:xfrm>
            <a:off x="4718304" y="4215384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37176" y="3785616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28616" y="38496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EXERCISE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28616" y="4041648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EX-30  Adv Builder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76288" y="4297680"/>
            <a:ext cx="100584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an 70"/>
          <p:cNvSpPr/>
          <p:nvPr/>
        </p:nvSpPr>
        <p:spPr>
          <a:xfrm>
            <a:off x="6885432" y="4215384"/>
            <a:ext cx="118872" cy="237744"/>
          </a:xfrm>
          <a:prstGeom prst="can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04304" y="3785616"/>
            <a:ext cx="2011680" cy="1097280"/>
          </a:xfrm>
          <a:prstGeom prst="rect">
            <a:avLst/>
          </a:prstGeom>
          <a:solidFill>
            <a:srgbClr val="2E4D8A"/>
          </a:solidFill>
          <a:ln w="6350">
            <a:solidFill>
              <a:srgbClr val="6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95744" y="38496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EXAMS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95744" y="4041648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Pre-assessment
Post-assessment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90304" y="2340864"/>
            <a:ext cx="2578608" cy="2542032"/>
          </a:xfrm>
          <a:prstGeom prst="rect">
            <a:avLst/>
          </a:prstGeom>
          <a:solidFill>
            <a:srgbClr val="3A2204"/>
          </a:solidFill>
          <a:ln w="19050">
            <a:solidFill>
              <a:srgbClr val="C9A84C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00032" y="2432304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BSP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00032" y="2706624"/>
            <a:ext cx="2359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</a:rPr>
              <a:t>BUILDER SPRINT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00032" y="2935224"/>
            <a:ext cx="2359152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Quarterly · 5-day supervised
build event
Prereq: TM-20 Go
+ command-validated project
Does NOT grant TM-30 credit
Does NOT unlock TM-40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0320" y="268833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88888"/>
                </a:solidFill>
              </a:rPr>
              <a:t>parallel track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5029200"/>
            <a:ext cx="8695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444444"/>
                </a:solidFill>
              </a:rPr>
              <a:t>TM-40 / TM-50  —  21 specialist &amp; advanced tracks published and ready  (WFF: Intel · Fires · M&amp;M · Sustainment · Protection · MC  |  Technical: ORSA · AI · ML · PM · KM · SWE)  —  Execution follows TM-10/20/30 baseline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