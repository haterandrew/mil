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411480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MSS PLATFORM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632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F6F8"/>
                </a:solidFill>
              </a:rPr>
              <a:t>Your Guide to Using MSS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9A00"/>
                </a:solidFill>
              </a:rPr>
              <a:t>UNCLASSIFIED  ·  TM-10  ·  No Technical Background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WHAT IS MSS?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The Mission Support System — and why your unit is using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383280" cy="411480"/>
          </a:xfrm>
          <a:prstGeom prst="rect">
            <a:avLst/>
          </a:prstGeom>
          <a:solidFill>
            <a:srgbClr val="BD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71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IT REPLACES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3383280" cy="37033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154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Hundreds of separate Army business systems — each with its own login,</a:t>
            </a:r>
          </a:p>
          <a:p>
            <a:r>
              <a:rPr sz="1050" b="0">
                <a:solidFill>
                  <a:srgbClr val="0D1F3C"/>
                </a:solidFill>
              </a:rPr>
              <a:t>its own format, and its own version of the truth.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Manual Excel readiness reports</a:t>
            </a:r>
          </a:p>
          <a:p>
            <a:r>
              <a:rPr sz="1050" b="0">
                <a:solidFill>
                  <a:srgbClr val="0D1F3C"/>
                </a:solidFill>
              </a:rPr>
              <a:t>▸  Emailed PowerPoint briefings</a:t>
            </a:r>
          </a:p>
          <a:p>
            <a:r>
              <a:rPr sz="1050" b="0">
                <a:solidFill>
                  <a:srgbClr val="0D1F3C"/>
                </a:solidFill>
              </a:rPr>
              <a:t>▸  Phone calls to get a status update</a:t>
            </a:r>
          </a:p>
          <a:p>
            <a:r>
              <a:rPr sz="1050" b="0">
                <a:solidFill>
                  <a:srgbClr val="0D1F3C"/>
                </a:solidFill>
              </a:rPr>
              <a:t>▸  Data that was stale before it was printed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383280" cy="411480"/>
          </a:xfrm>
          <a:prstGeom prst="rect">
            <a:avLst/>
          </a:prstGeom>
          <a:solidFill>
            <a:srgbClr val="1A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1271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MSS 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645920"/>
            <a:ext cx="3383280" cy="37033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737360"/>
            <a:ext cx="3154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MSS is your unit's live data environment — a single platform where</a:t>
            </a:r>
          </a:p>
          <a:p>
            <a:r>
              <a:rPr sz="1050" b="0">
                <a:solidFill>
                  <a:srgbClr val="0D1F3C"/>
                </a:solidFill>
              </a:rPr>
              <a:t>readiness, personnel, equipment, and operations data are always current.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One login. One platform.</a:t>
            </a:r>
          </a:p>
          <a:p>
            <a:r>
              <a:rPr sz="1050" b="0">
                <a:solidFill>
                  <a:srgbClr val="0D1F3C"/>
                </a:solidFill>
              </a:rPr>
              <a:t>▸  Real-time data — no more stale spreadsheets</a:t>
            </a:r>
          </a:p>
          <a:p>
            <a:r>
              <a:rPr sz="1050" b="0">
                <a:solidFill>
                  <a:srgbClr val="0D1F3C"/>
                </a:solidFill>
              </a:rPr>
              <a:t>▸  Your unit's picture and the larger formation</a:t>
            </a:r>
          </a:p>
          <a:p>
            <a:r>
              <a:rPr sz="1050" b="0">
                <a:solidFill>
                  <a:srgbClr val="0D1F3C"/>
                </a:solidFill>
              </a:rPr>
              <a:t>▸  AI tools that answer your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234440"/>
            <a:ext cx="3383280" cy="41148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12710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YOU'LL FIND IN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645920"/>
            <a:ext cx="3383280" cy="37033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737360"/>
            <a:ext cx="3154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The information your unit generates and depends on — all in one place.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Unit readiness and equipment status</a:t>
            </a:r>
          </a:p>
          <a:p>
            <a:r>
              <a:rPr sz="1050" b="0">
                <a:solidFill>
                  <a:srgbClr val="0D1F3C"/>
                </a:solidFill>
              </a:rPr>
              <a:t>▸  Personnel accountability</a:t>
            </a:r>
          </a:p>
          <a:p>
            <a:r>
              <a:rPr sz="1050" b="0">
                <a:solidFill>
                  <a:srgbClr val="0D1F3C"/>
                </a:solidFill>
              </a:rPr>
              <a:t>▸  Training records and schedules</a:t>
            </a:r>
          </a:p>
          <a:p>
            <a:r>
              <a:rPr sz="1050" b="0">
                <a:solidFill>
                  <a:srgbClr val="0D1F3C"/>
                </a:solidFill>
              </a:rPr>
              <a:t>▸  Logistics and supply status</a:t>
            </a:r>
          </a:p>
          <a:p>
            <a:r>
              <a:rPr sz="1050" b="0">
                <a:solidFill>
                  <a:srgbClr val="0D1F3C"/>
                </a:solidFill>
              </a:rPr>
              <a:t>▸  Commander dashboards and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NAVIGATING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Finding what you need — quickly.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132320" cy="41148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HOW TO FIND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7132320" cy="4617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755648"/>
            <a:ext cx="68580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STEP 1 — Log In</a:t>
            </a:r>
          </a:p>
          <a:p>
            <a:r>
              <a:rPr sz="1050" b="0">
                <a:solidFill>
                  <a:srgbClr val="0D1F3C"/>
                </a:solidFill>
              </a:rPr>
              <a:t>Open your browser and navigate to your unit's MSS URL.</a:t>
            </a:r>
          </a:p>
          <a:p>
            <a:r>
              <a:rPr sz="1050" b="0">
                <a:solidFill>
                  <a:srgbClr val="0D1F3C"/>
                </a:solidFill>
              </a:rPr>
              <a:t>Enter your CAC credentials when prompted. MFA may be required.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STEP 2 — Find Your Application</a:t>
            </a:r>
          </a:p>
          <a:p>
            <a:r>
              <a:rPr sz="1050" b="0">
                <a:solidFill>
                  <a:srgbClr val="0D1F3C"/>
                </a:solidFill>
              </a:rPr>
              <a:t>The home screen shows applications your unit has access to.</a:t>
            </a:r>
          </a:p>
          <a:p>
            <a:r>
              <a:rPr sz="1050" b="0">
                <a:solidFill>
                  <a:srgbClr val="0D1F3C"/>
                </a:solidFill>
              </a:rPr>
              <a:t>Look for readiness dashboards, personnel apps, or logistics views.</a:t>
            </a:r>
          </a:p>
          <a:p>
            <a:r>
              <a:rPr sz="1050" b="0">
                <a:solidFill>
                  <a:srgbClr val="0D1F3C"/>
                </a:solidFill>
              </a:rPr>
              <a:t>If you don't see what you need — ask your unit data manager.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STEP 3 — Search for Specific Items</a:t>
            </a:r>
          </a:p>
          <a:p>
            <a:r>
              <a:rPr sz="1050" b="0">
                <a:solidFill>
                  <a:srgbClr val="0D1F3C"/>
                </a:solidFill>
              </a:rPr>
              <a:t>Use the search bar to find a specific soldier, vehicle, or piece of equipment.</a:t>
            </a:r>
          </a:p>
          <a:p>
            <a:r>
              <a:rPr sz="1050" b="0">
                <a:solidFill>
                  <a:srgbClr val="0D1F3C"/>
                </a:solidFill>
              </a:rPr>
              <a:t>Search by name, ID, or unit designation.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STEP 4 — Use Filters</a:t>
            </a:r>
          </a:p>
          <a:p>
            <a:r>
              <a:rPr sz="1050" b="0">
                <a:solidFill>
                  <a:srgbClr val="0D1F3C"/>
                </a:solidFill>
              </a:rPr>
              <a:t>Most dashboards have filters at the top or side.</a:t>
            </a:r>
          </a:p>
          <a:p>
            <a:r>
              <a:rPr sz="1050" b="0">
                <a:solidFill>
                  <a:srgbClr val="0D1F3C"/>
                </a:solidFill>
              </a:rPr>
              <a:t>Filter by unit, date range, status, or location to narrow your view.</a:t>
            </a:r>
          </a:p>
          <a:p>
            <a:r>
              <a:rPr sz="1050" b="0">
                <a:solidFill>
                  <a:srgbClr val="0D1F3C"/>
                </a:solidFill>
              </a:rPr>
              <a:t>Filters change what you see — they do not change the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188720"/>
            <a:ext cx="4114800" cy="411480"/>
          </a:xfrm>
          <a:prstGeom prst="rect">
            <a:avLst/>
          </a:prstGeom>
          <a:solidFill>
            <a:srgbClr val="1A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22529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QUICK TIPS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00200"/>
            <a:ext cx="4114800" cy="4617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755648"/>
            <a:ext cx="38862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▸  Bookmark your most-used apps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Your access is tied to your role — if something is missing, contact your unit data manager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Don't share login credentials under any circumstances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If the page looks wrong or blank — try refreshing before calling for help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Navigation panels on the left or top vary by app — explore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READING 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Dashboards show live data — here is how to interpret what you see.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365760"/>
          </a:xfrm>
          <a:prstGeom prst="rect">
            <a:avLst/>
          </a:prstGeom>
          <a:solidFill>
            <a:srgbClr val="1A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STATUS INDICATORS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394960" cy="1920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51663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Color-coded tiles (green / amber / red) show health at a glance.</a:t>
            </a:r>
          </a:p>
          <a:p>
            <a:r>
              <a:rPr sz="1050" b="0">
                <a:solidFill>
                  <a:srgbClr val="0D1F3C"/>
                </a:solidFill>
              </a:rPr>
              <a:t>Green = meets standard.  Amber = degraded.  Red = non-mission-capable.</a:t>
            </a:r>
          </a:p>
          <a:p>
            <a:r>
              <a:rPr sz="1050" b="0">
                <a:solidFill>
                  <a:srgbClr val="0D1F3C"/>
                </a:solidFill>
              </a:rPr>
              <a:t>Hover or click a tile to see detail behind the status.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188720"/>
            <a:ext cx="5394960" cy="36576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7608" y="12252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CHARTS AND GRAPHS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554480"/>
            <a:ext cx="5394960" cy="1920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64208"/>
            <a:ext cx="51663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Bar charts, pie charts, and trend lines summarize data visually.</a:t>
            </a:r>
          </a:p>
          <a:p>
            <a:r>
              <a:rPr sz="1050" b="0">
                <a:solidFill>
                  <a:srgbClr val="0D1F3C"/>
                </a:solidFill>
              </a:rPr>
              <a:t>The title tells you what is being measured.</a:t>
            </a:r>
          </a:p>
          <a:p>
            <a:r>
              <a:rPr sz="1050" b="0">
                <a:solidFill>
                  <a:srgbClr val="0D1F3C"/>
                </a:solidFill>
              </a:rPr>
              <a:t>Look for date labels — confirm the data is current before briefing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03320"/>
            <a:ext cx="5394960" cy="365760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7398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DATA TABLES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394960" cy="1920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178808"/>
            <a:ext cx="51663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Tables show individual records — one row per soldier, vehicle, or event.</a:t>
            </a:r>
          </a:p>
          <a:p>
            <a:r>
              <a:rPr sz="1050" b="0">
                <a:solidFill>
                  <a:srgbClr val="0D1F3C"/>
                </a:solidFill>
              </a:rPr>
              <a:t>Column headers tell you what each field contains.</a:t>
            </a:r>
          </a:p>
          <a:p>
            <a:r>
              <a:rPr sz="1050" b="0">
                <a:solidFill>
                  <a:srgbClr val="0D1F3C"/>
                </a:solidFill>
              </a:rPr>
              <a:t>Click a column header to sort.  Use row filters to narrow results.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3703320"/>
            <a:ext cx="5394960" cy="365760"/>
          </a:xfrm>
          <a:prstGeom prst="rect">
            <a:avLst/>
          </a:prstGeom>
          <a:solidFill>
            <a:srgbClr val="C8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7608" y="37398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FILTERS AND CONTROLS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4069080"/>
            <a:ext cx="5394960" cy="19202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178808"/>
            <a:ext cx="51663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Dropdowns, date pickers, and checkboxes let you adjust your view.</a:t>
            </a:r>
          </a:p>
          <a:p>
            <a:r>
              <a:rPr sz="1050" b="0">
                <a:solidFill>
                  <a:srgbClr val="0D1F3C"/>
                </a:solidFill>
              </a:rPr>
              <a:t>Filters never change the underlying data — they only change what you see.</a:t>
            </a:r>
          </a:p>
          <a:p>
            <a:r>
              <a:rPr sz="1050" b="0">
                <a:solidFill>
                  <a:srgbClr val="0D1F3C"/>
                </a:solidFill>
              </a:rPr>
              <a:t>Reset filters to return to the default 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USING THE AI ASSISTANT (AIP)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AIP answers questions about your unit's data — in plain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411480"/>
          </a:xfrm>
          <a:prstGeom prst="rect">
            <a:avLst/>
          </a:prstGeom>
          <a:solidFill>
            <a:srgbClr val="2A6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YOU CAN 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303520" cy="4617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755648"/>
            <a:ext cx="50292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AIP reads your unit's data and answers in plain English.</a:t>
            </a:r>
          </a:p>
          <a:p>
            <a:r>
              <a:rPr sz="1050" b="0">
                <a:solidFill>
                  <a:srgbClr val="0D1F3C"/>
                </a:solidFill>
              </a:rPr>
              <a:t>Ask it like you would ask a knowledgeable colleague.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Examples:</a:t>
            </a:r>
          </a:p>
          <a:p>
            <a:r>
              <a:rPr sz="1050" b="0">
                <a:solidFill>
                  <a:srgbClr val="0D1F3C"/>
                </a:solidFill>
              </a:rPr>
              <a:t>"What is the FMC rate for 1st platoon?"</a:t>
            </a:r>
          </a:p>
          <a:p>
            <a:r>
              <a:rPr sz="1050" b="0">
                <a:solidFill>
                  <a:srgbClr val="0D1F3C"/>
                </a:solidFill>
              </a:rPr>
              <a:t>"Which vehicles are NMC this week?"</a:t>
            </a:r>
          </a:p>
          <a:p>
            <a:r>
              <a:rPr sz="1050" b="0">
                <a:solidFill>
                  <a:srgbClr val="0D1F3C"/>
                </a:solidFill>
              </a:rPr>
              <a:t>"How many soldiers are current on APFT?"</a:t>
            </a:r>
          </a:p>
          <a:p>
            <a:r>
              <a:rPr sz="1050" b="0">
                <a:solidFill>
                  <a:srgbClr val="0D1F3C"/>
                </a:solidFill>
              </a:rPr>
              <a:t>"Show me readiness trends for the last 30 days."</a:t>
            </a:r>
          </a:p>
          <a:p>
            <a:r>
              <a:rPr sz="1050" b="0">
                <a:solidFill>
                  <a:srgbClr val="0D1F3C"/>
                </a:solidFill>
              </a:rPr>
              <a:t>"Who are the non-deployable personnel in Bravo Company?"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BLUF: If you would ask it in a battle update brief,</a:t>
            </a:r>
          </a:p>
          <a:p>
            <a:r>
              <a:rPr sz="1050" b="0">
                <a:solidFill>
                  <a:srgbClr val="0D1F3C"/>
                </a:solidFill>
              </a:rPr>
              <a:t>you can ask AIP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188720"/>
            <a:ext cx="5760720" cy="411480"/>
          </a:xfrm>
          <a:prstGeom prst="rect">
            <a:avLst/>
          </a:prstGeom>
          <a:solidFill>
            <a:srgbClr val="BD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7608" y="12252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TO WATCH OUT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00200"/>
            <a:ext cx="5760720" cy="4617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1755648"/>
            <a:ext cx="54864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AIP is only as good as the data behind it.</a:t>
            </a:r>
          </a:p>
          <a:p>
            <a:r>
              <a:rPr sz="1050" b="0">
                <a:solidFill>
                  <a:srgbClr val="0D1F3C"/>
                </a:solidFill>
              </a:rPr>
              <a:t>If the data is wrong or missing, the answer will be wrong too.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ALWAYS verify critical answers against source data</a:t>
            </a:r>
          </a:p>
          <a:p>
            <a:r>
              <a:rPr sz="1050" b="0">
                <a:solidFill>
                  <a:srgbClr val="0D1F3C"/>
                </a:solidFill>
              </a:rPr>
              <a:t>   before briefing a commander.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AIP cannot access classified data above your</a:t>
            </a:r>
          </a:p>
          <a:p>
            <a:r>
              <a:rPr sz="1050" b="0">
                <a:solidFill>
                  <a:srgbClr val="0D1F3C"/>
                </a:solidFill>
              </a:rPr>
              <a:t>   current network and access level.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Do not enter classified information into the</a:t>
            </a:r>
          </a:p>
          <a:p>
            <a:r>
              <a:rPr sz="1050" b="0">
                <a:solidFill>
                  <a:srgbClr val="0D1F3C"/>
                </a:solidFill>
              </a:rPr>
              <a:t>   AI chat window as a query.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Do not use AIP to make final decisions on</a:t>
            </a:r>
          </a:p>
          <a:p>
            <a:r>
              <a:rPr sz="1050" b="0">
                <a:solidFill>
                  <a:srgbClr val="0D1F3C"/>
                </a:solidFill>
              </a:rPr>
              <a:t>   personnel or readiness — it informs, it does not decide.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If an answer seems wrong — trust your instinct.</a:t>
            </a:r>
          </a:p>
          <a:p>
            <a:r>
              <a:rPr sz="1050" b="0">
                <a:solidFill>
                  <a:srgbClr val="0D1F3C"/>
                </a:solidFill>
              </a:rPr>
              <a:t>   Flag it to your unit data manager.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SUBMITTING FORMS AND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How to enter data, submit requests, and record events in MSS.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41148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HOW TO SUBMIT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303520" cy="37033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755648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1.  Open the form or action panel in your app.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2.  Fill in required fields.</a:t>
            </a:r>
          </a:p>
          <a:p>
            <a:r>
              <a:rPr sz="1050" b="0">
                <a:solidFill>
                  <a:srgbClr val="0D1F3C"/>
                </a:solidFill>
              </a:rPr>
              <a:t>    Fields marked with * or highlighted in red are required.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3.  Review before submitting.</a:t>
            </a:r>
          </a:p>
          <a:p>
            <a:r>
              <a:rPr sz="1050" b="0">
                <a:solidFill>
                  <a:srgbClr val="0D1F3C"/>
                </a:solidFill>
              </a:rPr>
              <a:t>    Check dates, unit designations, and status codes.</a:t>
            </a:r>
          </a:p>
          <a:p>
            <a:r>
              <a:rPr sz="1050" b="0">
                <a:solidFill>
                  <a:srgbClr val="0D1F3C"/>
                </a:solidFill>
              </a:rPr>
              <a:t>    Errors are harder to fix after submission.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4.  Click Submit (or Save).</a:t>
            </a:r>
          </a:p>
          <a:p>
            <a:r>
              <a:rPr sz="1050" b="0">
                <a:solidFill>
                  <a:srgbClr val="0D1F3C"/>
                </a:solidFill>
              </a:rPr>
              <a:t>    You will see a confirmation message.</a:t>
            </a:r>
          </a:p>
          <a:p>
            <a:r>
              <a:rPr sz="1050" b="0">
                <a:solidFill>
                  <a:srgbClr val="0D1F3C"/>
                </a:solidFill>
              </a:rPr>
              <a:t>    If you see a red error — read it before trying again.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5.  Verify the record updated.</a:t>
            </a:r>
          </a:p>
          <a:p>
            <a:r>
              <a:rPr sz="1050" b="0">
                <a:solidFill>
                  <a:srgbClr val="0D1F3C"/>
                </a:solidFill>
              </a:rPr>
              <a:t>    Refresh the dashboard to confirm your entry appears.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188720"/>
            <a:ext cx="5303520" cy="411480"/>
          </a:xfrm>
          <a:prstGeom prst="rect">
            <a:avLst/>
          </a:prstGeom>
          <a:solidFill>
            <a:srgbClr val="1A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7608" y="122529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HAPPENS AFTER YOU SUBMIT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00200"/>
            <a:ext cx="5303520" cy="37033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1755648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Your entry goes into a live system — not a form that sits in an inbox.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Data is visible to others in your chain immediately</a:t>
            </a:r>
          </a:p>
          <a:p>
            <a:r>
              <a:rPr sz="1050" b="0">
                <a:solidFill>
                  <a:srgbClr val="0D1F3C"/>
                </a:solidFill>
              </a:rPr>
              <a:t>▸  It feeds dashboards the commander sees</a:t>
            </a:r>
          </a:p>
          <a:p>
            <a:r>
              <a:rPr sz="1050" b="0">
                <a:solidFill>
                  <a:srgbClr val="0D1F3C"/>
                </a:solidFill>
              </a:rPr>
              <a:t>▸  It may trigger automated alerts or workflows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This is why accuracy matters.</a:t>
            </a:r>
          </a:p>
          <a:p>
            <a:r>
              <a:rPr sz="1050" b="0">
                <a:solidFill>
                  <a:srgbClr val="0D1F3C"/>
                </a:solidFill>
              </a:rPr>
              <a:t>One wrong status entry shows up everywhere.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532120"/>
            <a:ext cx="11430000" cy="6858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59612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9A00"/>
                </a:solidFill>
              </a:rPr>
              <a:t>WARNING: If you submit incorrect data — do not try to fix it by re-submitting different data. Contact your unit data manager immediately. Overwriting data incorrectly can corrupt records upstream.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DATA CLASSIFICATION AND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MSS operates across classification levels. Know the rules before you 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383280" cy="411480"/>
          </a:xfrm>
          <a:prstGeom prst="rect">
            <a:avLst/>
          </a:prstGeom>
          <a:solidFill>
            <a:srgbClr val="2A6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YOU 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3383280" cy="41605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55648"/>
            <a:ext cx="3154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▸  View data within your access level</a:t>
            </a:r>
          </a:p>
          <a:p>
            <a:r>
              <a:rPr sz="1050" b="0">
                <a:solidFill>
                  <a:srgbClr val="0D1F3C"/>
                </a:solidFill>
              </a:rPr>
              <a:t>▸  Filter, sort, and export to approved formats</a:t>
            </a:r>
          </a:p>
          <a:p>
            <a:r>
              <a:rPr sz="1050" b="0">
                <a:solidFill>
                  <a:srgbClr val="0D1F3C"/>
                </a:solidFill>
              </a:rPr>
              <a:t>   when your unit's policy allows</a:t>
            </a:r>
          </a:p>
          <a:p>
            <a:r>
              <a:rPr sz="1050" b="0">
                <a:solidFill>
                  <a:srgbClr val="0D1F3C"/>
                </a:solidFill>
              </a:rPr>
              <a:t>▸  Brief information at the classification level</a:t>
            </a:r>
          </a:p>
          <a:p>
            <a:r>
              <a:rPr sz="1050" b="0">
                <a:solidFill>
                  <a:srgbClr val="0D1F3C"/>
                </a:solidFill>
              </a:rPr>
              <a:t>   it was accessed on</a:t>
            </a:r>
          </a:p>
          <a:p>
            <a:r>
              <a:rPr sz="1050" b="0">
                <a:solidFill>
                  <a:srgbClr val="0D1F3C"/>
                </a:solidFill>
              </a:rPr>
              <a:t>▸  Screenshot an UNCLASSIFIED dashboard for use</a:t>
            </a:r>
          </a:p>
          <a:p>
            <a:r>
              <a:rPr sz="1050" b="0">
                <a:solidFill>
                  <a:srgbClr val="0D1F3C"/>
                </a:solidFill>
              </a:rPr>
              <a:t>   in UNCLASSIFIED products</a:t>
            </a:r>
          </a:p>
          <a:p>
            <a:r>
              <a:rPr sz="1050" b="0">
                <a:solidFill>
                  <a:srgbClr val="0D1F3C"/>
                </a:solidFill>
              </a:rPr>
              <a:t>▸  Share a link to a dashboard with others</a:t>
            </a:r>
          </a:p>
          <a:p>
            <a:r>
              <a:rPr sz="1050" b="0">
                <a:solidFill>
                  <a:srgbClr val="0D1F3C"/>
                </a:solidFill>
              </a:rPr>
              <a:t>   who have equivalent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188720"/>
            <a:ext cx="3383280" cy="411480"/>
          </a:xfrm>
          <a:prstGeom prst="rect">
            <a:avLst/>
          </a:prstGeom>
          <a:solidFill>
            <a:srgbClr val="BD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1225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YOU CANNOT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600200"/>
            <a:ext cx="3383280" cy="41605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755648"/>
            <a:ext cx="3154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▸  Copy classified data to an unclassified system</a:t>
            </a:r>
          </a:p>
          <a:p>
            <a:r>
              <a:rPr sz="1050" b="0">
                <a:solidFill>
                  <a:srgbClr val="0D1F3C"/>
                </a:solidFill>
              </a:rPr>
              <a:t>▸  Email screenshots of classified dashboards</a:t>
            </a:r>
          </a:p>
          <a:p>
            <a:r>
              <a:rPr sz="1050" b="0">
                <a:solidFill>
                  <a:srgbClr val="0D1F3C"/>
                </a:solidFill>
              </a:rPr>
              <a:t>▸  Share your login with anyone — ever</a:t>
            </a:r>
          </a:p>
          <a:p>
            <a:r>
              <a:rPr sz="1050" b="0">
                <a:solidFill>
                  <a:srgbClr val="0D1F3C"/>
                </a:solidFill>
              </a:rPr>
              <a:t>▸  Download raw data to a personal device</a:t>
            </a:r>
          </a:p>
          <a:p>
            <a:r>
              <a:rPr sz="1050" b="0">
                <a:solidFill>
                  <a:srgbClr val="0D1F3C"/>
                </a:solidFill>
              </a:rPr>
              <a:t>▸  Enter data into a network above your clearance</a:t>
            </a:r>
          </a:p>
          <a:p>
            <a:r>
              <a:rPr sz="1050" b="0">
                <a:solidFill>
                  <a:srgbClr val="0D1F3C"/>
                </a:solidFill>
              </a:rPr>
              <a:t>▸  Discuss classified dashboard details on</a:t>
            </a:r>
          </a:p>
          <a:p>
            <a:r>
              <a:rPr sz="1050" b="0">
                <a:solidFill>
                  <a:srgbClr val="0D1F3C"/>
                </a:solidFill>
              </a:rPr>
              <a:t>   unclassified 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88720"/>
            <a:ext cx="3383280" cy="411480"/>
          </a:xfrm>
          <a:prstGeom prst="rect">
            <a:avLst/>
          </a:prstGeom>
          <a:solidFill>
            <a:srgbClr val="C8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1225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IF UNSURE — STOP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600200"/>
            <a:ext cx="3383280" cy="41605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755648"/>
            <a:ext cx="3154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Classification handling is not a judgment call.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If you are not certain whether an action is authorized: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▸  Do not proceed</a:t>
            </a:r>
          </a:p>
          <a:p>
            <a:r>
              <a:rPr sz="1050" b="0">
                <a:solidFill>
                  <a:srgbClr val="0D1F3C"/>
                </a:solidFill>
              </a:rPr>
              <a:t>▸  Contact your unit S6 or data manager</a:t>
            </a:r>
          </a:p>
          <a:p>
            <a:r>
              <a:rPr sz="1050" b="0">
                <a:solidFill>
                  <a:srgbClr val="0D1F3C"/>
                </a:solidFill>
              </a:rPr>
              <a:t>▸  Consult your unit's data handling SOP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Violations are reportable security incidents.</a:t>
            </a:r>
          </a:p>
          <a:p>
            <a:r>
              <a:rPr sz="1050" b="0">
                <a:solidFill>
                  <a:srgbClr val="0D1F3C"/>
                </a:solidFill>
              </a:rPr>
              <a:t>When in doubt — ask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WHEN SOMETHING LOOKS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You are not expected to fix data problems. You are expected to report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858000" cy="41148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'SOMETHING WRONG' LOOKS LIKE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6858000" cy="39776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755648"/>
            <a:ext cx="6583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Data accuracy problems:</a:t>
            </a:r>
          </a:p>
          <a:p>
            <a:r>
              <a:rPr sz="1050" b="0">
                <a:solidFill>
                  <a:srgbClr val="0D1F3C"/>
                </a:solidFill>
              </a:rPr>
              <a:t>▸  A soldier appears in the wrong unit</a:t>
            </a:r>
          </a:p>
          <a:p>
            <a:r>
              <a:rPr sz="1050" b="0">
                <a:solidFill>
                  <a:srgbClr val="0D1F3C"/>
                </a:solidFill>
              </a:rPr>
              <a:t>▸  A vehicle shows FMC but you know it's NMC</a:t>
            </a:r>
          </a:p>
          <a:p>
            <a:r>
              <a:rPr sz="1050" b="0">
                <a:solidFill>
                  <a:srgbClr val="0D1F3C"/>
                </a:solidFill>
              </a:rPr>
              <a:t>▸  A record is missing that should be there</a:t>
            </a:r>
          </a:p>
          <a:p>
            <a:r>
              <a:rPr sz="1050" b="0">
                <a:solidFill>
                  <a:srgbClr val="0D1F3C"/>
                </a:solidFill>
              </a:rPr>
              <a:t>▸  Numbers don't match what your section submitted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Platform problems:</a:t>
            </a:r>
          </a:p>
          <a:p>
            <a:r>
              <a:rPr sz="1050" b="0">
                <a:solidFill>
                  <a:srgbClr val="0D1F3C"/>
                </a:solidFill>
              </a:rPr>
              <a:t>▸  Page doesn't load or shows an error</a:t>
            </a:r>
          </a:p>
          <a:p>
            <a:r>
              <a:rPr sz="1050" b="0">
                <a:solidFill>
                  <a:srgbClr val="0D1F3C"/>
                </a:solidFill>
              </a:rPr>
              <a:t>▸  Dashboard is blank where it had data yesterday</a:t>
            </a:r>
          </a:p>
          <a:p>
            <a:r>
              <a:rPr sz="1050" b="0">
                <a:solidFill>
                  <a:srgbClr val="0D1F3C"/>
                </a:solidFill>
              </a:rPr>
              <a:t>▸  A form won't submit and the error message doesn't help</a:t>
            </a:r>
          </a:p>
          <a:p>
            <a:r>
              <a:rPr sz="1050" b="0">
                <a:solidFill>
                  <a:srgbClr val="0D1F3C"/>
                </a:solidFill>
              </a:rPr>
              <a:t>▸  You're seeing data you don't believe you should have access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188720"/>
            <a:ext cx="4572000" cy="411480"/>
          </a:xfrm>
          <a:prstGeom prst="rect">
            <a:avLst/>
          </a:prstGeom>
          <a:solidFill>
            <a:srgbClr val="1A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2252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WHO TO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600200"/>
            <a:ext cx="4572000" cy="397764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1755648"/>
            <a:ext cx="43434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Data accuracy issue:</a:t>
            </a:r>
          </a:p>
          <a:p>
            <a:r>
              <a:rPr sz="1050" b="0">
                <a:solidFill>
                  <a:srgbClr val="0D1F3C"/>
                </a:solidFill>
              </a:rPr>
              <a:t>→ Your unit data manager</a:t>
            </a:r>
          </a:p>
          <a:p>
            <a:r>
              <a:rPr sz="1050" b="0">
                <a:solidFill>
                  <a:srgbClr val="0D1F3C"/>
                </a:solidFill>
              </a:rPr>
              <a:t>   (S6 data shop or MSS POC)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Platform / technical issue:</a:t>
            </a:r>
          </a:p>
          <a:p>
            <a:r>
              <a:rPr sz="1050" b="0">
                <a:solidFill>
                  <a:srgbClr val="0D1F3C"/>
                </a:solidFill>
              </a:rPr>
              <a:t>→ Your unit S6</a:t>
            </a:r>
          </a:p>
          <a:p>
            <a:r>
              <a:rPr sz="1050" b="0">
                <a:solidFill>
                  <a:srgbClr val="0D1F3C"/>
                </a:solidFill>
              </a:rPr>
              <a:t>   or MSS help desk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Security / access issue:</a:t>
            </a:r>
          </a:p>
          <a:p>
            <a:r>
              <a:rPr sz="1050" b="0">
                <a:solidFill>
                  <a:srgbClr val="0D1F3C"/>
                </a:solidFill>
              </a:rPr>
              <a:t>→ Your unit S2 or S6</a:t>
            </a:r>
          </a:p>
          <a:p>
            <a:r>
              <a:rPr sz="1050" b="0">
                <a:solidFill>
                  <a:srgbClr val="0D1F3C"/>
                </a:solidFill>
              </a:rPr>
              <a:t>   Do NOT wait. Report immediately.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NOT SURE WHICH?</a:t>
            </a:r>
          </a:p>
          <a:p>
            <a:r>
              <a:rPr sz="1050" b="0">
                <a:solidFill>
                  <a:srgbClr val="0D1F3C"/>
                </a:solidFill>
              </a:rPr>
              <a:t>→ Start with your unit data manager.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806440"/>
            <a:ext cx="11430000" cy="4572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9A00"/>
                </a:solidFill>
              </a:rPr>
              <a:t>BLUF: Reporting a data problem is a contribution — not a complaint. Every error you flag makes the commander's picture more accurate.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325C"/>
                </a:solidFill>
              </a:rPr>
              <a:t>WHAT YOU CANNOT DO — AND WHO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4D7E"/>
                </a:solidFill>
              </a:rPr>
              <a:t>MSS has a clear boundary between users and builders. Know which side you're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94960" cy="41148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A TM-10 USER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00200"/>
            <a:ext cx="5394960" cy="3886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755648"/>
            <a:ext cx="51206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▸  Navigates to existing dashboards and apps</a:t>
            </a:r>
          </a:p>
          <a:p>
            <a:r>
              <a:rPr sz="1050" b="0">
                <a:solidFill>
                  <a:srgbClr val="0D1F3C"/>
                </a:solidFill>
              </a:rPr>
              <a:t>▸  Reads and interprets data</a:t>
            </a:r>
          </a:p>
          <a:p>
            <a:r>
              <a:rPr sz="1050" b="0">
                <a:solidFill>
                  <a:srgbClr val="0D1F3C"/>
                </a:solidFill>
              </a:rPr>
              <a:t>▸  Filters, sorts, and exports within authorized limits</a:t>
            </a:r>
          </a:p>
          <a:p>
            <a:r>
              <a:rPr sz="1050" b="0">
                <a:solidFill>
                  <a:srgbClr val="0D1F3C"/>
                </a:solidFill>
              </a:rPr>
              <a:t>▸  Submits data through existing forms and actions</a:t>
            </a:r>
          </a:p>
          <a:p>
            <a:r>
              <a:rPr sz="1050" b="0">
                <a:solidFill>
                  <a:srgbClr val="0D1F3C"/>
                </a:solidFill>
              </a:rPr>
              <a:t>▸  Uses the AI assistant for data queries</a:t>
            </a:r>
          </a:p>
          <a:p>
            <a:r>
              <a:rPr sz="1050" b="0">
                <a:solidFill>
                  <a:srgbClr val="0D1F3C"/>
                </a:solidFill>
              </a:rPr>
              <a:t>▸  Reports problems to the appropriate contact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You do not need to understand how the data gets there.</a:t>
            </a:r>
          </a:p>
          <a:p>
            <a:r>
              <a:rPr sz="1050" b="0">
                <a:solidFill>
                  <a:srgbClr val="0D1F3C"/>
                </a:solidFill>
              </a:rPr>
              <a:t>You need to know how to use it accurately.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188720"/>
            <a:ext cx="5394960" cy="411480"/>
          </a:xfrm>
          <a:prstGeom prst="rect">
            <a:avLst/>
          </a:prstGeom>
          <a:solidFill>
            <a:srgbClr val="264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WHAT A BUILDER OR DEVELOPER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5394960" cy="38862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755648"/>
            <a:ext cx="51206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D1F3C"/>
                </a:solidFill>
              </a:rPr>
              <a:t>▸  Builds the dashboards and apps you use</a:t>
            </a:r>
          </a:p>
          <a:p>
            <a:r>
              <a:rPr sz="1050" b="0">
                <a:solidFill>
                  <a:srgbClr val="0D1F3C"/>
                </a:solidFill>
              </a:rPr>
              <a:t>▸  Configures data pipelines that feed the platform</a:t>
            </a:r>
          </a:p>
          <a:p>
            <a:r>
              <a:rPr sz="1050" b="0">
                <a:solidFill>
                  <a:srgbClr val="0D1F3C"/>
                </a:solidFill>
              </a:rPr>
              <a:t>▸  Creates object types and data models</a:t>
            </a:r>
          </a:p>
          <a:p>
            <a:r>
              <a:rPr sz="1050" b="0">
                <a:solidFill>
                  <a:srgbClr val="0D1F3C"/>
                </a:solidFill>
              </a:rPr>
              <a:t>▸  Manages ontology and data governance</a:t>
            </a:r>
          </a:p>
          <a:p>
            <a:r>
              <a:rPr sz="1050" b="0">
                <a:solidFill>
                  <a:srgbClr val="0D1F3C"/>
                </a:solidFill>
              </a:rPr>
              <a:t>▸  Grants and revokes access</a:t>
            </a:r>
          </a:p>
          <a:p>
            <a:r>
              <a:rPr sz="1050" b="0">
                <a:solidFill>
                  <a:srgbClr val="0D1F3C"/>
                </a:solidFill>
              </a:rPr>
              <a:t>▸  Troubleshoots technical platform issues</a:t>
            </a:r>
          </a:p>
          <a:p>
            <a:r>
              <a:rPr sz="1050" b="0">
                <a:solidFill>
                  <a:srgbClr val="0D1F3C"/>
                </a:solidFill>
              </a:rPr>
              <a:t/>
            </a:r>
          </a:p>
          <a:p>
            <a:r>
              <a:rPr sz="1050" b="0">
                <a:solidFill>
                  <a:srgbClr val="0D1F3C"/>
                </a:solidFill>
              </a:rPr>
              <a:t>If you need a new view, a new report, or a new app —</a:t>
            </a:r>
          </a:p>
          <a:p>
            <a:r>
              <a:rPr sz="1050" b="0">
                <a:solidFill>
                  <a:srgbClr val="0D1F3C"/>
                </a:solidFill>
              </a:rPr>
              <a:t>submit a request to your unit data manager.</a:t>
            </a:r>
          </a:p>
          <a:p>
            <a:r>
              <a:rPr sz="1050" b="0">
                <a:solidFill>
                  <a:srgbClr val="0D1F3C"/>
                </a:solidFill>
              </a:rPr>
              <a:t>Do not try to build it yourself without authorization.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834640"/>
            <a:ext cx="1005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7325C"/>
                </a:solidFill>
              </a:rPr>
              <a:t>←  USER
BUILDER 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114070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720840"/>
            <a:ext cx="1114070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8335F"/>
                </a:solidFill>
              </a:rPr>
              <a:t>UNCLASSIFIED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6035040"/>
          </a:xfrm>
          <a:prstGeom prst="rect">
            <a:avLst/>
          </a:prstGeom>
          <a:solidFill>
            <a:srgbClr val="17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89A00"/>
                </a:solidFill>
              </a:rPr>
              <a:t>You are the last link in the data chain — and the most important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9748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5F6F8"/>
                </a:solidFill>
              </a:rPr>
              <a:t>The Army has built the infrastructure. The pipelines are running.</a:t>
            </a:r>
          </a:p>
          <a:p>
            <a:r>
              <a:rPr sz="1300" b="0">
                <a:solidFill>
                  <a:srgbClr val="F5F6F8"/>
                </a:solidFill>
              </a:rPr>
              <a:t>The dashboards are live. The AI is reading real data.</a:t>
            </a:r>
          </a:p>
          <a:p>
            <a:r>
              <a:rPr sz="1300" b="0">
                <a:solidFill>
                  <a:srgbClr val="F5F6F8"/>
                </a:solidFill>
              </a:rPr>
              <a:t/>
            </a:r>
          </a:p>
          <a:p>
            <a:r>
              <a:rPr sz="1300" b="0">
                <a:solidFill>
                  <a:srgbClr val="F5F6F8"/>
                </a:solidFill>
              </a:rPr>
              <a:t>None of it matters if the information doesn't reach the commander accurately.</a:t>
            </a:r>
          </a:p>
          <a:p>
            <a:r>
              <a:rPr sz="1300" b="0">
                <a:solidFill>
                  <a:srgbClr val="F5F6F8"/>
                </a:solidFill>
              </a:rPr>
              <a:t/>
            </a:r>
          </a:p>
          <a:p>
            <a:r>
              <a:rPr sz="1300" b="0">
                <a:solidFill>
                  <a:srgbClr val="F5F6F8"/>
                </a:solidFill>
              </a:rPr>
              <a:t>▸  Enter data correctly — someone is briefing it to leadership.</a:t>
            </a:r>
          </a:p>
          <a:p>
            <a:r>
              <a:rPr sz="1300" b="0">
                <a:solidFill>
                  <a:srgbClr val="F5F6F8"/>
                </a:solidFill>
              </a:rPr>
              <a:t>▸  Read dashboards critically — question what doesn't look right.</a:t>
            </a:r>
          </a:p>
          <a:p>
            <a:r>
              <a:rPr sz="1300" b="0">
                <a:solidFill>
                  <a:srgbClr val="F5F6F8"/>
                </a:solidFill>
              </a:rPr>
              <a:t>▸  Use AIP as a tool — not as a substitute for your judgment.</a:t>
            </a:r>
          </a:p>
          <a:p>
            <a:r>
              <a:rPr sz="1300" b="0">
                <a:solidFill>
                  <a:srgbClr val="F5F6F8"/>
                </a:solidFill>
              </a:rPr>
              <a:t>▸  Report problems — your observation keeps the picture clean.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0749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89A00"/>
                </a:solidFill>
              </a:rPr>
              <a:t>TM-10 Complete  ·  Next: TM-20 Builder 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8335F"/>
                </a:solidFill>
              </a:rPr>
              <a:t>USAREUR-AF  ·  C2DAO  ·  MSS-TM10  ·  MAR 2026  ·  UNCLASSIFIED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