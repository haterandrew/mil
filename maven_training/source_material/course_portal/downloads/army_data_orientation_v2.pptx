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56" r:id="rId6"/>
  </p:sldMasterIdLst>
  <p:notesMasterIdLst>
    <p:notesMasterId r:id="rId9"/>
  </p:notesMasterIdLst>
  <p:handoutMasterIdLst>
    <p:handoutMasterId r:id="rId10"/>
  </p:handoutMasterIdLst>
  <p:sldIdLst>
    <p:sldId id="408" r:id="rId7"/>
    <p:sldId id="266" r:id="rId8"/>
    <p:sldId id="409" r:id="rId16"/>
    <p:sldId id="410" r:id="rId17"/>
    <p:sldId id="411" r:id="rId18"/>
    <p:sldId id="412" r:id="rId19"/>
    <p:sldId id="413" r:id="rId20"/>
    <p:sldId id="414" r:id="rId21"/>
    <p:sldId id="415" r:id="rId22"/>
    <p:sldId id="416" r:id="rId23"/>
    <p:sldId id="417" r:id="rId24"/>
    <p:sldId id="418" r:id="rId25"/>
    <p:sldId id="419" r:id="rId26"/>
    <p:sldId id="420" r:id="rId27"/>
    <p:sldId id="421" r:id="rId2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15B"/>
    <a:srgbClr val="007A33"/>
    <a:srgbClr val="18335F"/>
    <a:srgbClr val="14A89C"/>
    <a:srgbClr val="E33525"/>
    <a:srgbClr val="6BB572"/>
    <a:srgbClr val="D4E0F4"/>
    <a:srgbClr val="B9CDED"/>
    <a:srgbClr val="55AB5D"/>
    <a:srgbClr val="35B5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792B2E-49A2-402D-A26B-5C538659EFC8}" v="122" dt="2026-02-11T14:00:46.117"/>
    <p1510:client id="{463AD0CE-DD73-4DA3-99F2-0704B0E55521}" v="262" dt="2026-02-11T10:53:40.130"/>
    <p1510:client id="{6D831AC9-A3F8-FED7-23CC-34E2FE2DA58E}" v="8" dt="2026-02-11T10:10:32.8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918" y="150"/>
      </p:cViewPr>
      <p:guideLst/>
    </p:cSldViewPr>
  </p:slideViewPr>
  <p:notesTextViewPr>
    <p:cViewPr>
      <p:scale>
        <a:sx n="1" d="1"/>
        <a:sy n="1" d="1"/>
      </p:scale>
      <p:origin x="0" y="0"/>
    </p:cViewPr>
  </p:notesTextViewPr>
  <p:notesViewPr>
    <p:cSldViewPr snapToGrid="0">
      <p:cViewPr>
        <p:scale>
          <a:sx n="1" d="2"/>
          <a:sy n="1" d="2"/>
        </p:scale>
        <p:origin x="4608" y="103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customXml" Target="../customXml/item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5/10/relationships/revisionInfo" Target="revisionInfo.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0ADADEB-4281-237A-DFA4-F48BC050D0A9}"/>
              </a:ext>
            </a:extLst>
          </p:cNvPr>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C217722-4BCC-638B-7C83-EB41553C8E17}"/>
              </a:ext>
            </a:extLst>
          </p:cNvPr>
          <p:cNvSpPr>
            <a:spLocks noGrp="1"/>
          </p:cNvSpPr>
          <p:nvPr>
            <p:ph type="dt" sz="quarter" idx="1"/>
          </p:nvPr>
        </p:nvSpPr>
        <p:spPr>
          <a:xfrm>
            <a:off x="3970338" y="0"/>
            <a:ext cx="3038475" cy="466725"/>
          </a:xfrm>
          <a:prstGeom prst="rect">
            <a:avLst/>
          </a:prstGeom>
        </p:spPr>
        <p:txBody>
          <a:bodyPr vert="horz" lIns="91440" tIns="45720" rIns="91440" bIns="45720" rtlCol="0"/>
          <a:lstStyle>
            <a:lvl1pPr algn="r">
              <a:defRPr sz="1200"/>
            </a:lvl1pPr>
          </a:lstStyle>
          <a:p>
            <a:fld id="{46C9A975-6FC3-4939-A82D-0C7EB457A410}" type="datetimeFigureOut">
              <a:rPr lang="en-US" smtClean="0"/>
              <a:t>3/14/2026</a:t>
            </a:fld>
            <a:endParaRPr lang="en-US"/>
          </a:p>
        </p:txBody>
      </p:sp>
      <p:sp>
        <p:nvSpPr>
          <p:cNvPr id="4" name="Footer Placeholder 3">
            <a:extLst>
              <a:ext uri="{FF2B5EF4-FFF2-40B4-BE49-F238E27FC236}">
                <a16:creationId xmlns:a16="http://schemas.microsoft.com/office/drawing/2014/main" id="{86655B00-7AEB-18E9-156C-FB575CEE5D78}"/>
              </a:ext>
            </a:extLst>
          </p:cNvPr>
          <p:cNvSpPr>
            <a:spLocks noGrp="1"/>
          </p:cNvSpPr>
          <p:nvPr>
            <p:ph type="ftr" sz="quarter" idx="2"/>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43E733EE-4555-1770-2A4C-00CFAE4FBA26}"/>
              </a:ext>
            </a:extLst>
          </p:cNvPr>
          <p:cNvSpPr>
            <a:spLocks noGrp="1"/>
          </p:cNvSpPr>
          <p:nvPr>
            <p:ph type="sldNum" sz="quarter" idx="3"/>
          </p:nvPr>
        </p:nvSpPr>
        <p:spPr>
          <a:xfrm>
            <a:off x="3970338" y="8829675"/>
            <a:ext cx="3038475" cy="466725"/>
          </a:xfrm>
          <a:prstGeom prst="rect">
            <a:avLst/>
          </a:prstGeom>
        </p:spPr>
        <p:txBody>
          <a:bodyPr vert="horz" lIns="91440" tIns="45720" rIns="91440" bIns="45720" rtlCol="0" anchor="b"/>
          <a:lstStyle>
            <a:lvl1pPr algn="r">
              <a:defRPr sz="1200"/>
            </a:lvl1pPr>
          </a:lstStyle>
          <a:p>
            <a:fld id="{17CEB839-8834-49B1-9A1E-0BEF01290A72}" type="slidenum">
              <a:rPr lang="en-US" smtClean="0"/>
              <a:t>‹#›</a:t>
            </a:fld>
            <a:endParaRPr lang="en-US"/>
          </a:p>
        </p:txBody>
      </p:sp>
    </p:spTree>
    <p:extLst>
      <p:ext uri="{BB962C8B-B14F-4D97-AF65-F5344CB8AC3E}">
        <p14:creationId xmlns:p14="http://schemas.microsoft.com/office/powerpoint/2010/main" val="40604970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6435"/>
          </a:xfrm>
          <a:prstGeom prst="rect">
            <a:avLst/>
          </a:prstGeom>
        </p:spPr>
        <p:txBody>
          <a:bodyPr vert="horz" lIns="92830" tIns="46415" rIns="92830" bIns="46415" rtlCol="0"/>
          <a:lstStyle>
            <a:lvl1pPr algn="r">
              <a:defRPr sz="1200"/>
            </a:lvl1pPr>
          </a:lstStyle>
          <a:p>
            <a:fld id="{BB995F2B-7481-44A3-AD31-CCFCA44A813A}" type="datetimeFigureOut">
              <a:rPr lang="en-US" smtClean="0"/>
              <a:t>3/14/2026</a:t>
            </a:fld>
            <a:endParaRPr lang="en-US"/>
          </a:p>
        </p:txBody>
      </p:sp>
      <p:sp>
        <p:nvSpPr>
          <p:cNvPr id="4" name="Slide Image Placeholder 3"/>
          <p:cNvSpPr>
            <a:spLocks noGrp="1" noRot="1" noChangeAspect="1"/>
          </p:cNvSpPr>
          <p:nvPr>
            <p:ph type="sldImg" idx="2"/>
          </p:nvPr>
        </p:nvSpPr>
        <p:spPr>
          <a:xfrm>
            <a:off x="715963" y="1162050"/>
            <a:ext cx="5578475" cy="3138488"/>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73893"/>
            <a:ext cx="5608320" cy="3660458"/>
          </a:xfrm>
          <a:prstGeom prst="rect">
            <a:avLst/>
          </a:prstGeom>
        </p:spPr>
        <p:txBody>
          <a:bodyPr vert="horz" lIns="92830" tIns="46415" rIns="92830" bIns="4641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4"/>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8"/>
            <a:ext cx="3037840" cy="466434"/>
          </a:xfrm>
          <a:prstGeom prst="rect">
            <a:avLst/>
          </a:prstGeom>
        </p:spPr>
        <p:txBody>
          <a:bodyPr vert="horz" lIns="92830" tIns="46415" rIns="92830" bIns="46415" rtlCol="0" anchor="b"/>
          <a:lstStyle>
            <a:lvl1pPr algn="r">
              <a:defRPr sz="1200"/>
            </a:lvl1pPr>
          </a:lstStyle>
          <a:p>
            <a:fld id="{7C0CC641-8F98-4103-9AA8-4ECF5A051046}" type="slidenum">
              <a:rPr lang="en-US" smtClean="0"/>
              <a:t>‹#›</a:t>
            </a:fld>
            <a:endParaRPr lang="en-US"/>
          </a:p>
        </p:txBody>
      </p:sp>
    </p:spTree>
    <p:extLst>
      <p:ext uri="{BB962C8B-B14F-4D97-AF65-F5344CB8AC3E}">
        <p14:creationId xmlns:p14="http://schemas.microsoft.com/office/powerpoint/2010/main" val="4598100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2DF65-F599-38E0-9D95-C4D556A2DD76}"/>
              </a:ext>
            </a:extLst>
          </p:cNvPr>
          <p:cNvSpPr>
            <a:spLocks noGrp="1"/>
          </p:cNvSpPr>
          <p:nvPr>
            <p:ph type="ctrTitle"/>
          </p:nvPr>
        </p:nvSpPr>
        <p:spPr>
          <a:xfrm>
            <a:off x="2852057" y="3183870"/>
            <a:ext cx="9144000" cy="490259"/>
          </a:xfrm>
          <a:prstGeom prst="rect">
            <a:avLst/>
          </a:prstGeom>
          <a:ln>
            <a:noFill/>
          </a:ln>
        </p:spPr>
        <p:txBody>
          <a:bodyPr anchor="b"/>
          <a:lstStyle>
            <a:lvl1pPr algn="l">
              <a:defRPr sz="3200">
                <a:solidFill>
                  <a:schemeClr val="bg1"/>
                </a:solidFill>
                <a:latin typeface="Franklin Gothic Medium" panose="020B0603020102020204" pitchFamily="34" charset="0"/>
              </a:defRPr>
            </a:lvl1pPr>
          </a:lstStyle>
          <a:p>
            <a:r>
              <a:rPr lang="en-US" dirty="0"/>
              <a:t>Click to edit Master title style</a:t>
            </a:r>
            <a:endParaRPr lang="en-CA" dirty="0"/>
          </a:p>
        </p:txBody>
      </p:sp>
    </p:spTree>
    <p:extLst>
      <p:ext uri="{BB962C8B-B14F-4D97-AF65-F5344CB8AC3E}">
        <p14:creationId xmlns:p14="http://schemas.microsoft.com/office/powerpoint/2010/main" val="942122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hlSlideMaster.BlankHeader" descr="CLASSIFICATION: UNCLASSIFIED//REL TO CAN, NATO"/>
          <p:cNvSpPr txBox="1"/>
          <p:nvPr userDrawn="1"/>
        </p:nvSpPr>
        <p:spPr>
          <a:xfrm>
            <a:off x="0" y="0"/>
            <a:ext cx="12192000" cy="246221"/>
          </a:xfrm>
          <a:prstGeom prst="rect">
            <a:avLst/>
          </a:prstGeom>
          <a:noFill/>
        </p:spPr>
        <p:txBody>
          <a:bodyPr vert="horz" rtlCol="0">
            <a:spAutoFit/>
          </a:bodyPr>
          <a:lstStyle/>
          <a:p>
            <a:pPr algn="ctr"/>
            <a:r>
              <a:rPr lang="en-CA" sz="1000" b="1" i="0" u="none" baseline="0">
                <a:solidFill>
                  <a:schemeClr val="bg1"/>
                </a:solidFill>
                <a:latin typeface="arial" panose="020B0604020202020204" pitchFamily="34" charset="0"/>
              </a:rPr>
              <a:t>CUI//REL TO USA, NATO</a:t>
            </a:r>
          </a:p>
        </p:txBody>
      </p:sp>
      <p:sp>
        <p:nvSpPr>
          <p:cNvPr id="2" name="hlSlideMaster.BlankHeader" descr="CLASSIFICATION: UNCLASSIFIED//REL TO CAN, NATO">
            <a:extLst>
              <a:ext uri="{FF2B5EF4-FFF2-40B4-BE49-F238E27FC236}">
                <a16:creationId xmlns:a16="http://schemas.microsoft.com/office/drawing/2014/main" id="{E57D0782-9828-DDF2-EDB3-1C9A429C2271}"/>
              </a:ext>
            </a:extLst>
          </p:cNvPr>
          <p:cNvSpPr txBox="1"/>
          <p:nvPr userDrawn="1"/>
        </p:nvSpPr>
        <p:spPr>
          <a:xfrm>
            <a:off x="0" y="6611779"/>
            <a:ext cx="12192000" cy="246221"/>
          </a:xfrm>
          <a:prstGeom prst="rect">
            <a:avLst/>
          </a:prstGeom>
          <a:noFill/>
        </p:spPr>
        <p:txBody>
          <a:bodyPr vert="horz" rtlCol="0">
            <a:spAutoFit/>
          </a:bodyPr>
          <a:lstStyle/>
          <a:p>
            <a:pPr algn="ctr"/>
            <a:r>
              <a:rPr lang="en-CA" sz="1000" b="1" i="0" u="none" baseline="0">
                <a:solidFill>
                  <a:schemeClr val="bg1"/>
                </a:solidFill>
                <a:latin typeface="arial" panose="020B0604020202020204" pitchFamily="34" charset="0"/>
              </a:rPr>
              <a:t>CUI//REL TO USA, NATO</a:t>
            </a:r>
          </a:p>
        </p:txBody>
      </p:sp>
    </p:spTree>
    <p:extLst>
      <p:ext uri="{BB962C8B-B14F-4D97-AF65-F5344CB8AC3E}">
        <p14:creationId xmlns:p14="http://schemas.microsoft.com/office/powerpoint/2010/main" val="4275193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E0865E3A-0875-BC3D-AC1C-BA7AB625FB08}"/>
              </a:ext>
            </a:extLst>
          </p:cNvPr>
          <p:cNvSpPr>
            <a:spLocks noGrp="1"/>
          </p:cNvSpPr>
          <p:nvPr>
            <p:ph type="sldNum" sz="quarter" idx="4"/>
          </p:nvPr>
        </p:nvSpPr>
        <p:spPr>
          <a:xfrm>
            <a:off x="10897527" y="6652985"/>
            <a:ext cx="350520" cy="185738"/>
          </a:xfrm>
          <a:prstGeom prst="rect">
            <a:avLst/>
          </a:prstGeom>
        </p:spPr>
        <p:txBody>
          <a:bodyPr anchor="ctr"/>
          <a:lstStyle>
            <a:lvl1pPr algn="ctr">
              <a:defRPr sz="900">
                <a:latin typeface="Franklin Gothic Demi Cond" panose="020B0706030402020204" pitchFamily="34" charset="0"/>
              </a:defRPr>
            </a:lvl1pPr>
          </a:lstStyle>
          <a:p>
            <a:fld id="{871F8A0E-E126-4E4A-8440-333DA579F008}" type="slidenum">
              <a:rPr lang="en-CA" smtClean="0"/>
              <a:pPr/>
              <a:t>‹#›</a:t>
            </a:fld>
            <a:endParaRPr lang="en-CA"/>
          </a:p>
        </p:txBody>
      </p:sp>
      <p:sp>
        <p:nvSpPr>
          <p:cNvPr id="9" name="Rectangle 8">
            <a:extLst>
              <a:ext uri="{FF2B5EF4-FFF2-40B4-BE49-F238E27FC236}">
                <a16:creationId xmlns:a16="http://schemas.microsoft.com/office/drawing/2014/main" id="{093B314D-DC9D-74EC-5306-9BDAD410377A}"/>
              </a:ext>
            </a:extLst>
          </p:cNvPr>
          <p:cNvSpPr/>
          <p:nvPr userDrawn="1"/>
        </p:nvSpPr>
        <p:spPr>
          <a:xfrm>
            <a:off x="0" y="206375"/>
            <a:ext cx="638175" cy="431800"/>
          </a:xfrm>
          <a:prstGeom prst="rect">
            <a:avLst/>
          </a:prstGeom>
          <a:solidFill>
            <a:srgbClr val="1731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a:latin typeface="Franklin Gothic Medium Cond" panose="020B0606030402020204" pitchFamily="34" charset="0"/>
                <a:cs typeface="Gisha" panose="020B0502040204020203" pitchFamily="34" charset="-79"/>
              </a:rPr>
              <a:t>U.S. ARMY</a:t>
            </a:r>
          </a:p>
          <a:p>
            <a:r>
              <a:rPr lang="en-US" sz="900">
                <a:latin typeface="Franklin Gothic Medium Cond" panose="020B0606030402020204" pitchFamily="34" charset="0"/>
                <a:cs typeface="Gisha" panose="020B0502040204020203" pitchFamily="34" charset="-79"/>
              </a:rPr>
              <a:t>EUROPE</a:t>
            </a:r>
            <a:br>
              <a:rPr lang="en-US" sz="900">
                <a:latin typeface="Franklin Gothic Medium Cond" panose="020B0606030402020204" pitchFamily="34" charset="0"/>
                <a:cs typeface="Gisha" panose="020B0502040204020203" pitchFamily="34" charset="-79"/>
              </a:rPr>
            </a:br>
            <a:r>
              <a:rPr lang="en-US" sz="900">
                <a:latin typeface="Franklin Gothic Medium Cond" panose="020B0606030402020204" pitchFamily="34" charset="0"/>
                <a:cs typeface="Gisha" panose="020B0502040204020203" pitchFamily="34" charset="-79"/>
              </a:rPr>
              <a:t>&amp; AFRICA</a:t>
            </a:r>
          </a:p>
        </p:txBody>
      </p:sp>
    </p:spTree>
    <p:extLst>
      <p:ext uri="{BB962C8B-B14F-4D97-AF65-F5344CB8AC3E}">
        <p14:creationId xmlns:p14="http://schemas.microsoft.com/office/powerpoint/2010/main" val="2452036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AC6F9-AC9F-84FB-7F37-5FF05AF279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86408A-440A-3618-782A-04FD90050A89}"/>
              </a:ext>
            </a:extLst>
          </p:cNvPr>
          <p:cNvSpPr>
            <a:spLocks noGrp="1"/>
          </p:cNvSpPr>
          <p:nvPr>
            <p:ph type="dt" sz="half" idx="10"/>
          </p:nvPr>
        </p:nvSpPr>
        <p:spPr/>
        <p:txBody>
          <a:bodyPr/>
          <a:lstStyle/>
          <a:p>
            <a:fld id="{DF6A782D-2A4A-407B-A19B-CE3E0EB33462}" type="datetimeFigureOut">
              <a:rPr lang="en-US" smtClean="0"/>
              <a:t>3/14/2026</a:t>
            </a:fld>
            <a:endParaRPr lang="en-US"/>
          </a:p>
        </p:txBody>
      </p:sp>
      <p:sp>
        <p:nvSpPr>
          <p:cNvPr id="4" name="Footer Placeholder 3">
            <a:extLst>
              <a:ext uri="{FF2B5EF4-FFF2-40B4-BE49-F238E27FC236}">
                <a16:creationId xmlns:a16="http://schemas.microsoft.com/office/drawing/2014/main" id="{7B62B866-3835-1DBB-3EEA-766D3BAC6F3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06BCE51-6783-29CC-CBE3-ED5730FDCFF0}"/>
              </a:ext>
            </a:extLst>
          </p:cNvPr>
          <p:cNvSpPr>
            <a:spLocks noGrp="1"/>
          </p:cNvSpPr>
          <p:nvPr>
            <p:ph type="sldNum" sz="quarter" idx="12"/>
          </p:nvPr>
        </p:nvSpPr>
        <p:spPr>
          <a:xfrm>
            <a:off x="8610600" y="6356350"/>
            <a:ext cx="2743200" cy="365125"/>
          </a:xfrm>
          <a:prstGeom prst="rect">
            <a:avLst/>
          </a:prstGeom>
        </p:spPr>
        <p:txBody>
          <a:bodyPr/>
          <a:lstStyle/>
          <a:p>
            <a:fld id="{EF187072-E7F1-4C19-9E98-96DEAF7C223F}" type="slidenum">
              <a:rPr lang="en-US" smtClean="0"/>
              <a:t>‹#›</a:t>
            </a:fld>
            <a:endParaRPr lang="en-US"/>
          </a:p>
        </p:txBody>
      </p:sp>
    </p:spTree>
    <p:extLst>
      <p:ext uri="{BB962C8B-B14F-4D97-AF65-F5344CB8AC3E}">
        <p14:creationId xmlns:p14="http://schemas.microsoft.com/office/powerpoint/2010/main" val="1244185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png"/><Relationship Id="rId5"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slideLayout" Target="../slideLayouts/slideLayout4.xml"/><Relationship Id="rId3" Type="http://schemas.openxmlformats.org/officeDocument/2006/relationships/theme" Target="../theme/theme2.xml"/><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4" name="Picture 7">
            <a:extLst>
              <a:ext uri="{FF2B5EF4-FFF2-40B4-BE49-F238E27FC236}">
                <a16:creationId xmlns:a16="http://schemas.microsoft.com/office/drawing/2014/main" id="{301D12D0-C067-0E7E-5B6A-70C9F9D73C9D}"/>
              </a:ext>
            </a:extLst>
          </p:cNvPr>
          <p:cNvPicPr/>
          <p:nvPr userDrawn="1"/>
        </p:nvPicPr>
        <p:blipFill>
          <a:blip r:embed="rId4"/>
          <a:stretch/>
        </p:blipFill>
        <p:spPr>
          <a:xfrm>
            <a:off x="713880" y="0"/>
            <a:ext cx="552960" cy="713520"/>
          </a:xfrm>
          <a:prstGeom prst="rect">
            <a:avLst/>
          </a:prstGeom>
          <a:ln>
            <a:noFill/>
          </a:ln>
        </p:spPr>
      </p:pic>
      <p:sp>
        <p:nvSpPr>
          <p:cNvPr id="25" name="CustomShape 1">
            <a:extLst>
              <a:ext uri="{FF2B5EF4-FFF2-40B4-BE49-F238E27FC236}">
                <a16:creationId xmlns:a16="http://schemas.microsoft.com/office/drawing/2014/main" id="{485D91C9-3496-74D4-68D4-E929EE6279E7}"/>
              </a:ext>
            </a:extLst>
          </p:cNvPr>
          <p:cNvSpPr/>
          <p:nvPr userDrawn="1"/>
        </p:nvSpPr>
        <p:spPr>
          <a:xfrm>
            <a:off x="51120" y="6604200"/>
            <a:ext cx="1683720" cy="2502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en-US" sz="1050" b="0" i="1" strike="noStrike" spc="-1">
                <a:solidFill>
                  <a:srgbClr val="FFFFFF"/>
                </a:solidFill>
                <a:latin typeface="Franklin Gothic Demi"/>
              </a:rPr>
              <a:t>STRONGER TOGETHER</a:t>
            </a:r>
            <a:endParaRPr lang="en-US" sz="1050" b="0" strike="noStrike" spc="-1">
              <a:latin typeface="Arial"/>
            </a:endParaRPr>
          </a:p>
        </p:txBody>
      </p:sp>
      <p:sp>
        <p:nvSpPr>
          <p:cNvPr id="26" name="TextBox 25">
            <a:extLst>
              <a:ext uri="{FF2B5EF4-FFF2-40B4-BE49-F238E27FC236}">
                <a16:creationId xmlns:a16="http://schemas.microsoft.com/office/drawing/2014/main" id="{ECB11185-54EB-877D-0649-86E1A3CF45DC}"/>
              </a:ext>
            </a:extLst>
          </p:cNvPr>
          <p:cNvSpPr txBox="1"/>
          <p:nvPr userDrawn="1"/>
        </p:nvSpPr>
        <p:spPr>
          <a:xfrm>
            <a:off x="10524258" y="6600283"/>
            <a:ext cx="1054776" cy="21544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800" b="1" i="1" kern="1200">
                <a:solidFill>
                  <a:prstClr val="white"/>
                </a:solidFill>
                <a:latin typeface="Arial"/>
              </a:rPr>
              <a:t>20 AUG 24</a:t>
            </a:r>
            <a:endParaRPr kumimoji="0" lang="en-US" sz="800" b="1" i="1" u="none" strike="noStrike" kern="1200" cap="none" spc="0" normalizeH="0" baseline="0" noProof="0">
              <a:ln>
                <a:noFill/>
              </a:ln>
              <a:solidFill>
                <a:prstClr val="white"/>
              </a:solidFill>
              <a:effectLst/>
              <a:uLnTx/>
              <a:uFillTx/>
              <a:latin typeface="Arial"/>
            </a:endParaRPr>
          </a:p>
        </p:txBody>
      </p:sp>
      <p:pic>
        <p:nvPicPr>
          <p:cNvPr id="3" name="Picture 2">
            <a:extLst>
              <a:ext uri="{FF2B5EF4-FFF2-40B4-BE49-F238E27FC236}">
                <a16:creationId xmlns:a16="http://schemas.microsoft.com/office/drawing/2014/main" id="{C13925F3-B8CD-0466-070D-41F4E005AE98}"/>
              </a:ext>
            </a:extLst>
          </p:cNvPr>
          <p:cNvPicPr>
            <a:picLocks noChangeAspect="1"/>
          </p:cNvPicPr>
          <p:nvPr userDrawn="1"/>
        </p:nvPicPr>
        <p:blipFill>
          <a:blip r:embed="rId5" cstate="hqprint">
            <a:extLst>
              <a:ext uri="{28A0092B-C50C-407E-A947-70E740481C1C}">
                <a14:useLocalDpi xmlns:a14="http://schemas.microsoft.com/office/drawing/2010/main" val="0"/>
              </a:ext>
            </a:extLst>
          </a:blip>
          <a:srcRect/>
          <a:stretch/>
        </p:blipFill>
        <p:spPr>
          <a:xfrm>
            <a:off x="0" y="0"/>
            <a:ext cx="12191999" cy="6857999"/>
          </a:xfrm>
          <a:prstGeom prst="rect">
            <a:avLst/>
          </a:prstGeom>
        </p:spPr>
      </p:pic>
    </p:spTree>
    <p:extLst>
      <p:ext uri="{BB962C8B-B14F-4D97-AF65-F5344CB8AC3E}">
        <p14:creationId xmlns:p14="http://schemas.microsoft.com/office/powerpoint/2010/main" val="1309431462"/>
      </p:ext>
    </p:extLst>
  </p:cSld>
  <p:clrMap bg1="lt1" tx1="dk1" bg2="lt2" tx2="dk2" accent1="accent1" accent2="accent2" accent3="accent3" accent4="accent4" accent5="accent5" accent6="accent6" hlink="hlink" folHlink="folHlink"/>
  <p:sldLayoutIdLst>
    <p:sldLayoutId id="2147483649" r:id="rId1"/>
    <p:sldLayoutId id="2147483655"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3" name="Picture 2">
            <a:extLst>
              <a:ext uri="{FF2B5EF4-FFF2-40B4-BE49-F238E27FC236}">
                <a16:creationId xmlns:a16="http://schemas.microsoft.com/office/drawing/2014/main" id="{19BFCBB0-49E2-1DF3-CA77-3EDCA8BA82AE}"/>
              </a:ext>
            </a:extLst>
          </p:cNvPr>
          <p:cNvPicPr/>
          <p:nvPr userDrawn="1"/>
        </p:nvPicPr>
        <p:blipFill>
          <a:blip r:embed="rId4" cstate="hqprint">
            <a:extLst>
              <a:ext uri="{28A0092B-C50C-407E-A947-70E740481C1C}">
                <a14:useLocalDpi xmlns:a14="http://schemas.microsoft.com/office/drawing/2010/main" val="0"/>
              </a:ext>
            </a:extLst>
          </a:blip>
          <a:srcRect/>
          <a:stretch/>
        </p:blipFill>
        <p:spPr>
          <a:xfrm>
            <a:off x="0" y="1102"/>
            <a:ext cx="12187439" cy="6855434"/>
          </a:xfrm>
          <a:prstGeom prst="rect">
            <a:avLst/>
          </a:prstGeom>
          <a:ln>
            <a:noFill/>
          </a:ln>
        </p:spPr>
      </p:pic>
      <p:sp>
        <p:nvSpPr>
          <p:cNvPr id="3" name="Slide Number Placeholder 5">
            <a:extLst>
              <a:ext uri="{FF2B5EF4-FFF2-40B4-BE49-F238E27FC236}">
                <a16:creationId xmlns:a16="http://schemas.microsoft.com/office/drawing/2014/main" id="{1FDD424F-C8B5-7EC0-EBB0-384358D3FEEA}"/>
              </a:ext>
            </a:extLst>
          </p:cNvPr>
          <p:cNvSpPr>
            <a:spLocks noGrp="1"/>
          </p:cNvSpPr>
          <p:nvPr>
            <p:ph type="sldNum" sz="quarter" idx="4"/>
          </p:nvPr>
        </p:nvSpPr>
        <p:spPr>
          <a:xfrm>
            <a:off x="10897527" y="6652985"/>
            <a:ext cx="350520" cy="185738"/>
          </a:xfrm>
          <a:prstGeom prst="rect">
            <a:avLst/>
          </a:prstGeom>
        </p:spPr>
        <p:txBody>
          <a:bodyPr anchor="ctr"/>
          <a:lstStyle>
            <a:lvl1pPr algn="ctr">
              <a:defRPr sz="900">
                <a:latin typeface="Franklin Gothic Demi Cond" panose="020B0706030402020204" pitchFamily="34" charset="0"/>
              </a:defRPr>
            </a:lvl1pPr>
          </a:lstStyle>
          <a:p>
            <a:fld id="{871F8A0E-E126-4E4A-8440-333DA579F008}" type="slidenum">
              <a:rPr lang="en-CA" smtClean="0"/>
              <a:pPr/>
              <a:t>‹#›</a:t>
            </a:fld>
            <a:endParaRPr lang="en-CA"/>
          </a:p>
        </p:txBody>
      </p:sp>
      <p:sp>
        <p:nvSpPr>
          <p:cNvPr id="8" name="Rectangle 7">
            <a:extLst>
              <a:ext uri="{FF2B5EF4-FFF2-40B4-BE49-F238E27FC236}">
                <a16:creationId xmlns:a16="http://schemas.microsoft.com/office/drawing/2014/main" id="{0405D163-4D52-F1AB-BA97-43F1FEBB9547}"/>
              </a:ext>
            </a:extLst>
          </p:cNvPr>
          <p:cNvSpPr/>
          <p:nvPr userDrawn="1"/>
        </p:nvSpPr>
        <p:spPr>
          <a:xfrm>
            <a:off x="11114928" y="206375"/>
            <a:ext cx="1074793" cy="431800"/>
          </a:xfrm>
          <a:prstGeom prst="rect">
            <a:avLst/>
          </a:prstGeom>
          <a:solidFill>
            <a:srgbClr val="1731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r"/>
            <a:r>
              <a:rPr lang="en-US" sz="900">
                <a:latin typeface="Franklin Gothic Medium Cond" panose="020B0606030402020204" pitchFamily="34" charset="0"/>
                <a:cs typeface="Gisha" panose="020B0502040204020203" pitchFamily="34" charset="-79"/>
              </a:rPr>
              <a:t>NATO ALLIED </a:t>
            </a:r>
          </a:p>
          <a:p>
            <a:pPr algn="r"/>
            <a:r>
              <a:rPr lang="en-US" sz="900">
                <a:latin typeface="Franklin Gothic Medium Cond" panose="020B0606030402020204" pitchFamily="34" charset="0"/>
                <a:cs typeface="Gisha" panose="020B0502040204020203" pitchFamily="34" charset="-79"/>
              </a:rPr>
              <a:t>LAND COMMAND</a:t>
            </a:r>
          </a:p>
        </p:txBody>
      </p:sp>
      <p:sp>
        <p:nvSpPr>
          <p:cNvPr id="2" name="Rectangle 1">
            <a:extLst>
              <a:ext uri="{FF2B5EF4-FFF2-40B4-BE49-F238E27FC236}">
                <a16:creationId xmlns:a16="http://schemas.microsoft.com/office/drawing/2014/main" id="{597B09D3-7306-306D-B12F-D66D4C517E3D}"/>
              </a:ext>
            </a:extLst>
          </p:cNvPr>
          <p:cNvSpPr/>
          <p:nvPr userDrawn="1"/>
        </p:nvSpPr>
        <p:spPr>
          <a:xfrm>
            <a:off x="0" y="206375"/>
            <a:ext cx="638175" cy="431800"/>
          </a:xfrm>
          <a:prstGeom prst="rect">
            <a:avLst/>
          </a:prstGeom>
          <a:solidFill>
            <a:srgbClr val="17315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900" dirty="0">
                <a:latin typeface="Franklin Gothic Medium Cond" panose="020B0606030402020204" pitchFamily="34" charset="0"/>
                <a:cs typeface="Gisha" panose="020B0502040204020203" pitchFamily="34" charset="-79"/>
              </a:rPr>
              <a:t>U.S. ARMY</a:t>
            </a:r>
          </a:p>
          <a:p>
            <a:r>
              <a:rPr lang="en-US" sz="900" dirty="0">
                <a:latin typeface="Franklin Gothic Medium Cond" panose="020B0606030402020204" pitchFamily="34" charset="0"/>
                <a:cs typeface="Gisha" panose="020B0502040204020203" pitchFamily="34" charset="-79"/>
              </a:rPr>
              <a:t>EUROPE</a:t>
            </a:r>
            <a:br>
              <a:rPr lang="en-US" sz="900" dirty="0">
                <a:latin typeface="Franklin Gothic Medium Cond" panose="020B0606030402020204" pitchFamily="34" charset="0"/>
                <a:cs typeface="Gisha" panose="020B0502040204020203" pitchFamily="34" charset="-79"/>
              </a:rPr>
            </a:br>
            <a:r>
              <a:rPr lang="en-US" sz="900" dirty="0">
                <a:latin typeface="Franklin Gothic Medium Cond" panose="020B0606030402020204" pitchFamily="34" charset="0"/>
                <a:cs typeface="Gisha" panose="020B0502040204020203" pitchFamily="34" charset="-79"/>
              </a:rPr>
              <a:t>&amp; AFRICA</a:t>
            </a:r>
          </a:p>
        </p:txBody>
      </p:sp>
      <p:sp>
        <p:nvSpPr>
          <p:cNvPr id="4" name="Freeform: Shape 3">
            <a:extLst>
              <a:ext uri="{FF2B5EF4-FFF2-40B4-BE49-F238E27FC236}">
                <a16:creationId xmlns:a16="http://schemas.microsoft.com/office/drawing/2014/main" id="{8778D578-0837-9A33-8018-92ECDC67F499}"/>
              </a:ext>
            </a:extLst>
          </p:cNvPr>
          <p:cNvSpPr/>
          <p:nvPr userDrawn="1"/>
        </p:nvSpPr>
        <p:spPr>
          <a:xfrm>
            <a:off x="10975734" y="177006"/>
            <a:ext cx="366713" cy="490537"/>
          </a:xfrm>
          <a:custGeom>
            <a:avLst/>
            <a:gdLst>
              <a:gd name="connsiteX0" fmla="*/ 0 w 366713"/>
              <a:gd name="connsiteY0" fmla="*/ 59531 h 490537"/>
              <a:gd name="connsiteX1" fmla="*/ 35719 w 366713"/>
              <a:gd name="connsiteY1" fmla="*/ 0 h 490537"/>
              <a:gd name="connsiteX2" fmla="*/ 335756 w 366713"/>
              <a:gd name="connsiteY2" fmla="*/ 2381 h 490537"/>
              <a:gd name="connsiteX3" fmla="*/ 366713 w 366713"/>
              <a:gd name="connsiteY3" fmla="*/ 57150 h 490537"/>
              <a:gd name="connsiteX4" fmla="*/ 352425 w 366713"/>
              <a:gd name="connsiteY4" fmla="*/ 85725 h 490537"/>
              <a:gd name="connsiteX5" fmla="*/ 342900 w 366713"/>
              <a:gd name="connsiteY5" fmla="*/ 100012 h 490537"/>
              <a:gd name="connsiteX6" fmla="*/ 338138 w 366713"/>
              <a:gd name="connsiteY6" fmla="*/ 116681 h 490537"/>
              <a:gd name="connsiteX7" fmla="*/ 338138 w 366713"/>
              <a:gd name="connsiteY7" fmla="*/ 128587 h 490537"/>
              <a:gd name="connsiteX8" fmla="*/ 352425 w 366713"/>
              <a:gd name="connsiteY8" fmla="*/ 328612 h 490537"/>
              <a:gd name="connsiteX9" fmla="*/ 345281 w 366713"/>
              <a:gd name="connsiteY9" fmla="*/ 350043 h 490537"/>
              <a:gd name="connsiteX10" fmla="*/ 335756 w 366713"/>
              <a:gd name="connsiteY10" fmla="*/ 369093 h 490537"/>
              <a:gd name="connsiteX11" fmla="*/ 309563 w 366713"/>
              <a:gd name="connsiteY11" fmla="*/ 397668 h 490537"/>
              <a:gd name="connsiteX12" fmla="*/ 269081 w 366713"/>
              <a:gd name="connsiteY12" fmla="*/ 426243 h 490537"/>
              <a:gd name="connsiteX13" fmla="*/ 247650 w 366713"/>
              <a:gd name="connsiteY13" fmla="*/ 435768 h 490537"/>
              <a:gd name="connsiteX14" fmla="*/ 247650 w 366713"/>
              <a:gd name="connsiteY14" fmla="*/ 435768 h 490537"/>
              <a:gd name="connsiteX15" fmla="*/ 228600 w 366713"/>
              <a:gd name="connsiteY15" fmla="*/ 454818 h 490537"/>
              <a:gd name="connsiteX16" fmla="*/ 185738 w 366713"/>
              <a:gd name="connsiteY16" fmla="*/ 490537 h 490537"/>
              <a:gd name="connsiteX17" fmla="*/ 142875 w 366713"/>
              <a:gd name="connsiteY17" fmla="*/ 452437 h 490537"/>
              <a:gd name="connsiteX18" fmla="*/ 126206 w 366713"/>
              <a:gd name="connsiteY18" fmla="*/ 440531 h 490537"/>
              <a:gd name="connsiteX19" fmla="*/ 107156 w 366713"/>
              <a:gd name="connsiteY19" fmla="*/ 431006 h 490537"/>
              <a:gd name="connsiteX20" fmla="*/ 80963 w 366713"/>
              <a:gd name="connsiteY20" fmla="*/ 416718 h 490537"/>
              <a:gd name="connsiteX21" fmla="*/ 69056 w 366713"/>
              <a:gd name="connsiteY21" fmla="*/ 404812 h 490537"/>
              <a:gd name="connsiteX22" fmla="*/ 47625 w 366713"/>
              <a:gd name="connsiteY22" fmla="*/ 392906 h 490537"/>
              <a:gd name="connsiteX23" fmla="*/ 26194 w 366713"/>
              <a:gd name="connsiteY23" fmla="*/ 354806 h 490537"/>
              <a:gd name="connsiteX24" fmla="*/ 14288 w 366713"/>
              <a:gd name="connsiteY24" fmla="*/ 330993 h 490537"/>
              <a:gd name="connsiteX25" fmla="*/ 28575 w 366713"/>
              <a:gd name="connsiteY25" fmla="*/ 119062 h 490537"/>
              <a:gd name="connsiteX26" fmla="*/ 0 w 366713"/>
              <a:gd name="connsiteY26" fmla="*/ 59531 h 490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66713" h="490537">
                <a:moveTo>
                  <a:pt x="0" y="59531"/>
                </a:moveTo>
                <a:lnTo>
                  <a:pt x="35719" y="0"/>
                </a:lnTo>
                <a:lnTo>
                  <a:pt x="335756" y="2381"/>
                </a:lnTo>
                <a:lnTo>
                  <a:pt x="366713" y="57150"/>
                </a:lnTo>
                <a:lnTo>
                  <a:pt x="352425" y="85725"/>
                </a:lnTo>
                <a:lnTo>
                  <a:pt x="342900" y="100012"/>
                </a:lnTo>
                <a:lnTo>
                  <a:pt x="338138" y="116681"/>
                </a:lnTo>
                <a:lnTo>
                  <a:pt x="338138" y="128587"/>
                </a:lnTo>
                <a:lnTo>
                  <a:pt x="352425" y="328612"/>
                </a:lnTo>
                <a:lnTo>
                  <a:pt x="345281" y="350043"/>
                </a:lnTo>
                <a:lnTo>
                  <a:pt x="335756" y="369093"/>
                </a:lnTo>
                <a:lnTo>
                  <a:pt x="309563" y="397668"/>
                </a:lnTo>
                <a:lnTo>
                  <a:pt x="269081" y="426243"/>
                </a:lnTo>
                <a:lnTo>
                  <a:pt x="247650" y="435768"/>
                </a:lnTo>
                <a:lnTo>
                  <a:pt x="247650" y="435768"/>
                </a:lnTo>
                <a:lnTo>
                  <a:pt x="228600" y="454818"/>
                </a:lnTo>
                <a:lnTo>
                  <a:pt x="185738" y="490537"/>
                </a:lnTo>
                <a:lnTo>
                  <a:pt x="142875" y="452437"/>
                </a:lnTo>
                <a:lnTo>
                  <a:pt x="126206" y="440531"/>
                </a:lnTo>
                <a:lnTo>
                  <a:pt x="107156" y="431006"/>
                </a:lnTo>
                <a:lnTo>
                  <a:pt x="80963" y="416718"/>
                </a:lnTo>
                <a:lnTo>
                  <a:pt x="69056" y="404812"/>
                </a:lnTo>
                <a:lnTo>
                  <a:pt x="47625" y="392906"/>
                </a:lnTo>
                <a:lnTo>
                  <a:pt x="26194" y="354806"/>
                </a:lnTo>
                <a:lnTo>
                  <a:pt x="14288" y="330993"/>
                </a:lnTo>
                <a:lnTo>
                  <a:pt x="28575" y="119062"/>
                </a:lnTo>
                <a:lnTo>
                  <a:pt x="0" y="59531"/>
                </a:lnTo>
                <a:close/>
              </a:path>
            </a:pathLst>
          </a:custGeom>
          <a:solidFill>
            <a:srgbClr val="FFFFF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object 529">
            <a:extLst>
              <a:ext uri="{FF2B5EF4-FFF2-40B4-BE49-F238E27FC236}">
                <a16:creationId xmlns:a16="http://schemas.microsoft.com/office/drawing/2014/main" id="{26C33E8B-269D-9501-387E-B4969E7418B7}"/>
              </a:ext>
            </a:extLst>
          </p:cNvPr>
          <p:cNvPicPr/>
          <p:nvPr userDrawn="1"/>
        </p:nvPicPr>
        <p:blipFill>
          <a:blip r:embed="rId5" cstate="print">
            <a:clrChange>
              <a:clrFrom>
                <a:srgbClr val="006A00"/>
              </a:clrFrom>
              <a:clrTo>
                <a:srgbClr val="006A00">
                  <a:alpha val="0"/>
                </a:srgbClr>
              </a:clrTo>
            </a:clrChange>
          </a:blip>
          <a:stretch>
            <a:fillRect/>
          </a:stretch>
        </p:blipFill>
        <p:spPr>
          <a:xfrm>
            <a:off x="10943191" y="170286"/>
            <a:ext cx="431800" cy="521987"/>
          </a:xfrm>
          <a:prstGeom prst="rect">
            <a:avLst/>
          </a:prstGeom>
          <a:effectLst>
            <a:outerShdw blurRad="12700" dist="12700" dir="2700000" algn="tl" rotWithShape="0">
              <a:prstClr val="black">
                <a:alpha val="40000"/>
              </a:prstClr>
            </a:outerShdw>
          </a:effectLst>
        </p:spPr>
      </p:pic>
      <p:pic>
        <p:nvPicPr>
          <p:cNvPr id="6" name="Picture 5" descr="Logo, icon&#10;&#10;Description automatically generated">
            <a:extLst>
              <a:ext uri="{FF2B5EF4-FFF2-40B4-BE49-F238E27FC236}">
                <a16:creationId xmlns:a16="http://schemas.microsoft.com/office/drawing/2014/main" id="{6DEC6DC4-9132-36C6-66F5-9B91251A593E}"/>
              </a:ext>
            </a:extLst>
          </p:cNvPr>
          <p:cNvPicPr>
            <a:picLocks noChangeAspect="1"/>
          </p:cNvPicPr>
          <p:nvPr userDrawn="1"/>
        </p:nvPicPr>
        <p:blipFill>
          <a:blip r:embed="rId6">
            <a:alphaModFix amt="5000"/>
            <a:extLst>
              <a:ext uri="{28A0092B-C50C-407E-A947-70E740481C1C}">
                <a14:useLocalDpi xmlns:a14="http://schemas.microsoft.com/office/drawing/2010/main" val="0"/>
              </a:ext>
            </a:extLst>
          </a:blip>
          <a:stretch>
            <a:fillRect/>
          </a:stretch>
        </p:blipFill>
        <p:spPr>
          <a:xfrm>
            <a:off x="7566173" y="1117672"/>
            <a:ext cx="3893267" cy="5109913"/>
          </a:xfrm>
          <a:prstGeom prst="rect">
            <a:avLst/>
          </a:prstGeom>
        </p:spPr>
      </p:pic>
    </p:spTree>
    <p:extLst>
      <p:ext uri="{BB962C8B-B14F-4D97-AF65-F5344CB8AC3E}">
        <p14:creationId xmlns:p14="http://schemas.microsoft.com/office/powerpoint/2010/main" val="986241262"/>
      </p:ext>
    </p:extLst>
  </p:cSld>
  <p:clrMap bg1="lt1" tx1="dk1" bg2="lt2" tx2="dk2" accent1="accent1" accent2="accent2" accent3="accent3" accent4="accent4" accent5="accent5" accent6="accent6" hlink="hlink" folHlink="folHlink"/>
  <p:sldLayoutIdLst>
    <p:sldLayoutId id="2147483657" r:id="rId1"/>
    <p:sldLayoutId id="2147483658" r:id="rId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ABEB8A-C1B6-E98C-D759-C06A0D796ADD}"/>
              </a:ext>
            </a:extLst>
          </p:cNvPr>
          <p:cNvSpPr>
            <a:spLocks noGrp="1"/>
          </p:cNvSpPr>
          <p:nvPr>
            <p:ph type="ctrTitle"/>
          </p:nvPr>
        </p:nvSpPr>
        <p:spPr>
          <a:xfrm>
            <a:off x="2852057" y="3282190"/>
            <a:ext cx="9144000" cy="492443"/>
          </a:xfrm>
        </p:spPr>
        <p:txBody>
          <a:bodyPr lIns="91440" tIns="45720" rIns="91440" bIns="45720" anchor="b"/>
          <a:lstStyle/>
          <a:p>
            <a:pPr algn="ctr"/>
            <a:r>
              <a:rPr sz="2600" b="1"/>
              <a:t>ARMY DATA ORIENTATION</a:t>
            </a:r>
          </a:p>
          <a:p>
            <a:pPr algn="ctr"/>
            <a:r>
              <a:rPr sz="1700" b="0"/>
              <a:t>Day One Orientation for Data Practitioners</a:t>
            </a:r>
          </a:p>
        </p:txBody>
      </p:sp>
      <p:sp>
        <p:nvSpPr>
          <p:cNvPr id="3" name="hlSlideMaster.BlankHeader" descr="CLASSIFICATION: UNCLASSIFIED//REL TO CAN, NATO">
            <a:extLst>
              <a:ext uri="{FF2B5EF4-FFF2-40B4-BE49-F238E27FC236}">
                <a16:creationId xmlns:a16="http://schemas.microsoft.com/office/drawing/2014/main" id="{C5801854-AFF8-7AE9-DC62-35D4428B57A8}"/>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5" name="hlSlideMaster.BlankHeader" descr="CLASSIFICATION: UNCLASSIFIED//REL TO CAN, NATO">
            <a:extLst>
              <a:ext uri="{FF2B5EF4-FFF2-40B4-BE49-F238E27FC236}">
                <a16:creationId xmlns:a16="http://schemas.microsoft.com/office/drawing/2014/main" id="{68F99201-56F1-5846-F502-599B9469BE0C}"/>
              </a:ext>
            </a:extLst>
          </p:cNvPr>
          <p:cNvSpPr txBox="1"/>
          <p:nvPr/>
        </p:nvSpPr>
        <p:spPr>
          <a:xfrm>
            <a:off x="0" y="6630439"/>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4" name="TextBox 3">
            <a:extLst>
              <a:ext uri="{FF2B5EF4-FFF2-40B4-BE49-F238E27FC236}">
                <a16:creationId xmlns:a16="http://schemas.microsoft.com/office/drawing/2014/main" id="{53AE28D5-6DC8-3FF0-9D86-C9BA83809A87}"/>
              </a:ext>
            </a:extLst>
          </p:cNvPr>
          <p:cNvSpPr txBox="1"/>
          <p:nvPr/>
        </p:nvSpPr>
        <p:spPr>
          <a:xfrm>
            <a:off x="4805018" y="4405608"/>
            <a:ext cx="2581964" cy="261610"/>
          </a:xfrm>
          <a:prstGeom prst="rect">
            <a:avLst/>
          </a:prstGeom>
          <a:noFill/>
        </p:spPr>
        <p:txBody>
          <a:bodyPr wrap="square" rtlCol="0">
            <a:spAutoFit/>
          </a:bodyPr>
          <a:lstStyle/>
          <a:p>
            <a:pPr lvl="0" algn="ctr">
              <a:defRPr/>
            </a:pPr>
            <a:r>
              <a:rPr kumimoji="0" lang="en-US" altLang="en-US" sz="1100" b="0" i="0" u="none" strike="noStrike" kern="0" cap="none" spc="0" normalizeH="0" baseline="0" noProof="0" dirty="0">
                <a:ln>
                  <a:noFill/>
                </a:ln>
                <a:solidFill>
                  <a:srgbClr val="18335F"/>
                </a:solidFill>
                <a:effectLst/>
                <a:uLnTx/>
                <a:uFillTx/>
                <a:latin typeface="Arial" panose="020B0604020202020204" pitchFamily="34" charset="0"/>
                <a:cs typeface="Arial" panose="020B0604020202020204" pitchFamily="34" charset="0"/>
              </a:rPr>
              <a:t>UNCLASSIFIED</a:t>
            </a:r>
            <a:endParaRPr lang="en-US" sz="1100" b="1" dirty="0">
              <a:solidFill>
                <a:srgbClr val="7030A0"/>
              </a:solidFill>
              <a:latin typeface="Arial" panose="020B0604020202020204" pitchFamily="34" charset="0"/>
              <a:cs typeface="Arial" panose="020B0604020202020204" pitchFamily="34" charset="0"/>
            </a:endParaRPr>
          </a:p>
        </p:txBody>
      </p:sp>
      <p:sp>
        <p:nvSpPr>
          <p:cNvPr id="6" name="TextBox 5">
            <a:extLst>
              <a:ext uri="{FF2B5EF4-FFF2-40B4-BE49-F238E27FC236}">
                <a16:creationId xmlns:a16="http://schemas.microsoft.com/office/drawing/2014/main" id="{6BA33E84-4FF3-1460-B548-AC4726622AB9}"/>
              </a:ext>
            </a:extLst>
          </p:cNvPr>
          <p:cNvSpPr txBox="1"/>
          <p:nvPr/>
        </p:nvSpPr>
        <p:spPr>
          <a:xfrm>
            <a:off x="4065243" y="4867203"/>
            <a:ext cx="4061514" cy="338554"/>
          </a:xfrm>
          <a:prstGeom prst="rect">
            <a:avLst/>
          </a:prstGeom>
          <a:solidFill>
            <a:schemeClr val="bg1">
              <a:lumMod val="85000"/>
            </a:schemeClr>
          </a:solid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sz="1100">
                <a:solidFill>
                  <a:srgbClr val="17325C"/>
                </a:solidFill>
              </a:rPr>
              <a:t>USAREUR-AF C2DAO  |  Understanding Why You're Here — and Where the Army Is Going</a:t>
            </a:r>
          </a:p>
        </p:txBody>
      </p:sp>
    </p:spTree>
    <p:extLst>
      <p:ext uri="{BB962C8B-B14F-4D97-AF65-F5344CB8AC3E}">
        <p14:creationId xmlns:p14="http://schemas.microsoft.com/office/powerpoint/2010/main" val="2327521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FIRST PRINCIPLES</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640080"/>
            <a:ext cx="5884164" cy="25603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 y="658368"/>
            <a:ext cx="5774436" cy="219456"/>
          </a:xfrm>
          <a:prstGeom prst="rect">
            <a:avLst/>
          </a:prstGeom>
          <a:noFill/>
        </p:spPr>
        <p:txBody>
          <a:bodyPr wrap="none">
            <a:spAutoFit/>
          </a:bodyPr>
          <a:lstStyle/>
          <a:p>
            <a:pPr algn="l"/>
            <a:r>
              <a:rPr sz="900" b="1" i="0">
                <a:solidFill>
                  <a:srgbClr val="FFFFFF"/>
                </a:solidFill>
              </a:rPr>
              <a:t>WHY THE ARMY EXISTS</a:t>
            </a:r>
          </a:p>
        </p:txBody>
      </p:sp>
      <p:sp>
        <p:nvSpPr>
          <p:cNvPr id="11" name="Rectangle 10"/>
          <p:cNvSpPr/>
          <p:nvPr/>
        </p:nvSpPr>
        <p:spPr>
          <a:xfrm>
            <a:off x="137160" y="896112"/>
            <a:ext cx="5884164"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1" y="950976"/>
            <a:ext cx="5737859" cy="5358383"/>
          </a:xfrm>
          <a:prstGeom prst="rect">
            <a:avLst/>
          </a:prstGeom>
          <a:noFill/>
        </p:spPr>
        <p:txBody>
          <a:bodyPr wrap="square">
            <a:spAutoFit/>
          </a:bodyPr>
          <a:lstStyle/>
          <a:p>
            <a:pPr algn="l"/>
            <a:r>
              <a:rPr sz="850" b="0" i="0">
                <a:solidFill>
                  <a:srgbClr val="17325C"/>
                </a:solidFill>
              </a:rPr>
              <a:t>The Army exists to fight and win the Nation's wars by providing prompt, sustained land dominance across the full range of military operations.</a:t>
            </a:r>
          </a:p>
          <a:p>
            <a:pPr algn="l"/>
            <a:r>
              <a:rPr sz="850" b="0" i="0">
                <a:solidFill>
                  <a:srgbClr val="17325C"/>
                </a:solidFill>
              </a:rPr>
              <a:t/>
            </a:r>
          </a:p>
          <a:p>
            <a:pPr algn="l"/>
            <a:r>
              <a:rPr sz="850" b="0" i="0">
                <a:solidFill>
                  <a:srgbClr val="17325C"/>
                </a:solidFill>
              </a:rPr>
              <a:t>Everything the Army does serves this purpose:</a:t>
            </a:r>
          </a:p>
          <a:p>
            <a:pPr algn="l"/>
            <a:r>
              <a:rPr sz="850" b="0" i="0">
                <a:solidFill>
                  <a:srgbClr val="17325C"/>
                </a:solidFill>
              </a:rPr>
              <a:t/>
            </a:r>
          </a:p>
          <a:p>
            <a:pPr algn="l"/>
            <a:r>
              <a:rPr sz="850" b="0" i="0">
                <a:solidFill>
                  <a:srgbClr val="17325C"/>
                </a:solidFill>
              </a:rPr>
              <a:t>▸  Organize, train, and equip forces for combat</a:t>
            </a:r>
          </a:p>
          <a:p>
            <a:pPr algn="l"/>
            <a:r>
              <a:rPr sz="850" b="0" i="0">
                <a:solidFill>
                  <a:srgbClr val="17325C"/>
                </a:solidFill>
              </a:rPr>
              <a:t>▸  Deploy land forces anywhere in the world</a:t>
            </a:r>
          </a:p>
          <a:p>
            <a:pPr algn="l"/>
            <a:r>
              <a:rPr sz="850" b="0" i="0">
                <a:solidFill>
                  <a:srgbClr val="17325C"/>
                </a:solidFill>
              </a:rPr>
              <a:t>▸  Conduct sustained operations across all domains</a:t>
            </a:r>
          </a:p>
          <a:p>
            <a:pPr algn="l"/>
            <a:r>
              <a:rPr sz="850" b="0" i="0">
                <a:solidFill>
                  <a:srgbClr val="17325C"/>
                </a:solidFill>
              </a:rPr>
              <a:t>▸  Integrate with joint and multinational partners</a:t>
            </a:r>
          </a:p>
        </p:txBody>
      </p:sp>
      <p:sp>
        <p:nvSpPr>
          <p:cNvPr id="13" name="TextBox 12"/>
          <p:cNvSpPr txBox="1"/>
          <p:nvPr/>
        </p:nvSpPr>
        <p:spPr>
          <a:xfrm>
            <a:off x="210311" y="6309360"/>
            <a:ext cx="5774436" cy="201168"/>
          </a:xfrm>
          <a:prstGeom prst="rect">
            <a:avLst/>
          </a:prstGeom>
          <a:noFill/>
        </p:spPr>
        <p:txBody>
          <a:bodyPr wrap="square">
            <a:spAutoFit/>
          </a:bodyPr>
          <a:lstStyle/>
          <a:p>
            <a:pPr algn="l"/>
            <a:r>
              <a:rPr sz="750" b="0" i="1">
                <a:solidFill>
                  <a:srgbClr val="264D7E"/>
                </a:solidFill>
              </a:rPr>
              <a:t>Title 10, U.S. Code  ·  ADP 1</a:t>
            </a:r>
          </a:p>
        </p:txBody>
      </p:sp>
      <p:sp>
        <p:nvSpPr>
          <p:cNvPr id="14" name="Rectangle 13"/>
          <p:cNvSpPr/>
          <p:nvPr/>
        </p:nvSpPr>
        <p:spPr>
          <a:xfrm>
            <a:off x="6167628" y="640080"/>
            <a:ext cx="5884164" cy="256032"/>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22492" y="658368"/>
            <a:ext cx="5774436" cy="219456"/>
          </a:xfrm>
          <a:prstGeom prst="rect">
            <a:avLst/>
          </a:prstGeom>
          <a:noFill/>
        </p:spPr>
        <p:txBody>
          <a:bodyPr wrap="none">
            <a:spAutoFit/>
          </a:bodyPr>
          <a:lstStyle/>
          <a:p>
            <a:pPr algn="l"/>
            <a:r>
              <a:rPr sz="900" b="1" i="0">
                <a:solidFill>
                  <a:srgbClr val="FFFFFF"/>
                </a:solidFill>
              </a:rPr>
              <a:t>WHY A STAFF EXISTS</a:t>
            </a:r>
          </a:p>
        </p:txBody>
      </p:sp>
      <p:sp>
        <p:nvSpPr>
          <p:cNvPr id="16" name="Rectangle 15"/>
          <p:cNvSpPr/>
          <p:nvPr/>
        </p:nvSpPr>
        <p:spPr>
          <a:xfrm>
            <a:off x="6167628" y="896112"/>
            <a:ext cx="5884164" cy="5431536"/>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40780" y="950976"/>
            <a:ext cx="5737859" cy="5358383"/>
          </a:xfrm>
          <a:prstGeom prst="rect">
            <a:avLst/>
          </a:prstGeom>
          <a:noFill/>
        </p:spPr>
        <p:txBody>
          <a:bodyPr wrap="square">
            <a:spAutoFit/>
          </a:bodyPr>
          <a:lstStyle/>
          <a:p>
            <a:pPr algn="l"/>
            <a:r>
              <a:rPr sz="850" b="0" i="0">
                <a:solidFill>
                  <a:srgbClr val="17325C"/>
                </a:solidFill>
              </a:rPr>
              <a:t>A staff exists for one reason: to help the commander make and execute decisions.</a:t>
            </a:r>
          </a:p>
          <a:p>
            <a:pPr algn="l"/>
            <a:r>
              <a:rPr sz="850" b="0" i="0">
                <a:solidFill>
                  <a:srgbClr val="17325C"/>
                </a:solidFill>
              </a:rPr>
              <a:t/>
            </a:r>
          </a:p>
          <a:p>
            <a:pPr algn="l"/>
            <a:r>
              <a:rPr sz="850" b="0" i="0">
                <a:solidFill>
                  <a:srgbClr val="17325C"/>
                </a:solidFill>
              </a:rPr>
              <a:t>The staff does this by:</a:t>
            </a:r>
          </a:p>
          <a:p>
            <a:pPr algn="l"/>
            <a:r>
              <a:rPr sz="850" b="0" i="0">
                <a:solidFill>
                  <a:srgbClr val="17325C"/>
                </a:solidFill>
              </a:rPr>
              <a:t/>
            </a:r>
          </a:p>
          <a:p>
            <a:pPr algn="l"/>
            <a:r>
              <a:rPr sz="850" b="0" i="0">
                <a:solidFill>
                  <a:srgbClr val="17325C"/>
                </a:solidFill>
              </a:rPr>
              <a:t>▸  Collecting and analyzing information</a:t>
            </a:r>
          </a:p>
          <a:p>
            <a:pPr algn="l"/>
            <a:r>
              <a:rPr sz="850" b="0" i="0">
                <a:solidFill>
                  <a:srgbClr val="17325C"/>
                </a:solidFill>
              </a:rPr>
              <a:t>▸  Transforming data into understanding</a:t>
            </a:r>
          </a:p>
          <a:p>
            <a:pPr algn="l"/>
            <a:r>
              <a:rPr sz="850" b="0" i="0">
                <a:solidFill>
                  <a:srgbClr val="17325C"/>
                </a:solidFill>
              </a:rPr>
              <a:t>▸  Presenting options to the commander</a:t>
            </a:r>
          </a:p>
          <a:p>
            <a:pPr algn="l"/>
            <a:r>
              <a:rPr sz="850" b="0" i="0">
                <a:solidFill>
                  <a:srgbClr val="17325C"/>
                </a:solidFill>
              </a:rPr>
              <a:t>▸  Synchronizing execution of orders</a:t>
            </a:r>
          </a:p>
          <a:p>
            <a:pPr algn="l"/>
            <a:r>
              <a:rPr sz="850" b="0" i="0">
                <a:solidFill>
                  <a:srgbClr val="17325C"/>
                </a:solidFill>
              </a:rPr>
              <a:t>▸  Assessing whether operations achieve objectives</a:t>
            </a:r>
          </a:p>
        </p:txBody>
      </p:sp>
      <p:sp>
        <p:nvSpPr>
          <p:cNvPr id="18" name="TextBox 17"/>
          <p:cNvSpPr txBox="1"/>
          <p:nvPr/>
        </p:nvSpPr>
        <p:spPr>
          <a:xfrm>
            <a:off x="6240780" y="6309360"/>
            <a:ext cx="5774436" cy="201168"/>
          </a:xfrm>
          <a:prstGeom prst="rect">
            <a:avLst/>
          </a:prstGeom>
          <a:noFill/>
        </p:spPr>
        <p:txBody>
          <a:bodyPr wrap="square">
            <a:spAutoFit/>
          </a:bodyPr>
          <a:lstStyle/>
          <a:p>
            <a:pPr algn="l"/>
            <a:r>
              <a:rPr sz="800" b="1" i="1">
                <a:solidFill>
                  <a:srgbClr val="1A786E"/>
                </a:solidFill>
              </a:rPr>
              <a:t>Every role in the data space serves this chain.</a:t>
            </a:r>
          </a:p>
        </p:txBody>
      </p:sp>
      <p:sp>
        <p:nvSpPr>
          <p:cNvPr id="19" name="TextBox 18"/>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extLst>
      <p:ext uri="{BB962C8B-B14F-4D97-AF65-F5344CB8AC3E}">
        <p14:creationId xmlns:p14="http://schemas.microsoft.com/office/powerpoint/2010/main" val="229586251"/>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OPERATIONAL ENVIRONMENT</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1">
                <a:solidFill>
                  <a:srgbClr val="264D7E"/>
                </a:solidFill>
              </a:rPr>
              <a:t>ADP 3-13  —  Army forces understand their environment through three dimensions.</a:t>
            </a:r>
          </a:p>
        </p:txBody>
      </p:sp>
      <p:sp>
        <p:nvSpPr>
          <p:cNvPr id="10" name="Rectangle 9"/>
          <p:cNvSpPr/>
          <p:nvPr/>
        </p:nvSpPr>
        <p:spPr>
          <a:xfrm>
            <a:off x="137160" y="896112"/>
            <a:ext cx="3959352" cy="25603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 y="914400"/>
            <a:ext cx="3849624" cy="219456"/>
          </a:xfrm>
          <a:prstGeom prst="rect">
            <a:avLst/>
          </a:prstGeom>
          <a:noFill/>
        </p:spPr>
        <p:txBody>
          <a:bodyPr wrap="none">
            <a:spAutoFit/>
          </a:bodyPr>
          <a:lstStyle/>
          <a:p>
            <a:pPr algn="l"/>
            <a:r>
              <a:rPr sz="900" b="1" i="0">
                <a:solidFill>
                  <a:srgbClr val="FFFFFF"/>
                </a:solidFill>
              </a:rPr>
              <a:t>HUMAN DIMENSION</a:t>
            </a:r>
          </a:p>
        </p:txBody>
      </p:sp>
      <p:sp>
        <p:nvSpPr>
          <p:cNvPr id="12" name="Rectangle 11"/>
          <p:cNvSpPr/>
          <p:nvPr/>
        </p:nvSpPr>
        <p:spPr>
          <a:xfrm>
            <a:off x="137160" y="1152144"/>
            <a:ext cx="3959352" cy="47731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1" y="1207008"/>
            <a:ext cx="3813048" cy="4700016"/>
          </a:xfrm>
          <a:prstGeom prst="rect">
            <a:avLst/>
          </a:prstGeom>
          <a:noFill/>
        </p:spPr>
        <p:txBody>
          <a:bodyPr wrap="square">
            <a:spAutoFit/>
          </a:bodyPr>
          <a:lstStyle/>
          <a:p>
            <a:pPr algn="l"/>
            <a:r>
              <a:rPr sz="850" b="0" i="0">
                <a:solidFill>
                  <a:srgbClr val="17325C"/>
                </a:solidFill>
              </a:rPr>
              <a:t>People and the interaction between individuals and groups — how they understand, decide, generate will, and act.</a:t>
            </a:r>
          </a:p>
        </p:txBody>
      </p:sp>
      <p:sp>
        <p:nvSpPr>
          <p:cNvPr id="14" name="TextBox 13"/>
          <p:cNvSpPr txBox="1"/>
          <p:nvPr/>
        </p:nvSpPr>
        <p:spPr>
          <a:xfrm>
            <a:off x="210311" y="5705856"/>
            <a:ext cx="3813048" cy="201168"/>
          </a:xfrm>
          <a:prstGeom prst="rect">
            <a:avLst/>
          </a:prstGeom>
          <a:noFill/>
        </p:spPr>
        <p:txBody>
          <a:bodyPr wrap="square">
            <a:spAutoFit/>
          </a:bodyPr>
          <a:lstStyle/>
          <a:p>
            <a:pPr algn="l"/>
            <a:r>
              <a:rPr sz="750" b="0" i="1">
                <a:solidFill>
                  <a:srgbClr val="17325C"/>
                </a:solidFill>
              </a:rPr>
              <a:t>Values · Fear · Morale · Culture · Will to fight</a:t>
            </a:r>
          </a:p>
        </p:txBody>
      </p:sp>
      <p:sp>
        <p:nvSpPr>
          <p:cNvPr id="15" name="Rectangle 14"/>
          <p:cNvSpPr/>
          <p:nvPr/>
        </p:nvSpPr>
        <p:spPr>
          <a:xfrm>
            <a:off x="4114800" y="896112"/>
            <a:ext cx="3959352" cy="256032"/>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69663" y="914400"/>
            <a:ext cx="3849624" cy="219456"/>
          </a:xfrm>
          <a:prstGeom prst="rect">
            <a:avLst/>
          </a:prstGeom>
          <a:noFill/>
        </p:spPr>
        <p:txBody>
          <a:bodyPr wrap="none">
            <a:spAutoFit/>
          </a:bodyPr>
          <a:lstStyle/>
          <a:p>
            <a:pPr algn="l"/>
            <a:r>
              <a:rPr sz="900" b="1" i="0">
                <a:solidFill>
                  <a:srgbClr val="FFFFFF"/>
                </a:solidFill>
              </a:rPr>
              <a:t>INFORMATION DIMENSION</a:t>
            </a:r>
          </a:p>
        </p:txBody>
      </p:sp>
      <p:sp>
        <p:nvSpPr>
          <p:cNvPr id="17" name="Rectangle 16"/>
          <p:cNvSpPr/>
          <p:nvPr/>
        </p:nvSpPr>
        <p:spPr>
          <a:xfrm>
            <a:off x="4114800" y="1152144"/>
            <a:ext cx="3959352" cy="47731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187952" y="1207008"/>
            <a:ext cx="3813048" cy="4700016"/>
          </a:xfrm>
          <a:prstGeom prst="rect">
            <a:avLst/>
          </a:prstGeom>
          <a:noFill/>
        </p:spPr>
        <p:txBody>
          <a:bodyPr wrap="square">
            <a:spAutoFit/>
          </a:bodyPr>
          <a:lstStyle/>
          <a:p>
            <a:pPr algn="l"/>
            <a:r>
              <a:rPr sz="850" b="0" i="0">
                <a:solidFill>
                  <a:srgbClr val="17325C"/>
                </a:solidFill>
              </a:rPr>
              <a:t>The content and data that individuals, groups, and systems communicate and exchange — and the processes to do so.</a:t>
            </a:r>
          </a:p>
        </p:txBody>
      </p:sp>
      <p:sp>
        <p:nvSpPr>
          <p:cNvPr id="19" name="TextBox 18"/>
          <p:cNvSpPr txBox="1"/>
          <p:nvPr/>
        </p:nvSpPr>
        <p:spPr>
          <a:xfrm>
            <a:off x="4187952" y="5705856"/>
            <a:ext cx="3813048" cy="201168"/>
          </a:xfrm>
          <a:prstGeom prst="rect">
            <a:avLst/>
          </a:prstGeom>
          <a:noFill/>
        </p:spPr>
        <p:txBody>
          <a:bodyPr wrap="square">
            <a:spAutoFit/>
          </a:bodyPr>
          <a:lstStyle/>
          <a:p>
            <a:pPr algn="l"/>
            <a:r>
              <a:rPr sz="750" b="0" i="1">
                <a:solidFill>
                  <a:srgbClr val="1A786E"/>
                </a:solidFill>
              </a:rPr>
              <a:t>Data · Narratives · Intel · Comms · Networks</a:t>
            </a:r>
          </a:p>
        </p:txBody>
      </p:sp>
      <p:sp>
        <p:nvSpPr>
          <p:cNvPr id="20" name="Rectangle 19"/>
          <p:cNvSpPr/>
          <p:nvPr/>
        </p:nvSpPr>
        <p:spPr>
          <a:xfrm>
            <a:off x="8092440" y="896112"/>
            <a:ext cx="3959352" cy="256032"/>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47304" y="914400"/>
            <a:ext cx="3849624" cy="219456"/>
          </a:xfrm>
          <a:prstGeom prst="rect">
            <a:avLst/>
          </a:prstGeom>
          <a:noFill/>
        </p:spPr>
        <p:txBody>
          <a:bodyPr wrap="none">
            <a:spAutoFit/>
          </a:bodyPr>
          <a:lstStyle/>
          <a:p>
            <a:pPr algn="l"/>
            <a:r>
              <a:rPr sz="900" b="1" i="0">
                <a:solidFill>
                  <a:srgbClr val="FFFFFF"/>
                </a:solidFill>
              </a:rPr>
              <a:t>PHYSICAL DIMENSION</a:t>
            </a:r>
          </a:p>
        </p:txBody>
      </p:sp>
      <p:sp>
        <p:nvSpPr>
          <p:cNvPr id="22" name="Rectangle 21"/>
          <p:cNvSpPr/>
          <p:nvPr/>
        </p:nvSpPr>
        <p:spPr>
          <a:xfrm>
            <a:off x="8092440" y="1152144"/>
            <a:ext cx="3959352" cy="47731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165592" y="1207008"/>
            <a:ext cx="3813048" cy="4700016"/>
          </a:xfrm>
          <a:prstGeom prst="rect">
            <a:avLst/>
          </a:prstGeom>
          <a:noFill/>
        </p:spPr>
        <p:txBody>
          <a:bodyPr wrap="square">
            <a:spAutoFit/>
          </a:bodyPr>
          <a:lstStyle/>
          <a:p>
            <a:pPr algn="l"/>
            <a:r>
              <a:rPr sz="850" b="0" i="0">
                <a:solidFill>
                  <a:srgbClr val="17325C"/>
                </a:solidFill>
              </a:rPr>
              <a:t>The material characteristics and capabilities — both natural and manufactured — within the environment.</a:t>
            </a:r>
          </a:p>
        </p:txBody>
      </p:sp>
      <p:sp>
        <p:nvSpPr>
          <p:cNvPr id="24" name="TextBox 23"/>
          <p:cNvSpPr txBox="1"/>
          <p:nvPr/>
        </p:nvSpPr>
        <p:spPr>
          <a:xfrm>
            <a:off x="8165592" y="5705856"/>
            <a:ext cx="3813048" cy="201168"/>
          </a:xfrm>
          <a:prstGeom prst="rect">
            <a:avLst/>
          </a:prstGeom>
          <a:noFill/>
        </p:spPr>
        <p:txBody>
          <a:bodyPr wrap="square">
            <a:spAutoFit/>
          </a:bodyPr>
          <a:lstStyle/>
          <a:p>
            <a:pPr algn="l"/>
            <a:r>
              <a:rPr sz="750" b="0" i="1">
                <a:solidFill>
                  <a:srgbClr val="1A5CA8"/>
                </a:solidFill>
              </a:rPr>
              <a:t>Terrain · Weather · Weapons · Infrastructure</a:t>
            </a:r>
          </a:p>
        </p:txBody>
      </p:sp>
      <p:sp>
        <p:nvSpPr>
          <p:cNvPr id="25" name="Rectangle 24"/>
          <p:cNvSpPr/>
          <p:nvPr/>
        </p:nvSpPr>
        <p:spPr>
          <a:xfrm>
            <a:off x="137160" y="5980176"/>
            <a:ext cx="11914632" cy="64008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6888" y="6035040"/>
            <a:ext cx="11695176" cy="530352"/>
          </a:xfrm>
          <a:prstGeom prst="rect">
            <a:avLst/>
          </a:prstGeom>
          <a:noFill/>
        </p:spPr>
        <p:txBody>
          <a:bodyPr wrap="square">
            <a:spAutoFit/>
          </a:bodyPr>
          <a:lstStyle/>
          <a:p>
            <a:pPr algn="l"/>
            <a:r>
              <a:rPr sz="800" b="0" i="0">
                <a:solidFill>
                  <a:srgbClr val="FFFFFF"/>
                </a:solidFill>
              </a:rPr>
              <a:t>"Information is central to everything we do — it is the basis of intelligence, a fundamental element of command and control, and the foundation for communicating thoughts, opinions, and ideas."</a:t>
            </a:r>
          </a:p>
          <a:p>
            <a:pPr algn="l"/>
            <a:r>
              <a:rPr sz="800" b="0" i="0">
                <a:solidFill>
                  <a:srgbClr val="FFFFFF"/>
                </a:solidFill>
              </a:rPr>
              <a:t>ADP 3-13 Foreword  ·  Your work lives in the information dimension.</a:t>
            </a:r>
          </a:p>
        </p:txBody>
      </p:sp>
      <p:sp>
        <p:nvSpPr>
          <p:cNvPr id="27" name="TextBox 26"/>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DATA  ·  DECISIONS  ·  DOCTRINE</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1">
                <a:solidFill>
                  <a:srgbClr val="264D7E"/>
                </a:solidFill>
              </a:rPr>
              <a:t>ADP 3-13  —  The cognitive hierarchy: how raw signals become commander action.</a:t>
            </a:r>
          </a:p>
        </p:txBody>
      </p:sp>
      <p:sp>
        <p:nvSpPr>
          <p:cNvPr id="10" name="Rectangle 9"/>
          <p:cNvSpPr/>
          <p:nvPr/>
        </p:nvSpPr>
        <p:spPr>
          <a:xfrm>
            <a:off x="137160" y="932688"/>
            <a:ext cx="6195608" cy="6583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 y="932688"/>
            <a:ext cx="54864"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969264"/>
            <a:ext cx="6067592" cy="219456"/>
          </a:xfrm>
          <a:prstGeom prst="rect">
            <a:avLst/>
          </a:prstGeom>
          <a:noFill/>
        </p:spPr>
        <p:txBody>
          <a:bodyPr wrap="square">
            <a:spAutoFit/>
          </a:bodyPr>
          <a:lstStyle/>
          <a:p>
            <a:pPr algn="l"/>
            <a:r>
              <a:rPr sz="900" b="1" i="0">
                <a:solidFill>
                  <a:srgbClr val="17325C"/>
                </a:solidFill>
              </a:rPr>
              <a:t>DATA</a:t>
            </a:r>
          </a:p>
        </p:txBody>
      </p:sp>
      <p:sp>
        <p:nvSpPr>
          <p:cNvPr id="13" name="TextBox 12"/>
          <p:cNvSpPr txBox="1"/>
          <p:nvPr/>
        </p:nvSpPr>
        <p:spPr>
          <a:xfrm>
            <a:off x="228600" y="1188720"/>
            <a:ext cx="6067592" cy="365760"/>
          </a:xfrm>
          <a:prstGeom prst="rect">
            <a:avLst/>
          </a:prstGeom>
          <a:noFill/>
        </p:spPr>
        <p:txBody>
          <a:bodyPr wrap="square">
            <a:spAutoFit/>
          </a:bodyPr>
          <a:lstStyle/>
          <a:p>
            <a:pPr algn="l"/>
            <a:r>
              <a:rPr sz="800" b="0" i="0">
                <a:solidFill>
                  <a:srgbClr val="17325C"/>
                </a:solidFill>
              </a:rPr>
              <a:t>Any signal or observation from the environment.</a:t>
            </a:r>
          </a:p>
          <a:p>
            <a:pPr algn="l"/>
            <a:r>
              <a:rPr sz="800" b="0" i="0">
                <a:solidFill>
                  <a:srgbClr val="17325C"/>
                </a:solidFill>
              </a:rPr>
              <a:t>A radar sounding. A fuel report. A sensor reading.</a:t>
            </a:r>
          </a:p>
        </p:txBody>
      </p:sp>
      <p:sp>
        <p:nvSpPr>
          <p:cNvPr id="14" name="TextBox 13"/>
          <p:cNvSpPr txBox="1"/>
          <p:nvPr/>
        </p:nvSpPr>
        <p:spPr>
          <a:xfrm>
            <a:off x="3143524" y="1591056"/>
            <a:ext cx="182880" cy="146304"/>
          </a:xfrm>
          <a:prstGeom prst="rect">
            <a:avLst/>
          </a:prstGeom>
          <a:noFill/>
        </p:spPr>
        <p:txBody>
          <a:bodyPr wrap="square">
            <a:spAutoFit/>
          </a:bodyPr>
          <a:lstStyle/>
          <a:p>
            <a:pPr algn="ctr"/>
            <a:r>
              <a:rPr sz="1000" b="0" i="0">
                <a:solidFill>
                  <a:srgbClr val="264D7E"/>
                </a:solidFill>
              </a:rPr>
              <a:t>▼</a:t>
            </a:r>
          </a:p>
        </p:txBody>
      </p:sp>
      <p:sp>
        <p:nvSpPr>
          <p:cNvPr id="15" name="Rectangle 14"/>
          <p:cNvSpPr/>
          <p:nvPr/>
        </p:nvSpPr>
        <p:spPr>
          <a:xfrm>
            <a:off x="301751" y="1737360"/>
            <a:ext cx="6031016" cy="65836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1751" y="1737360"/>
            <a:ext cx="54864" cy="65836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93191" y="1773936"/>
            <a:ext cx="5903000" cy="219456"/>
          </a:xfrm>
          <a:prstGeom prst="rect">
            <a:avLst/>
          </a:prstGeom>
          <a:noFill/>
        </p:spPr>
        <p:txBody>
          <a:bodyPr wrap="square">
            <a:spAutoFit/>
          </a:bodyPr>
          <a:lstStyle/>
          <a:p>
            <a:pPr algn="l"/>
            <a:r>
              <a:rPr sz="900" b="1" i="0">
                <a:solidFill>
                  <a:srgbClr val="2A6E3F"/>
                </a:solidFill>
              </a:rPr>
              <a:t>INFORMATION</a:t>
            </a:r>
          </a:p>
        </p:txBody>
      </p:sp>
      <p:sp>
        <p:nvSpPr>
          <p:cNvPr id="18" name="TextBox 17"/>
          <p:cNvSpPr txBox="1"/>
          <p:nvPr/>
        </p:nvSpPr>
        <p:spPr>
          <a:xfrm>
            <a:off x="393191" y="1993391"/>
            <a:ext cx="5903000" cy="365760"/>
          </a:xfrm>
          <a:prstGeom prst="rect">
            <a:avLst/>
          </a:prstGeom>
          <a:noFill/>
        </p:spPr>
        <p:txBody>
          <a:bodyPr wrap="square">
            <a:spAutoFit/>
          </a:bodyPr>
          <a:lstStyle/>
          <a:p>
            <a:pPr algn="l"/>
            <a:r>
              <a:rPr sz="800" b="0" i="0">
                <a:solidFill>
                  <a:srgbClr val="17325C"/>
                </a:solidFill>
              </a:rPr>
              <a:t>Data placed in context — who sent it, what it</a:t>
            </a:r>
          </a:p>
          <a:p>
            <a:pPr algn="l"/>
            <a:r>
              <a:rPr sz="800" b="0" i="0">
                <a:solidFill>
                  <a:srgbClr val="17325C"/>
                </a:solidFill>
              </a:rPr>
              <a:t>means, and how it relates to the mission.</a:t>
            </a:r>
          </a:p>
        </p:txBody>
      </p:sp>
      <p:sp>
        <p:nvSpPr>
          <p:cNvPr id="19" name="TextBox 18"/>
          <p:cNvSpPr txBox="1"/>
          <p:nvPr/>
        </p:nvSpPr>
        <p:spPr>
          <a:xfrm>
            <a:off x="3143524" y="2395728"/>
            <a:ext cx="182880" cy="146304"/>
          </a:xfrm>
          <a:prstGeom prst="rect">
            <a:avLst/>
          </a:prstGeom>
          <a:noFill/>
        </p:spPr>
        <p:txBody>
          <a:bodyPr wrap="square">
            <a:spAutoFit/>
          </a:bodyPr>
          <a:lstStyle/>
          <a:p>
            <a:pPr algn="ctr"/>
            <a:r>
              <a:rPr sz="1000" b="0" i="0">
                <a:solidFill>
                  <a:srgbClr val="264D7E"/>
                </a:solidFill>
              </a:rPr>
              <a:t>▼</a:t>
            </a:r>
          </a:p>
        </p:txBody>
      </p:sp>
      <p:sp>
        <p:nvSpPr>
          <p:cNvPr id="20" name="Rectangle 19"/>
          <p:cNvSpPr/>
          <p:nvPr/>
        </p:nvSpPr>
        <p:spPr>
          <a:xfrm>
            <a:off x="466344" y="2542032"/>
            <a:ext cx="5866424" cy="658368"/>
          </a:xfrm>
          <a:prstGeom prst="rect">
            <a:avLst/>
          </a:prstGeom>
          <a:solidFill>
            <a:srgbClr val="D0E4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6344" y="2542032"/>
            <a:ext cx="54864" cy="658368"/>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7784" y="2578608"/>
            <a:ext cx="5738408" cy="219456"/>
          </a:xfrm>
          <a:prstGeom prst="rect">
            <a:avLst/>
          </a:prstGeom>
          <a:noFill/>
        </p:spPr>
        <p:txBody>
          <a:bodyPr wrap="square">
            <a:spAutoFit/>
          </a:bodyPr>
          <a:lstStyle/>
          <a:p>
            <a:pPr algn="l"/>
            <a:r>
              <a:rPr sz="900" b="1" i="0">
                <a:solidFill>
                  <a:srgbClr val="1A5CA8"/>
                </a:solidFill>
              </a:rPr>
              <a:t>KNOWLEDGE</a:t>
            </a:r>
          </a:p>
        </p:txBody>
      </p:sp>
      <p:sp>
        <p:nvSpPr>
          <p:cNvPr id="23" name="TextBox 22"/>
          <p:cNvSpPr txBox="1"/>
          <p:nvPr/>
        </p:nvSpPr>
        <p:spPr>
          <a:xfrm>
            <a:off x="557784" y="2798063"/>
            <a:ext cx="5738408" cy="365760"/>
          </a:xfrm>
          <a:prstGeom prst="rect">
            <a:avLst/>
          </a:prstGeom>
          <a:noFill/>
        </p:spPr>
        <p:txBody>
          <a:bodyPr wrap="square">
            <a:spAutoFit/>
          </a:bodyPr>
          <a:lstStyle/>
          <a:p>
            <a:pPr algn="l"/>
            <a:r>
              <a:rPr sz="800" b="0" i="0">
                <a:solidFill>
                  <a:srgbClr val="17325C"/>
                </a:solidFill>
              </a:rPr>
              <a:t>Analysis refines information. Patterns emerge.</a:t>
            </a:r>
          </a:p>
          <a:p>
            <a:pPr algn="l"/>
            <a:r>
              <a:rPr sz="800" b="0" i="0">
                <a:solidFill>
                  <a:srgbClr val="17325C"/>
                </a:solidFill>
              </a:rPr>
              <a:t>Relationships between data points connect.</a:t>
            </a:r>
          </a:p>
        </p:txBody>
      </p:sp>
      <p:sp>
        <p:nvSpPr>
          <p:cNvPr id="24" name="TextBox 23"/>
          <p:cNvSpPr txBox="1"/>
          <p:nvPr/>
        </p:nvSpPr>
        <p:spPr>
          <a:xfrm>
            <a:off x="3143524" y="3200400"/>
            <a:ext cx="182880" cy="146304"/>
          </a:xfrm>
          <a:prstGeom prst="rect">
            <a:avLst/>
          </a:prstGeom>
          <a:noFill/>
        </p:spPr>
        <p:txBody>
          <a:bodyPr wrap="square">
            <a:spAutoFit/>
          </a:bodyPr>
          <a:lstStyle/>
          <a:p>
            <a:pPr algn="ctr"/>
            <a:r>
              <a:rPr sz="1000" b="0" i="0">
                <a:solidFill>
                  <a:srgbClr val="264D7E"/>
                </a:solidFill>
              </a:rPr>
              <a:t>▼</a:t>
            </a:r>
          </a:p>
        </p:txBody>
      </p:sp>
      <p:sp>
        <p:nvSpPr>
          <p:cNvPr id="25" name="Rectangle 24"/>
          <p:cNvSpPr/>
          <p:nvPr/>
        </p:nvSpPr>
        <p:spPr>
          <a:xfrm>
            <a:off x="630936" y="3346703"/>
            <a:ext cx="5701832" cy="658368"/>
          </a:xfrm>
          <a:prstGeom prst="rect">
            <a:avLst/>
          </a:prstGeom>
          <a:solidFill>
            <a:srgbClr val="E8D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0936" y="3346703"/>
            <a:ext cx="54864" cy="658368"/>
          </a:xfrm>
          <a:prstGeom prst="rect">
            <a:avLst/>
          </a:prstGeom>
          <a:solidFill>
            <a:srgbClr val="6B32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2376" y="3383279"/>
            <a:ext cx="5573816" cy="219456"/>
          </a:xfrm>
          <a:prstGeom prst="rect">
            <a:avLst/>
          </a:prstGeom>
          <a:noFill/>
        </p:spPr>
        <p:txBody>
          <a:bodyPr wrap="square">
            <a:spAutoFit/>
          </a:bodyPr>
          <a:lstStyle/>
          <a:p>
            <a:pPr algn="l"/>
            <a:r>
              <a:rPr sz="900" b="1" i="0">
                <a:solidFill>
                  <a:srgbClr val="6B328A"/>
                </a:solidFill>
              </a:rPr>
              <a:t>UNDERSTANDING</a:t>
            </a:r>
          </a:p>
        </p:txBody>
      </p:sp>
      <p:sp>
        <p:nvSpPr>
          <p:cNvPr id="28" name="TextBox 27"/>
          <p:cNvSpPr txBox="1"/>
          <p:nvPr/>
        </p:nvSpPr>
        <p:spPr>
          <a:xfrm>
            <a:off x="722376" y="3602735"/>
            <a:ext cx="5573816" cy="365760"/>
          </a:xfrm>
          <a:prstGeom prst="rect">
            <a:avLst/>
          </a:prstGeom>
          <a:noFill/>
        </p:spPr>
        <p:txBody>
          <a:bodyPr wrap="square">
            <a:spAutoFit/>
          </a:bodyPr>
          <a:lstStyle/>
          <a:p>
            <a:pPr algn="l"/>
            <a:r>
              <a:rPr sz="800" b="0" i="0">
                <a:solidFill>
                  <a:srgbClr val="17325C"/>
                </a:solidFill>
              </a:rPr>
              <a:t>Judgment transforms knowledge into insight.</a:t>
            </a:r>
          </a:p>
          <a:p>
            <a:pPr algn="l"/>
            <a:r>
              <a:rPr sz="800" b="0" i="0">
                <a:solidFill>
                  <a:srgbClr val="17325C"/>
                </a:solidFill>
              </a:rPr>
              <a:t>The commander sees the whole picture.</a:t>
            </a:r>
          </a:p>
        </p:txBody>
      </p:sp>
      <p:sp>
        <p:nvSpPr>
          <p:cNvPr id="29" name="TextBox 28"/>
          <p:cNvSpPr txBox="1"/>
          <p:nvPr/>
        </p:nvSpPr>
        <p:spPr>
          <a:xfrm>
            <a:off x="3143524" y="4005072"/>
            <a:ext cx="182880" cy="146304"/>
          </a:xfrm>
          <a:prstGeom prst="rect">
            <a:avLst/>
          </a:prstGeom>
          <a:noFill/>
        </p:spPr>
        <p:txBody>
          <a:bodyPr wrap="square">
            <a:spAutoFit/>
          </a:bodyPr>
          <a:lstStyle/>
          <a:p>
            <a:pPr algn="ctr"/>
            <a:r>
              <a:rPr sz="1000" b="0" i="0">
                <a:solidFill>
                  <a:srgbClr val="264D7E"/>
                </a:solidFill>
              </a:rPr>
              <a:t>▼</a:t>
            </a:r>
          </a:p>
        </p:txBody>
      </p:sp>
      <p:sp>
        <p:nvSpPr>
          <p:cNvPr id="30" name="Rectangle 29"/>
          <p:cNvSpPr/>
          <p:nvPr/>
        </p:nvSpPr>
        <p:spPr>
          <a:xfrm>
            <a:off x="795528" y="4151376"/>
            <a:ext cx="5537240" cy="658368"/>
          </a:xfrm>
          <a:prstGeom prst="rect">
            <a:avLst/>
          </a:prstGeom>
          <a:solidFill>
            <a:srgbClr val="C8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95528" y="4151376"/>
            <a:ext cx="54864"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6968" y="4187952"/>
            <a:ext cx="5409224" cy="219456"/>
          </a:xfrm>
          <a:prstGeom prst="rect">
            <a:avLst/>
          </a:prstGeom>
          <a:noFill/>
        </p:spPr>
        <p:txBody>
          <a:bodyPr wrap="square">
            <a:spAutoFit/>
          </a:bodyPr>
          <a:lstStyle/>
          <a:p>
            <a:pPr algn="l"/>
            <a:r>
              <a:rPr sz="900" b="1" i="0">
                <a:solidFill>
                  <a:srgbClr val="17325C"/>
                </a:solidFill>
              </a:rPr>
              <a:t>DECISION → ACTION</a:t>
            </a:r>
          </a:p>
        </p:txBody>
      </p:sp>
      <p:sp>
        <p:nvSpPr>
          <p:cNvPr id="33" name="Rectangle 32"/>
          <p:cNvSpPr/>
          <p:nvPr/>
        </p:nvSpPr>
        <p:spPr>
          <a:xfrm>
            <a:off x="6515648" y="932688"/>
            <a:ext cx="5536143" cy="256032"/>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70512" y="950976"/>
            <a:ext cx="5426415" cy="219456"/>
          </a:xfrm>
          <a:prstGeom prst="rect">
            <a:avLst/>
          </a:prstGeom>
          <a:noFill/>
        </p:spPr>
        <p:txBody>
          <a:bodyPr wrap="none">
            <a:spAutoFit/>
          </a:bodyPr>
          <a:lstStyle/>
          <a:p>
            <a:pPr algn="l"/>
            <a:r>
              <a:rPr sz="900" b="1" i="0">
                <a:solidFill>
                  <a:srgbClr val="FFFFFF"/>
                </a:solidFill>
              </a:rPr>
              <a:t>YOUR ROLE IN THIS CHAIN</a:t>
            </a:r>
          </a:p>
        </p:txBody>
      </p:sp>
      <p:sp>
        <p:nvSpPr>
          <p:cNvPr id="35" name="Rectangle 34"/>
          <p:cNvSpPr/>
          <p:nvPr/>
        </p:nvSpPr>
        <p:spPr>
          <a:xfrm>
            <a:off x="6515648" y="1188720"/>
            <a:ext cx="5536143" cy="5193792"/>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588800" y="1243584"/>
            <a:ext cx="5389839" cy="5120640"/>
          </a:xfrm>
          <a:prstGeom prst="rect">
            <a:avLst/>
          </a:prstGeom>
          <a:noFill/>
        </p:spPr>
        <p:txBody>
          <a:bodyPr wrap="square">
            <a:spAutoFit/>
          </a:bodyPr>
          <a:lstStyle/>
          <a:p>
            <a:pPr algn="l"/>
            <a:r>
              <a:rPr sz="900" b="0" i="0">
                <a:solidFill>
                  <a:srgbClr val="17325C"/>
                </a:solidFill>
              </a:rPr>
              <a:t>As a data practitioner, you operate at the foundation of this hierarchy — and that is where the leverage is.</a:t>
            </a:r>
          </a:p>
          <a:p>
            <a:pPr algn="l"/>
            <a:r>
              <a:rPr sz="900" b="0" i="0">
                <a:solidFill>
                  <a:srgbClr val="17325C"/>
                </a:solidFill>
              </a:rPr>
              <a:t/>
            </a:r>
          </a:p>
          <a:p>
            <a:pPr algn="l"/>
            <a:r>
              <a:rPr sz="900" b="0" i="0">
                <a:solidFill>
                  <a:srgbClr val="17325C"/>
                </a:solidFill>
              </a:rPr>
              <a:t>If the data is wrong, every layer above it fails.</a:t>
            </a:r>
          </a:p>
          <a:p>
            <a:pPr algn="l"/>
            <a:r>
              <a:rPr sz="900" b="0" i="0">
                <a:solidFill>
                  <a:srgbClr val="17325C"/>
                </a:solidFill>
              </a:rPr>
              <a:t/>
            </a:r>
          </a:p>
          <a:p>
            <a:pPr algn="l"/>
            <a:r>
              <a:rPr sz="900" b="0" i="0">
                <a:solidFill>
                  <a:srgbClr val="17325C"/>
                </a:solidFill>
              </a:rPr>
              <a:t>If data is unavailable, the commander is blind.</a:t>
            </a:r>
          </a:p>
          <a:p>
            <a:pPr algn="l"/>
            <a:r>
              <a:rPr sz="900" b="0" i="0">
                <a:solidFill>
                  <a:srgbClr val="17325C"/>
                </a:solidFill>
              </a:rPr>
              <a:t/>
            </a:r>
          </a:p>
          <a:p>
            <a:pPr algn="l"/>
            <a:r>
              <a:rPr sz="900" b="0" i="0">
                <a:solidFill>
                  <a:srgbClr val="17325C"/>
                </a:solidFill>
              </a:rPr>
              <a:t>Foundry is the engine that transforms raw data into information and knowledge at enterprise scale.</a:t>
            </a:r>
          </a:p>
          <a:p>
            <a:pPr algn="l"/>
            <a:r>
              <a:rPr sz="900" b="0" i="0">
                <a:solidFill>
                  <a:srgbClr val="17325C"/>
                </a:solidFill>
              </a:rPr>
              <a:t/>
            </a:r>
          </a:p>
          <a:p>
            <a:pPr algn="l"/>
            <a:r>
              <a:rPr sz="900" b="0" i="0">
                <a:solidFill>
                  <a:srgbClr val="17325C"/>
                </a:solidFill>
              </a:rPr>
              <a:t>Your pipelines feed commander decisions.</a:t>
            </a:r>
          </a:p>
        </p:txBody>
      </p:sp>
      <p:sp>
        <p:nvSpPr>
          <p:cNvPr id="37" name="TextBox 36"/>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WHAT MAKES US DIFFERENT</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640080"/>
            <a:ext cx="5884164" cy="256032"/>
          </a:xfrm>
          <a:prstGeom prst="rect">
            <a:avLst/>
          </a:prstGeom>
          <a:solidFill>
            <a:srgbClr val="C8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2024" y="658368"/>
            <a:ext cx="5774436" cy="219456"/>
          </a:xfrm>
          <a:prstGeom prst="rect">
            <a:avLst/>
          </a:prstGeom>
          <a:noFill/>
        </p:spPr>
        <p:txBody>
          <a:bodyPr wrap="none">
            <a:spAutoFit/>
          </a:bodyPr>
          <a:lstStyle/>
          <a:p>
            <a:pPr algn="l"/>
            <a:r>
              <a:rPr sz="900" b="1" i="0">
                <a:solidFill>
                  <a:srgbClr val="17325C"/>
                </a:solidFill>
              </a:rPr>
              <a:t>THE RAT AND THE MAZE</a:t>
            </a:r>
          </a:p>
        </p:txBody>
      </p:sp>
      <p:sp>
        <p:nvSpPr>
          <p:cNvPr id="11" name="Rectangle 10"/>
          <p:cNvSpPr/>
          <p:nvPr/>
        </p:nvSpPr>
        <p:spPr>
          <a:xfrm>
            <a:off x="137160" y="896112"/>
            <a:ext cx="5884164" cy="46817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10311" y="950976"/>
            <a:ext cx="5737859" cy="4608576"/>
          </a:xfrm>
          <a:prstGeom prst="rect">
            <a:avLst/>
          </a:prstGeom>
          <a:noFill/>
        </p:spPr>
        <p:txBody>
          <a:bodyPr wrap="square">
            <a:spAutoFit/>
          </a:bodyPr>
          <a:lstStyle/>
          <a:p>
            <a:pPr algn="l"/>
            <a:r>
              <a:rPr sz="850" b="0" i="0">
                <a:solidFill>
                  <a:srgbClr val="17325C"/>
                </a:solidFill>
              </a:rPr>
              <a:t>You can teach a rat to run a maze. Through trial and error, it will eventually master the route.</a:t>
            </a:r>
          </a:p>
          <a:p>
            <a:pPr algn="l"/>
            <a:r>
              <a:rPr sz="850" b="0" i="0">
                <a:solidFill>
                  <a:srgbClr val="17325C"/>
                </a:solidFill>
              </a:rPr>
              <a:t/>
            </a:r>
          </a:p>
          <a:p>
            <a:pPr algn="l"/>
            <a:r>
              <a:rPr sz="850" b="0" i="0">
                <a:solidFill>
                  <a:srgbClr val="17325C"/>
                </a:solidFill>
              </a:rPr>
              <a:t>But that rat cannot pass its knowledge to the next rat.</a:t>
            </a:r>
          </a:p>
          <a:p>
            <a:pPr algn="l"/>
            <a:r>
              <a:rPr sz="850" b="0" i="0">
                <a:solidFill>
                  <a:srgbClr val="17325C"/>
                </a:solidFill>
              </a:rPr>
              <a:t/>
            </a:r>
          </a:p>
          <a:p>
            <a:pPr algn="l"/>
            <a:r>
              <a:rPr sz="850" b="0" i="0">
                <a:solidFill>
                  <a:srgbClr val="17325C"/>
                </a:solidFill>
              </a:rPr>
              <a:t>Every generation starts from zero.</a:t>
            </a:r>
          </a:p>
          <a:p>
            <a:pPr algn="l"/>
            <a:r>
              <a:rPr sz="850" b="0" i="0">
                <a:solidFill>
                  <a:srgbClr val="17325C"/>
                </a:solidFill>
              </a:rPr>
              <a:t/>
            </a:r>
          </a:p>
          <a:p>
            <a:pPr algn="l"/>
            <a:r>
              <a:rPr sz="850" b="0" i="0">
                <a:solidFill>
                  <a:srgbClr val="17325C"/>
                </a:solidFill>
              </a:rPr>
              <a:t>Humans are different. We codify experience.</a:t>
            </a:r>
          </a:p>
          <a:p>
            <a:pPr algn="l"/>
            <a:r>
              <a:rPr sz="850" b="0" i="0">
                <a:solidFill>
                  <a:srgbClr val="17325C"/>
                </a:solidFill>
              </a:rPr>
              <a:t>We write it down. We call it doctrine.</a:t>
            </a:r>
          </a:p>
        </p:txBody>
      </p:sp>
      <p:sp>
        <p:nvSpPr>
          <p:cNvPr id="13" name="Rectangle 12"/>
          <p:cNvSpPr/>
          <p:nvPr/>
        </p:nvSpPr>
        <p:spPr>
          <a:xfrm>
            <a:off x="6167628" y="640080"/>
            <a:ext cx="5884164" cy="25603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22492" y="658368"/>
            <a:ext cx="5774436" cy="219456"/>
          </a:xfrm>
          <a:prstGeom prst="rect">
            <a:avLst/>
          </a:prstGeom>
          <a:noFill/>
        </p:spPr>
        <p:txBody>
          <a:bodyPr wrap="none">
            <a:spAutoFit/>
          </a:bodyPr>
          <a:lstStyle/>
          <a:p>
            <a:pPr algn="l"/>
            <a:r>
              <a:rPr sz="900" b="1" i="0">
                <a:solidFill>
                  <a:srgbClr val="FFFFFF"/>
                </a:solidFill>
              </a:rPr>
              <a:t>WHAT IS DOCTRINE?</a:t>
            </a:r>
          </a:p>
        </p:txBody>
      </p:sp>
      <p:sp>
        <p:nvSpPr>
          <p:cNvPr id="15" name="Rectangle 14"/>
          <p:cNvSpPr/>
          <p:nvPr/>
        </p:nvSpPr>
        <p:spPr>
          <a:xfrm>
            <a:off x="6167628" y="896112"/>
            <a:ext cx="5884164" cy="46817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40780" y="950976"/>
            <a:ext cx="5737859" cy="4608576"/>
          </a:xfrm>
          <a:prstGeom prst="rect">
            <a:avLst/>
          </a:prstGeom>
          <a:noFill/>
        </p:spPr>
        <p:txBody>
          <a:bodyPr wrap="square">
            <a:spAutoFit/>
          </a:bodyPr>
          <a:lstStyle/>
          <a:p>
            <a:pPr algn="l"/>
            <a:r>
              <a:rPr sz="850" b="0" i="0">
                <a:solidFill>
                  <a:srgbClr val="17325C"/>
                </a:solidFill>
              </a:rPr>
              <a:t>Fundamental principles, with supporting tactics, techniques, procedures, and terms and symbols, used for the conduct of operations and as a guide for actions.</a:t>
            </a:r>
          </a:p>
          <a:p>
            <a:pPr algn="l"/>
            <a:r>
              <a:rPr sz="850" b="0" i="0">
                <a:solidFill>
                  <a:srgbClr val="17325C"/>
                </a:solidFill>
              </a:rPr>
              <a:t/>
            </a:r>
          </a:p>
          <a:p>
            <a:pPr algn="l"/>
            <a:r>
              <a:rPr sz="850" b="0" i="0">
                <a:solidFill>
                  <a:srgbClr val="17325C"/>
                </a:solidFill>
              </a:rPr>
              <a:t>It is authoritative but requires judgment in application.</a:t>
            </a:r>
          </a:p>
          <a:p>
            <a:pPr algn="l"/>
            <a:r>
              <a:rPr sz="850" b="0" i="0">
                <a:solidFill>
                  <a:srgbClr val="17325C"/>
                </a:solidFill>
              </a:rPr>
              <a:t/>
            </a:r>
          </a:p>
          <a:p>
            <a:pPr algn="l"/>
            <a:r>
              <a:rPr sz="850" b="0" i="0">
                <a:solidFill>
                  <a:srgbClr val="17325C"/>
                </a:solidFill>
              </a:rPr>
              <a:t>ADP 1-01  ·  Doctrine Primer</a:t>
            </a:r>
          </a:p>
        </p:txBody>
      </p:sp>
      <p:sp>
        <p:nvSpPr>
          <p:cNvPr id="17" name="Rectangle 16"/>
          <p:cNvSpPr/>
          <p:nvPr/>
        </p:nvSpPr>
        <p:spPr>
          <a:xfrm>
            <a:off x="137160" y="5650992"/>
            <a:ext cx="11914632" cy="82296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46888" y="5687568"/>
            <a:ext cx="201168" cy="201168"/>
          </a:xfrm>
          <a:prstGeom prst="rect">
            <a:avLst/>
          </a:prstGeom>
          <a:noFill/>
        </p:spPr>
        <p:txBody>
          <a:bodyPr wrap="square">
            <a:spAutoFit/>
          </a:bodyPr>
          <a:lstStyle/>
          <a:p>
            <a:pPr algn="l"/>
            <a:r>
              <a:rPr sz="1400" b="0" i="0">
                <a:solidFill>
                  <a:srgbClr val="C89A00"/>
                </a:solidFill>
              </a:rPr>
              <a:t>◉</a:t>
            </a:r>
          </a:p>
        </p:txBody>
      </p:sp>
      <p:sp>
        <p:nvSpPr>
          <p:cNvPr id="19" name="TextBox 18"/>
          <p:cNvSpPr txBox="1"/>
          <p:nvPr/>
        </p:nvSpPr>
        <p:spPr>
          <a:xfrm>
            <a:off x="466344" y="5687568"/>
            <a:ext cx="1097280" cy="201168"/>
          </a:xfrm>
          <a:prstGeom prst="rect">
            <a:avLst/>
          </a:prstGeom>
          <a:noFill/>
        </p:spPr>
        <p:txBody>
          <a:bodyPr wrap="square">
            <a:spAutoFit/>
          </a:bodyPr>
          <a:lstStyle/>
          <a:p>
            <a:pPr algn="l"/>
            <a:r>
              <a:rPr sz="900" b="1" i="0">
                <a:solidFill>
                  <a:srgbClr val="C89A00"/>
                </a:solidFill>
              </a:rPr>
              <a:t>THE ONLY CONSTANT</a:t>
            </a:r>
          </a:p>
        </p:txBody>
      </p:sp>
      <p:sp>
        <p:nvSpPr>
          <p:cNvPr id="20" name="TextBox 19"/>
          <p:cNvSpPr txBox="1"/>
          <p:nvPr/>
        </p:nvSpPr>
        <p:spPr>
          <a:xfrm>
            <a:off x="466344" y="5907024"/>
            <a:ext cx="11475719" cy="530352"/>
          </a:xfrm>
          <a:prstGeom prst="rect">
            <a:avLst/>
          </a:prstGeom>
          <a:noFill/>
        </p:spPr>
        <p:txBody>
          <a:bodyPr wrap="square">
            <a:spAutoFit/>
          </a:bodyPr>
          <a:lstStyle/>
          <a:p>
            <a:pPr algn="l"/>
            <a:r>
              <a:rPr sz="800" b="0" i="0">
                <a:solidFill>
                  <a:srgbClr val="FFFFFF"/>
                </a:solidFill>
              </a:rPr>
              <a:t>People rotate. Technology changes. Platforms evolve. The soldiers who sit in your seat 20 years from now will have different tools, different threats, and different missions. The only thing that connects you to them is doctrine — the accumulated, codified professional knowledge of an institution that has been learning since 1775.</a:t>
            </a:r>
          </a:p>
        </p:txBody>
      </p:sp>
      <p:sp>
        <p:nvSpPr>
          <p:cNvPr id="21" name="TextBox 20"/>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SO WHERE DOES DATA FIT?</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1005840"/>
            <a:ext cx="2937510" cy="73152"/>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7160" y="1078992"/>
            <a:ext cx="2937510" cy="19385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133856"/>
            <a:ext cx="2754629" cy="274320"/>
          </a:xfrm>
          <a:prstGeom prst="rect">
            <a:avLst/>
          </a:prstGeom>
          <a:noFill/>
        </p:spPr>
        <p:txBody>
          <a:bodyPr wrap="square">
            <a:spAutoFit/>
          </a:bodyPr>
          <a:lstStyle/>
          <a:p>
            <a:pPr algn="ctr"/>
            <a:r>
              <a:rPr sz="1000" b="1" i="0">
                <a:solidFill>
                  <a:srgbClr val="17325C"/>
                </a:solidFill>
              </a:rPr>
              <a:t>DOCTRINE</a:t>
            </a:r>
          </a:p>
        </p:txBody>
      </p:sp>
      <p:sp>
        <p:nvSpPr>
          <p:cNvPr id="12" name="TextBox 11"/>
          <p:cNvSpPr txBox="1"/>
          <p:nvPr/>
        </p:nvSpPr>
        <p:spPr>
          <a:xfrm>
            <a:off x="228600" y="1463040"/>
            <a:ext cx="2754629" cy="1444752"/>
          </a:xfrm>
          <a:prstGeom prst="rect">
            <a:avLst/>
          </a:prstGeom>
          <a:noFill/>
        </p:spPr>
        <p:txBody>
          <a:bodyPr wrap="square">
            <a:spAutoFit/>
          </a:bodyPr>
          <a:lstStyle/>
          <a:p>
            <a:pPr algn="ctr"/>
            <a:r>
              <a:rPr sz="900" b="0" i="0">
                <a:solidFill>
                  <a:srgbClr val="17325C"/>
                </a:solidFill>
              </a:rPr>
              <a:t>Defines what we need to know and do</a:t>
            </a:r>
          </a:p>
        </p:txBody>
      </p:sp>
      <p:sp>
        <p:nvSpPr>
          <p:cNvPr id="13" name="TextBox 12"/>
          <p:cNvSpPr txBox="1"/>
          <p:nvPr/>
        </p:nvSpPr>
        <p:spPr>
          <a:xfrm>
            <a:off x="3083813" y="1883664"/>
            <a:ext cx="73152" cy="256032"/>
          </a:xfrm>
          <a:prstGeom prst="rect">
            <a:avLst/>
          </a:prstGeom>
          <a:noFill/>
        </p:spPr>
        <p:txBody>
          <a:bodyPr wrap="square">
            <a:spAutoFit/>
          </a:bodyPr>
          <a:lstStyle/>
          <a:p>
            <a:pPr algn="ctr"/>
            <a:r>
              <a:rPr sz="1100" b="0" i="0">
                <a:solidFill>
                  <a:srgbClr val="264D7E"/>
                </a:solidFill>
              </a:rPr>
              <a:t>▶</a:t>
            </a:r>
          </a:p>
        </p:txBody>
      </p:sp>
      <p:sp>
        <p:nvSpPr>
          <p:cNvPr id="14" name="Rectangle 13"/>
          <p:cNvSpPr/>
          <p:nvPr/>
        </p:nvSpPr>
        <p:spPr>
          <a:xfrm>
            <a:off x="3129534" y="1005840"/>
            <a:ext cx="2937510" cy="73152"/>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129534" y="1078992"/>
            <a:ext cx="2937510" cy="19385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20974" y="1133856"/>
            <a:ext cx="2754629" cy="274320"/>
          </a:xfrm>
          <a:prstGeom prst="rect">
            <a:avLst/>
          </a:prstGeom>
          <a:noFill/>
        </p:spPr>
        <p:txBody>
          <a:bodyPr wrap="square">
            <a:spAutoFit/>
          </a:bodyPr>
          <a:lstStyle/>
          <a:p>
            <a:pPr algn="ctr"/>
            <a:r>
              <a:rPr sz="1000" b="1" i="0">
                <a:solidFill>
                  <a:srgbClr val="1A786E"/>
                </a:solidFill>
              </a:rPr>
              <a:t>ONTOLOGY</a:t>
            </a:r>
          </a:p>
        </p:txBody>
      </p:sp>
      <p:sp>
        <p:nvSpPr>
          <p:cNvPr id="17" name="TextBox 16"/>
          <p:cNvSpPr txBox="1"/>
          <p:nvPr/>
        </p:nvSpPr>
        <p:spPr>
          <a:xfrm>
            <a:off x="3220974" y="1463040"/>
            <a:ext cx="2754629" cy="1444752"/>
          </a:xfrm>
          <a:prstGeom prst="rect">
            <a:avLst/>
          </a:prstGeom>
          <a:noFill/>
        </p:spPr>
        <p:txBody>
          <a:bodyPr wrap="square">
            <a:spAutoFit/>
          </a:bodyPr>
          <a:lstStyle/>
          <a:p>
            <a:pPr algn="ctr"/>
            <a:r>
              <a:rPr sz="900" b="0" i="0">
                <a:solidFill>
                  <a:srgbClr val="17325C"/>
                </a:solidFill>
              </a:rPr>
              <a:t>Models the world as objects and relationships</a:t>
            </a:r>
          </a:p>
        </p:txBody>
      </p:sp>
      <p:sp>
        <p:nvSpPr>
          <p:cNvPr id="18" name="TextBox 17"/>
          <p:cNvSpPr txBox="1"/>
          <p:nvPr/>
        </p:nvSpPr>
        <p:spPr>
          <a:xfrm>
            <a:off x="6076188" y="1883664"/>
            <a:ext cx="73152" cy="256032"/>
          </a:xfrm>
          <a:prstGeom prst="rect">
            <a:avLst/>
          </a:prstGeom>
          <a:noFill/>
        </p:spPr>
        <p:txBody>
          <a:bodyPr wrap="square">
            <a:spAutoFit/>
          </a:bodyPr>
          <a:lstStyle/>
          <a:p>
            <a:pPr algn="ctr"/>
            <a:r>
              <a:rPr sz="1100" b="0" i="0">
                <a:solidFill>
                  <a:srgbClr val="264D7E"/>
                </a:solidFill>
              </a:rPr>
              <a:t>▶</a:t>
            </a:r>
          </a:p>
        </p:txBody>
      </p:sp>
      <p:sp>
        <p:nvSpPr>
          <p:cNvPr id="19" name="Rectangle 18"/>
          <p:cNvSpPr/>
          <p:nvPr/>
        </p:nvSpPr>
        <p:spPr>
          <a:xfrm>
            <a:off x="6121908" y="1005840"/>
            <a:ext cx="2937510" cy="73152"/>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21908" y="1078992"/>
            <a:ext cx="2937510" cy="19385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3348" y="1133856"/>
            <a:ext cx="2754629" cy="274320"/>
          </a:xfrm>
          <a:prstGeom prst="rect">
            <a:avLst/>
          </a:prstGeom>
          <a:noFill/>
        </p:spPr>
        <p:txBody>
          <a:bodyPr wrap="square">
            <a:spAutoFit/>
          </a:bodyPr>
          <a:lstStyle/>
          <a:p>
            <a:pPr algn="ctr"/>
            <a:r>
              <a:rPr sz="1000" b="1" i="0">
                <a:solidFill>
                  <a:srgbClr val="1A5CA8"/>
                </a:solidFill>
              </a:rPr>
              <a:t>DATA ARCHITECTURE</a:t>
            </a:r>
          </a:p>
        </p:txBody>
      </p:sp>
      <p:sp>
        <p:nvSpPr>
          <p:cNvPr id="22" name="TextBox 21"/>
          <p:cNvSpPr txBox="1"/>
          <p:nvPr/>
        </p:nvSpPr>
        <p:spPr>
          <a:xfrm>
            <a:off x="6213348" y="1463040"/>
            <a:ext cx="2754629" cy="1444752"/>
          </a:xfrm>
          <a:prstGeom prst="rect">
            <a:avLst/>
          </a:prstGeom>
          <a:noFill/>
        </p:spPr>
        <p:txBody>
          <a:bodyPr wrap="square">
            <a:spAutoFit/>
          </a:bodyPr>
          <a:lstStyle/>
          <a:p>
            <a:pPr algn="ctr"/>
            <a:r>
              <a:rPr sz="900" b="0" i="0">
                <a:solidFill>
                  <a:srgbClr val="17325C"/>
                </a:solidFill>
              </a:rPr>
              <a:t>Connects, cleans, and delivers enterprise data</a:t>
            </a:r>
          </a:p>
        </p:txBody>
      </p:sp>
      <p:sp>
        <p:nvSpPr>
          <p:cNvPr id="23" name="TextBox 22"/>
          <p:cNvSpPr txBox="1"/>
          <p:nvPr/>
        </p:nvSpPr>
        <p:spPr>
          <a:xfrm>
            <a:off x="9068562" y="1883664"/>
            <a:ext cx="73152" cy="256032"/>
          </a:xfrm>
          <a:prstGeom prst="rect">
            <a:avLst/>
          </a:prstGeom>
          <a:noFill/>
        </p:spPr>
        <p:txBody>
          <a:bodyPr wrap="square">
            <a:spAutoFit/>
          </a:bodyPr>
          <a:lstStyle/>
          <a:p>
            <a:pPr algn="ctr"/>
            <a:r>
              <a:rPr sz="1100" b="0" i="0">
                <a:solidFill>
                  <a:srgbClr val="264D7E"/>
                </a:solidFill>
              </a:rPr>
              <a:t>▶</a:t>
            </a:r>
          </a:p>
        </p:txBody>
      </p:sp>
      <p:sp>
        <p:nvSpPr>
          <p:cNvPr id="24" name="Rectangle 23"/>
          <p:cNvSpPr/>
          <p:nvPr/>
        </p:nvSpPr>
        <p:spPr>
          <a:xfrm>
            <a:off x="9114282" y="1005840"/>
            <a:ext cx="2937510" cy="73152"/>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14282" y="1078992"/>
            <a:ext cx="2937510" cy="193852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05722" y="1133856"/>
            <a:ext cx="2754629" cy="274320"/>
          </a:xfrm>
          <a:prstGeom prst="rect">
            <a:avLst/>
          </a:prstGeom>
          <a:noFill/>
        </p:spPr>
        <p:txBody>
          <a:bodyPr wrap="square">
            <a:spAutoFit/>
          </a:bodyPr>
          <a:lstStyle/>
          <a:p>
            <a:pPr algn="ctr"/>
            <a:r>
              <a:rPr sz="1000" b="1" i="0">
                <a:solidFill>
                  <a:srgbClr val="264D7E"/>
                </a:solidFill>
              </a:rPr>
              <a:t>DECISIONS</a:t>
            </a:r>
          </a:p>
        </p:txBody>
      </p:sp>
      <p:sp>
        <p:nvSpPr>
          <p:cNvPr id="27" name="TextBox 26"/>
          <p:cNvSpPr txBox="1"/>
          <p:nvPr/>
        </p:nvSpPr>
        <p:spPr>
          <a:xfrm>
            <a:off x="9205722" y="1463040"/>
            <a:ext cx="2754629" cy="1444752"/>
          </a:xfrm>
          <a:prstGeom prst="rect">
            <a:avLst/>
          </a:prstGeom>
          <a:noFill/>
        </p:spPr>
        <p:txBody>
          <a:bodyPr wrap="square">
            <a:spAutoFit/>
          </a:bodyPr>
          <a:lstStyle/>
          <a:p>
            <a:pPr algn="ctr"/>
            <a:r>
              <a:rPr sz="900" b="0" i="0">
                <a:solidFill>
                  <a:srgbClr val="17325C"/>
                </a:solidFill>
              </a:rPr>
              <a:t>Commanders act on trusted information</a:t>
            </a:r>
          </a:p>
        </p:txBody>
      </p:sp>
      <p:sp>
        <p:nvSpPr>
          <p:cNvPr id="28" name="Rectangle 27"/>
          <p:cNvSpPr/>
          <p:nvPr/>
        </p:nvSpPr>
        <p:spPr>
          <a:xfrm>
            <a:off x="137160" y="3346704"/>
            <a:ext cx="11914632"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7160" y="3456432"/>
            <a:ext cx="11914632" cy="274320"/>
          </a:xfrm>
          <a:prstGeom prst="rect">
            <a:avLst/>
          </a:prstGeom>
          <a:noFill/>
        </p:spPr>
        <p:txBody>
          <a:bodyPr wrap="square">
            <a:spAutoFit/>
          </a:bodyPr>
          <a:lstStyle/>
          <a:p>
            <a:pPr algn="ctr"/>
            <a:r>
              <a:rPr sz="1100" b="0" i="0">
                <a:solidFill>
                  <a:srgbClr val="17325C"/>
                </a:solidFill>
              </a:rPr>
              <a:t>Doctrine tells us what matters.  Data architecture makes it visible.  You are learning to build the bridge between them.</a:t>
            </a:r>
          </a:p>
        </p:txBody>
      </p:sp>
      <p:sp>
        <p:nvSpPr>
          <p:cNvPr id="30" name="TextBox 29"/>
          <p:cNvSpPr txBox="1"/>
          <p:nvPr/>
        </p:nvSpPr>
        <p:spPr>
          <a:xfrm>
            <a:off x="137160" y="3785616"/>
            <a:ext cx="11914632" cy="219456"/>
          </a:xfrm>
          <a:prstGeom prst="rect">
            <a:avLst/>
          </a:prstGeom>
          <a:noFill/>
        </p:spPr>
        <p:txBody>
          <a:bodyPr wrap="square">
            <a:spAutoFit/>
          </a:bodyPr>
          <a:lstStyle/>
          <a:p>
            <a:pPr algn="ctr"/>
            <a:r>
              <a:rPr sz="900" b="0" i="1">
                <a:solidFill>
                  <a:srgbClr val="264D7E"/>
                </a:solidFill>
              </a:rPr>
              <a:t>Next: The operational landscape you're walking into  →</a:t>
            </a:r>
          </a:p>
        </p:txBody>
      </p:sp>
      <p:sp>
        <p:nvSpPr>
          <p:cNvPr id="31" name="TextBox 30"/>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OPERATIONAL LANDSCAPE OF ARMY DATA</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914400"/>
            <a:ext cx="6195608" cy="1645920"/>
          </a:xfrm>
          <a:prstGeom prst="rect">
            <a:avLst/>
          </a:prstGeom>
          <a:noFill/>
        </p:spPr>
        <p:txBody>
          <a:bodyPr wrap="square">
            <a:spAutoFit/>
          </a:bodyPr>
          <a:lstStyle/>
          <a:p>
            <a:pPr algn="l"/>
            <a:r>
              <a:rPr sz="3600" b="1" i="0">
                <a:solidFill>
                  <a:srgbClr val="17325C"/>
                </a:solidFill>
              </a:rPr>
              <a:t>THE OPERATIONAL</a:t>
            </a:r>
          </a:p>
          <a:p>
            <a:pPr algn="l"/>
            <a:r>
              <a:rPr sz="3600" b="1" i="0">
                <a:solidFill>
                  <a:srgbClr val="17325C"/>
                </a:solidFill>
              </a:rPr>
              <a:t>LANDSCAPE OF</a:t>
            </a:r>
          </a:p>
          <a:p>
            <a:pPr algn="l"/>
            <a:r>
              <a:rPr sz="3600" b="1" i="0">
                <a:solidFill>
                  <a:srgbClr val="17325C"/>
                </a:solidFill>
              </a:rPr>
              <a:t>ARMY DATA</a:t>
            </a:r>
          </a:p>
        </p:txBody>
      </p:sp>
      <p:sp>
        <p:nvSpPr>
          <p:cNvPr id="10" name="Rectangle 9"/>
          <p:cNvSpPr/>
          <p:nvPr/>
        </p:nvSpPr>
        <p:spPr>
          <a:xfrm>
            <a:off x="137160" y="2743200"/>
            <a:ext cx="3717365" cy="36576"/>
          </a:xfrm>
          <a:prstGeom prst="rect">
            <a:avLst/>
          </a:prstGeom>
          <a:solidFill>
            <a:srgbClr val="C8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7160" y="2926080"/>
            <a:ext cx="6195608" cy="256032"/>
          </a:xfrm>
          <a:prstGeom prst="rect">
            <a:avLst/>
          </a:prstGeom>
          <a:noFill/>
        </p:spPr>
        <p:txBody>
          <a:bodyPr wrap="square">
            <a:spAutoFit/>
          </a:bodyPr>
          <a:lstStyle/>
          <a:p>
            <a:pPr algn="l"/>
            <a:r>
              <a:rPr sz="1100" b="0" i="1">
                <a:solidFill>
                  <a:srgbClr val="264D7E"/>
                </a:solidFill>
              </a:rPr>
              <a:t>Day One Orientation for Data Practitioners</a:t>
            </a:r>
          </a:p>
        </p:txBody>
      </p:sp>
      <p:sp>
        <p:nvSpPr>
          <p:cNvPr id="12" name="TextBox 11"/>
          <p:cNvSpPr txBox="1"/>
          <p:nvPr/>
        </p:nvSpPr>
        <p:spPr>
          <a:xfrm>
            <a:off x="137160" y="3236976"/>
            <a:ext cx="6195608" cy="256032"/>
          </a:xfrm>
          <a:prstGeom prst="rect">
            <a:avLst/>
          </a:prstGeom>
          <a:noFill/>
        </p:spPr>
        <p:txBody>
          <a:bodyPr wrap="square">
            <a:spAutoFit/>
          </a:bodyPr>
          <a:lstStyle/>
          <a:p>
            <a:pPr algn="l"/>
            <a:r>
              <a:rPr sz="1000" b="0" i="0">
                <a:solidFill>
                  <a:srgbClr val="17325C"/>
                </a:solidFill>
              </a:rPr>
              <a:t>Understanding Why You're Here — and Where the Army Is Going</a:t>
            </a:r>
          </a:p>
        </p:txBody>
      </p:sp>
      <p:sp>
        <p:nvSpPr>
          <p:cNvPr id="13" name="TextBox 12"/>
          <p:cNvSpPr txBox="1"/>
          <p:nvPr/>
        </p:nvSpPr>
        <p:spPr>
          <a:xfrm>
            <a:off x="137160" y="3657600"/>
            <a:ext cx="4956486" cy="182880"/>
          </a:xfrm>
          <a:prstGeom prst="rect">
            <a:avLst/>
          </a:prstGeom>
          <a:noFill/>
        </p:spPr>
        <p:txBody>
          <a:bodyPr wrap="square">
            <a:spAutoFit/>
          </a:bodyPr>
          <a:lstStyle/>
          <a:p>
            <a:pPr algn="l"/>
            <a:r>
              <a:rPr sz="750" b="0" i="1">
                <a:solidFill>
                  <a:srgbClr val="264D7E"/>
                </a:solidFill>
              </a:rPr>
              <a:t>Source: Army CIO Leo Garciga, AFCEA NOVA Army IT Day 2026</a:t>
            </a:r>
          </a:p>
        </p:txBody>
      </p:sp>
      <p:sp>
        <p:nvSpPr>
          <p:cNvPr id="14" name="Rectangle 13"/>
          <p:cNvSpPr/>
          <p:nvPr/>
        </p:nvSpPr>
        <p:spPr>
          <a:xfrm>
            <a:off x="6607088" y="640080"/>
            <a:ext cx="5444703" cy="2788920"/>
          </a:xfrm>
          <a:prstGeom prst="rect">
            <a:avLst/>
          </a:prstGeom>
          <a:solidFill>
            <a:srgbClr val="18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607088" y="640080"/>
            <a:ext cx="5444703" cy="54864"/>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698528" y="822959"/>
            <a:ext cx="5261823" cy="1533906"/>
          </a:xfrm>
          <a:prstGeom prst="rect">
            <a:avLst/>
          </a:prstGeom>
          <a:noFill/>
        </p:spPr>
        <p:txBody>
          <a:bodyPr wrap="none">
            <a:spAutoFit/>
          </a:bodyPr>
          <a:lstStyle/>
          <a:p>
            <a:pPr algn="ctr"/>
            <a:r>
              <a:rPr sz="6000" b="1" i="0">
                <a:solidFill>
                  <a:srgbClr val="2A6E3F"/>
                </a:solidFill>
              </a:rPr>
              <a:t>~800</a:t>
            </a:r>
          </a:p>
        </p:txBody>
      </p:sp>
      <p:sp>
        <p:nvSpPr>
          <p:cNvPr id="17" name="TextBox 16"/>
          <p:cNvSpPr txBox="1"/>
          <p:nvPr/>
        </p:nvSpPr>
        <p:spPr>
          <a:xfrm>
            <a:off x="6698528" y="2452878"/>
            <a:ext cx="5261823" cy="836675"/>
          </a:xfrm>
          <a:prstGeom prst="rect">
            <a:avLst/>
          </a:prstGeom>
          <a:noFill/>
        </p:spPr>
        <p:txBody>
          <a:bodyPr wrap="square">
            <a:spAutoFit/>
          </a:bodyPr>
          <a:lstStyle/>
          <a:p>
            <a:pPr algn="ctr"/>
            <a:r>
              <a:rPr sz="1000" b="0" i="0">
                <a:solidFill>
                  <a:srgbClr val="FFFFFF"/>
                </a:solidFill>
              </a:rPr>
              <a:t>legacy business systems</a:t>
            </a:r>
          </a:p>
          <a:p>
            <a:pPr algn="ctr"/>
            <a:r>
              <a:rPr sz="1000" b="0" i="0">
                <a:solidFill>
                  <a:srgbClr val="FFFFFF"/>
                </a:solidFill>
              </a:rPr>
              <a:t>are being consolidated</a:t>
            </a:r>
          </a:p>
        </p:txBody>
      </p:sp>
      <p:sp>
        <p:nvSpPr>
          <p:cNvPr id="18" name="Rectangle 17"/>
          <p:cNvSpPr/>
          <p:nvPr/>
        </p:nvSpPr>
        <p:spPr>
          <a:xfrm>
            <a:off x="6607088" y="3611880"/>
            <a:ext cx="5444703" cy="2788920"/>
          </a:xfrm>
          <a:prstGeom prst="rect">
            <a:avLst/>
          </a:prstGeom>
          <a:solidFill>
            <a:srgbClr val="1833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607088" y="3611880"/>
            <a:ext cx="5444703" cy="54864"/>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98528" y="3794760"/>
            <a:ext cx="5261823" cy="1533906"/>
          </a:xfrm>
          <a:prstGeom prst="rect">
            <a:avLst/>
          </a:prstGeom>
          <a:noFill/>
        </p:spPr>
        <p:txBody>
          <a:bodyPr wrap="none">
            <a:spAutoFit/>
          </a:bodyPr>
          <a:lstStyle/>
          <a:p>
            <a:pPr algn="ctr"/>
            <a:r>
              <a:rPr sz="6000" b="1" i="0">
                <a:solidFill>
                  <a:srgbClr val="2A6E3F"/>
                </a:solidFill>
              </a:rPr>
              <a:t>100</a:t>
            </a:r>
          </a:p>
        </p:txBody>
      </p:sp>
      <p:sp>
        <p:nvSpPr>
          <p:cNvPr id="21" name="TextBox 20"/>
          <p:cNvSpPr txBox="1"/>
          <p:nvPr/>
        </p:nvSpPr>
        <p:spPr>
          <a:xfrm>
            <a:off x="6698528" y="5424678"/>
            <a:ext cx="5261823" cy="836675"/>
          </a:xfrm>
          <a:prstGeom prst="rect">
            <a:avLst/>
          </a:prstGeom>
          <a:noFill/>
        </p:spPr>
        <p:txBody>
          <a:bodyPr wrap="square">
            <a:spAutoFit/>
          </a:bodyPr>
          <a:lstStyle/>
          <a:p>
            <a:pPr algn="ctr"/>
            <a:r>
              <a:rPr sz="1000" b="0" i="0">
                <a:solidFill>
                  <a:srgbClr val="FFFFFF"/>
                </a:solidFill>
              </a:rPr>
              <a:t>killed in two quarters</a:t>
            </a:r>
          </a:p>
        </p:txBody>
      </p:sp>
      <p:sp>
        <p:nvSpPr>
          <p:cNvPr id="22" name="TextBox 21"/>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PROBLEM: LEGACY SYSTEM SPRAWL</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1">
                <a:solidFill>
                  <a:srgbClr val="BD2E2E"/>
                </a:solidFill>
              </a:rPr>
              <a:t>Army CIO Leo Garciga called legacy business systems the "Achilles heel of every enterprise."</a:t>
            </a:r>
          </a:p>
        </p:txBody>
      </p:sp>
      <p:sp>
        <p:nvSpPr>
          <p:cNvPr id="10" name="Rectangle 9"/>
          <p:cNvSpPr/>
          <p:nvPr/>
        </p:nvSpPr>
        <p:spPr>
          <a:xfrm>
            <a:off x="137160" y="914400"/>
            <a:ext cx="3959352" cy="54864"/>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 y="969264"/>
            <a:ext cx="3959352" cy="14630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042415"/>
            <a:ext cx="3776472" cy="822960"/>
          </a:xfrm>
          <a:prstGeom prst="rect">
            <a:avLst/>
          </a:prstGeom>
          <a:noFill/>
        </p:spPr>
        <p:txBody>
          <a:bodyPr wrap="none">
            <a:spAutoFit/>
          </a:bodyPr>
          <a:lstStyle/>
          <a:p>
            <a:pPr algn="ctr"/>
            <a:r>
              <a:rPr sz="5200" b="1" i="0">
                <a:solidFill>
                  <a:srgbClr val="BD2E2E"/>
                </a:solidFill>
              </a:rPr>
              <a:t>42</a:t>
            </a:r>
          </a:p>
        </p:txBody>
      </p:sp>
      <p:sp>
        <p:nvSpPr>
          <p:cNvPr id="13" name="TextBox 12"/>
          <p:cNvSpPr txBox="1"/>
          <p:nvPr/>
        </p:nvSpPr>
        <p:spPr>
          <a:xfrm>
            <a:off x="228600" y="1883664"/>
            <a:ext cx="3776472" cy="475488"/>
          </a:xfrm>
          <a:prstGeom prst="rect">
            <a:avLst/>
          </a:prstGeom>
          <a:noFill/>
        </p:spPr>
        <p:txBody>
          <a:bodyPr wrap="square">
            <a:spAutoFit/>
          </a:bodyPr>
          <a:lstStyle/>
          <a:p>
            <a:pPr algn="ctr"/>
            <a:r>
              <a:rPr sz="950" b="0" i="0">
                <a:solidFill>
                  <a:srgbClr val="17325C"/>
                </a:solidFill>
              </a:rPr>
              <a:t>Training &amp;</a:t>
            </a:r>
          </a:p>
          <a:p>
            <a:pPr algn="ctr"/>
            <a:r>
              <a:rPr sz="950" b="0" i="0">
                <a:solidFill>
                  <a:srgbClr val="17325C"/>
                </a:solidFill>
              </a:rPr>
              <a:t>Readiness Systems</a:t>
            </a:r>
          </a:p>
        </p:txBody>
      </p:sp>
      <p:sp>
        <p:nvSpPr>
          <p:cNvPr id="14" name="Rectangle 13"/>
          <p:cNvSpPr/>
          <p:nvPr/>
        </p:nvSpPr>
        <p:spPr>
          <a:xfrm>
            <a:off x="4114800" y="914400"/>
            <a:ext cx="3959352" cy="54864"/>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114800" y="969264"/>
            <a:ext cx="3959352" cy="14630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206240" y="1042415"/>
            <a:ext cx="3776472" cy="822960"/>
          </a:xfrm>
          <a:prstGeom prst="rect">
            <a:avLst/>
          </a:prstGeom>
          <a:noFill/>
        </p:spPr>
        <p:txBody>
          <a:bodyPr wrap="none">
            <a:spAutoFit/>
          </a:bodyPr>
          <a:lstStyle/>
          <a:p>
            <a:pPr algn="ctr"/>
            <a:r>
              <a:rPr sz="5200" b="1" i="0">
                <a:solidFill>
                  <a:srgbClr val="BD2E2E"/>
                </a:solidFill>
              </a:rPr>
              <a:t>58</a:t>
            </a:r>
          </a:p>
        </p:txBody>
      </p:sp>
      <p:sp>
        <p:nvSpPr>
          <p:cNvPr id="17" name="TextBox 16"/>
          <p:cNvSpPr txBox="1"/>
          <p:nvPr/>
        </p:nvSpPr>
        <p:spPr>
          <a:xfrm>
            <a:off x="4206240" y="1883664"/>
            <a:ext cx="3776472" cy="475488"/>
          </a:xfrm>
          <a:prstGeom prst="rect">
            <a:avLst/>
          </a:prstGeom>
          <a:noFill/>
        </p:spPr>
        <p:txBody>
          <a:bodyPr wrap="square">
            <a:spAutoFit/>
          </a:bodyPr>
          <a:lstStyle/>
          <a:p>
            <a:pPr algn="ctr"/>
            <a:r>
              <a:rPr sz="950" b="0" i="0">
                <a:solidFill>
                  <a:srgbClr val="17325C"/>
                </a:solidFill>
              </a:rPr>
              <a:t>HR Management</a:t>
            </a:r>
          </a:p>
          <a:p>
            <a:pPr algn="ctr"/>
            <a:r>
              <a:rPr sz="950" b="0" i="0">
                <a:solidFill>
                  <a:srgbClr val="17325C"/>
                </a:solidFill>
              </a:rPr>
              <a:t>Systems</a:t>
            </a:r>
          </a:p>
        </p:txBody>
      </p:sp>
      <p:sp>
        <p:nvSpPr>
          <p:cNvPr id="18" name="Rectangle 17"/>
          <p:cNvSpPr/>
          <p:nvPr/>
        </p:nvSpPr>
        <p:spPr>
          <a:xfrm>
            <a:off x="8092440" y="914400"/>
            <a:ext cx="3959352" cy="54864"/>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969264"/>
            <a:ext cx="3959352" cy="146304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83879" y="1042415"/>
            <a:ext cx="3776472" cy="822960"/>
          </a:xfrm>
          <a:prstGeom prst="rect">
            <a:avLst/>
          </a:prstGeom>
          <a:noFill/>
        </p:spPr>
        <p:txBody>
          <a:bodyPr wrap="none">
            <a:spAutoFit/>
          </a:bodyPr>
          <a:lstStyle/>
          <a:p>
            <a:pPr algn="ctr"/>
            <a:r>
              <a:rPr sz="5200" b="1" i="0">
                <a:solidFill>
                  <a:srgbClr val="BD2E2E"/>
                </a:solidFill>
              </a:rPr>
              <a:t>75</a:t>
            </a:r>
          </a:p>
        </p:txBody>
      </p:sp>
      <p:sp>
        <p:nvSpPr>
          <p:cNvPr id="21" name="TextBox 20"/>
          <p:cNvSpPr txBox="1"/>
          <p:nvPr/>
        </p:nvSpPr>
        <p:spPr>
          <a:xfrm>
            <a:off x="8183879" y="1883664"/>
            <a:ext cx="3776472" cy="475488"/>
          </a:xfrm>
          <a:prstGeom prst="rect">
            <a:avLst/>
          </a:prstGeom>
          <a:noFill/>
        </p:spPr>
        <p:txBody>
          <a:bodyPr wrap="square">
            <a:spAutoFit/>
          </a:bodyPr>
          <a:lstStyle/>
          <a:p>
            <a:pPr algn="ctr"/>
            <a:r>
              <a:rPr sz="950" b="0" i="0">
                <a:solidFill>
                  <a:srgbClr val="17325C"/>
                </a:solidFill>
              </a:rPr>
              <a:t>Logistics</a:t>
            </a:r>
          </a:p>
          <a:p>
            <a:pPr algn="ctr"/>
            <a:r>
              <a:rPr sz="950" b="0" i="0">
                <a:solidFill>
                  <a:srgbClr val="17325C"/>
                </a:solidFill>
              </a:rPr>
              <a:t>Systems</a:t>
            </a:r>
          </a:p>
        </p:txBody>
      </p:sp>
      <p:sp>
        <p:nvSpPr>
          <p:cNvPr id="22" name="Rectangle 21"/>
          <p:cNvSpPr/>
          <p:nvPr/>
        </p:nvSpPr>
        <p:spPr>
          <a:xfrm>
            <a:off x="137160" y="2615184"/>
            <a:ext cx="11914632" cy="256032"/>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2024" y="2633472"/>
            <a:ext cx="11804904" cy="219456"/>
          </a:xfrm>
          <a:prstGeom prst="rect">
            <a:avLst/>
          </a:prstGeom>
          <a:noFill/>
        </p:spPr>
        <p:txBody>
          <a:bodyPr wrap="none">
            <a:spAutoFit/>
          </a:bodyPr>
          <a:lstStyle/>
          <a:p>
            <a:pPr algn="l"/>
            <a:r>
              <a:rPr sz="900" b="1" i="0">
                <a:solidFill>
                  <a:srgbClr val="FFFFFF"/>
                </a:solidFill>
              </a:rPr>
              <a:t>WHAT THIS LOOKED LIKE IN PRACTICE</a:t>
            </a:r>
          </a:p>
        </p:txBody>
      </p:sp>
      <p:sp>
        <p:nvSpPr>
          <p:cNvPr id="24" name="Rectangle 23"/>
          <p:cNvSpPr/>
          <p:nvPr/>
        </p:nvSpPr>
        <p:spPr>
          <a:xfrm>
            <a:off x="137160" y="2871216"/>
            <a:ext cx="11914632" cy="3511295"/>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10311" y="2926080"/>
            <a:ext cx="11768328" cy="3438143"/>
          </a:xfrm>
          <a:prstGeom prst="rect">
            <a:avLst/>
          </a:prstGeom>
          <a:noFill/>
        </p:spPr>
        <p:txBody>
          <a:bodyPr wrap="square">
            <a:spAutoFit/>
          </a:bodyPr>
          <a:lstStyle/>
          <a:p>
            <a:pPr algn="l"/>
            <a:r>
              <a:rPr sz="950" b="0" i="0">
                <a:solidFill>
                  <a:srgbClr val="17325C"/>
                </a:solidFill>
              </a:rPr>
              <a:t>▸  Every functional area built its own custom software</a:t>
            </a:r>
          </a:p>
          <a:p>
            <a:pPr algn="l"/>
            <a:r>
              <a:rPr sz="950" b="0" i="0">
                <a:solidFill>
                  <a:srgbClr val="17325C"/>
                </a:solidFill>
              </a:rPr>
              <a:t>▸  Customized process after customized process — many never used again</a:t>
            </a:r>
          </a:p>
          <a:p>
            <a:pPr algn="l"/>
            <a:r>
              <a:rPr sz="950" b="0" i="0">
                <a:solidFill>
                  <a:srgbClr val="17325C"/>
                </a:solidFill>
              </a:rPr>
              <a:t>▸  No shared data layer — systems couldn't talk to each other</a:t>
            </a:r>
          </a:p>
          <a:p>
            <a:pPr algn="l"/>
            <a:r>
              <a:rPr sz="950" b="0" i="0">
                <a:solidFill>
                  <a:srgbClr val="17325C"/>
                </a:solidFill>
              </a:rPr>
              <a:t>▸  Result: massive duplication, zero interoperability, enormous cost</a:t>
            </a:r>
          </a:p>
        </p:txBody>
      </p:sp>
      <p:sp>
        <p:nvSpPr>
          <p:cNvPr id="26" name="TextBox 25"/>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THE ARMY'S RESPONSE: CONSOLIDATE OR DIE</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0">
                <a:solidFill>
                  <a:srgbClr val="264D7E"/>
                </a:solidFill>
              </a:rPr>
              <a:t>The largest enterprise consolidation push the Army has ever attempted.</a:t>
            </a:r>
          </a:p>
        </p:txBody>
      </p:sp>
      <p:sp>
        <p:nvSpPr>
          <p:cNvPr id="10" name="Rectangle 9"/>
          <p:cNvSpPr/>
          <p:nvPr/>
        </p:nvSpPr>
        <p:spPr>
          <a:xfrm>
            <a:off x="137160" y="896112"/>
            <a:ext cx="5820155" cy="256032"/>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92024" y="914400"/>
            <a:ext cx="5710427" cy="219456"/>
          </a:xfrm>
          <a:prstGeom prst="rect">
            <a:avLst/>
          </a:prstGeom>
          <a:noFill/>
        </p:spPr>
        <p:txBody>
          <a:bodyPr wrap="none">
            <a:spAutoFit/>
          </a:bodyPr>
          <a:lstStyle/>
          <a:p>
            <a:pPr algn="l"/>
            <a:r>
              <a:rPr sz="900" b="1" i="0">
                <a:solidFill>
                  <a:srgbClr val="FFFFFF"/>
                </a:solidFill>
              </a:rPr>
              <a:t>THE OLD MODEL</a:t>
            </a:r>
          </a:p>
        </p:txBody>
      </p:sp>
      <p:sp>
        <p:nvSpPr>
          <p:cNvPr id="12" name="Rectangle 11"/>
          <p:cNvSpPr/>
          <p:nvPr/>
        </p:nvSpPr>
        <p:spPr>
          <a:xfrm>
            <a:off x="137160" y="1152144"/>
            <a:ext cx="5820155" cy="49377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0311" y="1207008"/>
            <a:ext cx="5673851" cy="4864608"/>
          </a:xfrm>
          <a:prstGeom prst="rect">
            <a:avLst/>
          </a:prstGeom>
          <a:noFill/>
        </p:spPr>
        <p:txBody>
          <a:bodyPr wrap="square">
            <a:spAutoFit/>
          </a:bodyPr>
          <a:lstStyle/>
          <a:p>
            <a:pPr algn="l"/>
            <a:r>
              <a:rPr sz="950" b="0" i="0">
                <a:solidFill>
                  <a:srgbClr val="17325C"/>
                </a:solidFill>
              </a:rPr>
              <a:t>▸  ~800 separate business systems</a:t>
            </a:r>
          </a:p>
          <a:p>
            <a:pPr algn="l"/>
            <a:r>
              <a:rPr sz="950" b="0" i="0">
                <a:solidFill>
                  <a:srgbClr val="17325C"/>
                </a:solidFill>
              </a:rPr>
              <a:t>▸  Custom-built for each functional area</a:t>
            </a:r>
          </a:p>
          <a:p>
            <a:pPr algn="l"/>
            <a:r>
              <a:rPr sz="950" b="0" i="0">
                <a:solidFill>
                  <a:srgbClr val="17325C"/>
                </a:solidFill>
              </a:rPr>
              <a:t>▸  Maintained forever by dedicated teams</a:t>
            </a:r>
          </a:p>
          <a:p>
            <a:pPr algn="l"/>
            <a:r>
              <a:rPr sz="950" b="0" i="0">
                <a:solidFill>
                  <a:srgbClr val="17325C"/>
                </a:solidFill>
              </a:rPr>
              <a:t>▸  Data locked in silos</a:t>
            </a:r>
          </a:p>
          <a:p>
            <a:pPr algn="l"/>
            <a:r>
              <a:rPr sz="950" b="0" i="0">
                <a:solidFill>
                  <a:srgbClr val="17325C"/>
                </a:solidFill>
              </a:rPr>
              <a:t>▸  Years to deliver a new capability</a:t>
            </a:r>
          </a:p>
        </p:txBody>
      </p:sp>
      <p:sp>
        <p:nvSpPr>
          <p:cNvPr id="14" name="TextBox 13"/>
          <p:cNvSpPr txBox="1"/>
          <p:nvPr/>
        </p:nvSpPr>
        <p:spPr>
          <a:xfrm>
            <a:off x="5984748" y="3337560"/>
            <a:ext cx="256032" cy="457200"/>
          </a:xfrm>
          <a:prstGeom prst="rect">
            <a:avLst/>
          </a:prstGeom>
          <a:noFill/>
        </p:spPr>
        <p:txBody>
          <a:bodyPr wrap="square">
            <a:spAutoFit/>
          </a:bodyPr>
          <a:lstStyle/>
          <a:p>
            <a:pPr algn="ctr"/>
            <a:r>
              <a:rPr sz="3600" b="1" i="0">
                <a:solidFill>
                  <a:srgbClr val="17325C"/>
                </a:solidFill>
              </a:rPr>
              <a:t>→</a:t>
            </a:r>
          </a:p>
        </p:txBody>
      </p:sp>
      <p:sp>
        <p:nvSpPr>
          <p:cNvPr id="15" name="Rectangle 14"/>
          <p:cNvSpPr/>
          <p:nvPr/>
        </p:nvSpPr>
        <p:spPr>
          <a:xfrm>
            <a:off x="6231636" y="896112"/>
            <a:ext cx="5820155" cy="256032"/>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86500" y="914400"/>
            <a:ext cx="5710427" cy="219456"/>
          </a:xfrm>
          <a:prstGeom prst="rect">
            <a:avLst/>
          </a:prstGeom>
          <a:noFill/>
        </p:spPr>
        <p:txBody>
          <a:bodyPr wrap="none">
            <a:spAutoFit/>
          </a:bodyPr>
          <a:lstStyle/>
          <a:p>
            <a:pPr algn="l"/>
            <a:r>
              <a:rPr sz="900" b="1" i="0">
                <a:solidFill>
                  <a:srgbClr val="FFFFFF"/>
                </a:solidFill>
              </a:rPr>
              <a:t>THE NEW MODEL</a:t>
            </a:r>
          </a:p>
        </p:txBody>
      </p:sp>
      <p:sp>
        <p:nvSpPr>
          <p:cNvPr id="17" name="Rectangle 16"/>
          <p:cNvSpPr/>
          <p:nvPr/>
        </p:nvSpPr>
        <p:spPr>
          <a:xfrm>
            <a:off x="6231636" y="1152144"/>
            <a:ext cx="5820155" cy="49377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4788" y="1207008"/>
            <a:ext cx="5673851" cy="4864608"/>
          </a:xfrm>
          <a:prstGeom prst="rect">
            <a:avLst/>
          </a:prstGeom>
          <a:noFill/>
        </p:spPr>
        <p:txBody>
          <a:bodyPr wrap="square">
            <a:spAutoFit/>
          </a:bodyPr>
          <a:lstStyle/>
          <a:p>
            <a:pPr algn="l"/>
            <a:r>
              <a:rPr sz="950" b="0" i="0">
                <a:solidFill>
                  <a:srgbClr val="17325C"/>
                </a:solidFill>
              </a:rPr>
              <a:t>▸  Enterprise platforms (shared infrastructure)</a:t>
            </a:r>
          </a:p>
          <a:p>
            <a:pPr algn="l"/>
            <a:r>
              <a:rPr sz="950" b="0" i="0">
                <a:solidFill>
                  <a:srgbClr val="17325C"/>
                </a:solidFill>
              </a:rPr>
              <a:t>▸  Reusable data across the force</a:t>
            </a:r>
          </a:p>
          <a:p>
            <a:pPr algn="l"/>
            <a:r>
              <a:rPr sz="950" b="0" i="0">
                <a:solidFill>
                  <a:srgbClr val="17325C"/>
                </a:solidFill>
              </a:rPr>
              <a:t>▸  Composable applications on top</a:t>
            </a:r>
          </a:p>
          <a:p>
            <a:pPr algn="l"/>
            <a:r>
              <a:rPr sz="950" b="0" i="0">
                <a:solidFill>
                  <a:srgbClr val="17325C"/>
                </a:solidFill>
              </a:rPr>
              <a:t>▸  Low-code / no-code development</a:t>
            </a:r>
          </a:p>
          <a:p>
            <a:pPr algn="l"/>
            <a:r>
              <a:rPr sz="950" b="0" i="0">
                <a:solidFill>
                  <a:srgbClr val="17325C"/>
                </a:solidFill>
              </a:rPr>
              <a:t>▸  Weeks to deliver, not years</a:t>
            </a:r>
          </a:p>
        </p:txBody>
      </p:sp>
      <p:sp>
        <p:nvSpPr>
          <p:cNvPr id="19" name="TextBox 18"/>
          <p:cNvSpPr txBox="1"/>
          <p:nvPr/>
        </p:nvSpPr>
        <p:spPr>
          <a:xfrm>
            <a:off x="137160" y="6126480"/>
            <a:ext cx="11914632" cy="219456"/>
          </a:xfrm>
          <a:prstGeom prst="rect">
            <a:avLst/>
          </a:prstGeom>
          <a:noFill/>
        </p:spPr>
        <p:txBody>
          <a:bodyPr wrap="square">
            <a:spAutoFit/>
          </a:bodyPr>
          <a:lstStyle/>
          <a:p>
            <a:pPr algn="ctr"/>
            <a:r>
              <a:rPr sz="850" b="0" i="1">
                <a:solidFill>
                  <a:srgbClr val="264D7E"/>
                </a:solidFill>
              </a:rPr>
              <a:t>"We've turned off 100 systems in basically two quarters. Killed them."  — CIO Leo Garciga</a:t>
            </a:r>
          </a:p>
        </p:txBody>
      </p:sp>
      <p:sp>
        <p:nvSpPr>
          <p:cNvPr id="20" name="TextBox 19"/>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THIS IS ALREADY WORKING: THE READINESS EXAMPLE</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640080" cy="219456"/>
          </a:xfrm>
          <a:prstGeom prst="rect">
            <a:avLst/>
          </a:prstGeom>
          <a:noFill/>
        </p:spPr>
        <p:txBody>
          <a:bodyPr wrap="square">
            <a:spAutoFit/>
          </a:bodyPr>
          <a:lstStyle/>
          <a:p>
            <a:pPr algn="l"/>
            <a:r>
              <a:rPr sz="900" b="1" i="0">
                <a:solidFill>
                  <a:srgbClr val="BD2E2E"/>
                </a:solidFill>
              </a:rPr>
              <a:t>BEFORE</a:t>
            </a:r>
          </a:p>
        </p:txBody>
      </p:sp>
      <p:sp>
        <p:nvSpPr>
          <p:cNvPr id="10" name="Rectangle 9"/>
          <p:cNvSpPr/>
          <p:nvPr/>
        </p:nvSpPr>
        <p:spPr>
          <a:xfrm>
            <a:off x="137160" y="896112"/>
            <a:ext cx="2704337" cy="475488"/>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28600" y="1005840"/>
            <a:ext cx="2521457" cy="329184"/>
          </a:xfrm>
          <a:prstGeom prst="rect">
            <a:avLst/>
          </a:prstGeom>
          <a:noFill/>
        </p:spPr>
        <p:txBody>
          <a:bodyPr wrap="none">
            <a:spAutoFit/>
          </a:bodyPr>
          <a:lstStyle/>
          <a:p>
            <a:pPr algn="ctr"/>
            <a:r>
              <a:rPr sz="950" b="0" i="0">
                <a:solidFill>
                  <a:srgbClr val="FFFFFF"/>
                </a:solidFill>
              </a:rPr>
              <a:t>Unit Data</a:t>
            </a:r>
          </a:p>
        </p:txBody>
      </p:sp>
      <p:sp>
        <p:nvSpPr>
          <p:cNvPr id="12" name="TextBox 11"/>
          <p:cNvSpPr txBox="1"/>
          <p:nvPr/>
        </p:nvSpPr>
        <p:spPr>
          <a:xfrm>
            <a:off x="2914649" y="1024128"/>
            <a:ext cx="219456" cy="219456"/>
          </a:xfrm>
          <a:prstGeom prst="rect">
            <a:avLst/>
          </a:prstGeom>
          <a:noFill/>
        </p:spPr>
        <p:txBody>
          <a:bodyPr wrap="square">
            <a:spAutoFit/>
          </a:bodyPr>
          <a:lstStyle/>
          <a:p>
            <a:pPr algn="ctr"/>
            <a:r>
              <a:rPr sz="1400" b="0" i="0">
                <a:solidFill>
                  <a:srgbClr val="17325C"/>
                </a:solidFill>
              </a:rPr>
              <a:t>→</a:t>
            </a:r>
          </a:p>
        </p:txBody>
      </p:sp>
      <p:sp>
        <p:nvSpPr>
          <p:cNvPr id="13" name="Rectangle 12"/>
          <p:cNvSpPr/>
          <p:nvPr/>
        </p:nvSpPr>
        <p:spPr>
          <a:xfrm>
            <a:off x="3207257" y="896112"/>
            <a:ext cx="2704337" cy="475488"/>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98697" y="1005840"/>
            <a:ext cx="2521457" cy="329184"/>
          </a:xfrm>
          <a:prstGeom prst="rect">
            <a:avLst/>
          </a:prstGeom>
          <a:noFill/>
        </p:spPr>
        <p:txBody>
          <a:bodyPr wrap="none">
            <a:spAutoFit/>
          </a:bodyPr>
          <a:lstStyle/>
          <a:p>
            <a:pPr algn="ctr"/>
            <a:r>
              <a:rPr sz="950" b="0" i="0">
                <a:solidFill>
                  <a:srgbClr val="FFFFFF"/>
                </a:solidFill>
              </a:rPr>
              <a:t>Manual Excel</a:t>
            </a:r>
          </a:p>
        </p:txBody>
      </p:sp>
      <p:sp>
        <p:nvSpPr>
          <p:cNvPr id="15" name="TextBox 14"/>
          <p:cNvSpPr txBox="1"/>
          <p:nvPr/>
        </p:nvSpPr>
        <p:spPr>
          <a:xfrm>
            <a:off x="5984747" y="1024128"/>
            <a:ext cx="219456" cy="219456"/>
          </a:xfrm>
          <a:prstGeom prst="rect">
            <a:avLst/>
          </a:prstGeom>
          <a:noFill/>
        </p:spPr>
        <p:txBody>
          <a:bodyPr wrap="square">
            <a:spAutoFit/>
          </a:bodyPr>
          <a:lstStyle/>
          <a:p>
            <a:pPr algn="ctr"/>
            <a:r>
              <a:rPr sz="1400" b="0" i="0">
                <a:solidFill>
                  <a:srgbClr val="17325C"/>
                </a:solidFill>
              </a:rPr>
              <a:t>→</a:t>
            </a:r>
          </a:p>
        </p:txBody>
      </p:sp>
      <p:sp>
        <p:nvSpPr>
          <p:cNvPr id="16" name="Rectangle 15"/>
          <p:cNvSpPr/>
          <p:nvPr/>
        </p:nvSpPr>
        <p:spPr>
          <a:xfrm>
            <a:off x="6277355" y="896112"/>
            <a:ext cx="2704337" cy="475488"/>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8795" y="1005840"/>
            <a:ext cx="2521457" cy="329184"/>
          </a:xfrm>
          <a:prstGeom prst="rect">
            <a:avLst/>
          </a:prstGeom>
          <a:noFill/>
        </p:spPr>
        <p:txBody>
          <a:bodyPr wrap="none">
            <a:spAutoFit/>
          </a:bodyPr>
          <a:lstStyle/>
          <a:p>
            <a:pPr algn="ctr"/>
            <a:r>
              <a:rPr sz="950" b="0" i="0">
                <a:solidFill>
                  <a:srgbClr val="FFFFFF"/>
                </a:solidFill>
              </a:rPr>
              <a:t>Staff Builds PPT</a:t>
            </a:r>
          </a:p>
        </p:txBody>
      </p:sp>
      <p:sp>
        <p:nvSpPr>
          <p:cNvPr id="18" name="TextBox 17"/>
          <p:cNvSpPr txBox="1"/>
          <p:nvPr/>
        </p:nvSpPr>
        <p:spPr>
          <a:xfrm>
            <a:off x="9054845" y="1024128"/>
            <a:ext cx="219456" cy="219456"/>
          </a:xfrm>
          <a:prstGeom prst="rect">
            <a:avLst/>
          </a:prstGeom>
          <a:noFill/>
        </p:spPr>
        <p:txBody>
          <a:bodyPr wrap="square">
            <a:spAutoFit/>
          </a:bodyPr>
          <a:lstStyle/>
          <a:p>
            <a:pPr algn="ctr"/>
            <a:r>
              <a:rPr sz="1400" b="0" i="0">
                <a:solidFill>
                  <a:srgbClr val="17325C"/>
                </a:solidFill>
              </a:rPr>
              <a:t>→</a:t>
            </a:r>
          </a:p>
        </p:txBody>
      </p:sp>
      <p:sp>
        <p:nvSpPr>
          <p:cNvPr id="19" name="Rectangle 18"/>
          <p:cNvSpPr/>
          <p:nvPr/>
        </p:nvSpPr>
        <p:spPr>
          <a:xfrm>
            <a:off x="9347453" y="896112"/>
            <a:ext cx="2704337" cy="475488"/>
          </a:xfrm>
          <a:prstGeom prst="rect">
            <a:avLst/>
          </a:prstGeom>
          <a:solidFill>
            <a:srgbClr val="BD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38893" y="1005840"/>
            <a:ext cx="2521457" cy="329184"/>
          </a:xfrm>
          <a:prstGeom prst="rect">
            <a:avLst/>
          </a:prstGeom>
          <a:noFill/>
        </p:spPr>
        <p:txBody>
          <a:bodyPr wrap="none">
            <a:spAutoFit/>
          </a:bodyPr>
          <a:lstStyle/>
          <a:p>
            <a:pPr algn="ctr"/>
            <a:r>
              <a:rPr sz="950" b="0" i="0">
                <a:solidFill>
                  <a:srgbClr val="FFFFFF"/>
                </a:solidFill>
              </a:rPr>
              <a:t>USR Brief</a:t>
            </a:r>
          </a:p>
        </p:txBody>
      </p:sp>
      <p:sp>
        <p:nvSpPr>
          <p:cNvPr id="21" name="TextBox 20"/>
          <p:cNvSpPr txBox="1"/>
          <p:nvPr/>
        </p:nvSpPr>
        <p:spPr>
          <a:xfrm>
            <a:off x="137160" y="1444752"/>
            <a:ext cx="11914632" cy="201168"/>
          </a:xfrm>
          <a:prstGeom prst="rect">
            <a:avLst/>
          </a:prstGeom>
          <a:noFill/>
        </p:spPr>
        <p:txBody>
          <a:bodyPr wrap="square">
            <a:spAutoFit/>
          </a:bodyPr>
          <a:lstStyle/>
          <a:p>
            <a:pPr algn="l"/>
            <a:r>
              <a:rPr sz="800" b="0" i="1">
                <a:solidFill>
                  <a:srgbClr val="264D7E"/>
                </a:solidFill>
              </a:rPr>
              <a:t>Thousands of man-hours. Static snapshots. Stale by the time it's briefed.</a:t>
            </a:r>
          </a:p>
        </p:txBody>
      </p:sp>
      <p:sp>
        <p:nvSpPr>
          <p:cNvPr id="22" name="TextBox 21"/>
          <p:cNvSpPr txBox="1"/>
          <p:nvPr/>
        </p:nvSpPr>
        <p:spPr>
          <a:xfrm>
            <a:off x="137160" y="1755648"/>
            <a:ext cx="548640" cy="219456"/>
          </a:xfrm>
          <a:prstGeom prst="rect">
            <a:avLst/>
          </a:prstGeom>
          <a:noFill/>
        </p:spPr>
        <p:txBody>
          <a:bodyPr wrap="square">
            <a:spAutoFit/>
          </a:bodyPr>
          <a:lstStyle/>
          <a:p>
            <a:pPr algn="l"/>
            <a:r>
              <a:rPr sz="900" b="1" i="0">
                <a:solidFill>
                  <a:srgbClr val="2A6E3F"/>
                </a:solidFill>
              </a:rPr>
              <a:t>AFTER</a:t>
            </a:r>
          </a:p>
        </p:txBody>
      </p:sp>
      <p:sp>
        <p:nvSpPr>
          <p:cNvPr id="23" name="Rectangle 22"/>
          <p:cNvSpPr/>
          <p:nvPr/>
        </p:nvSpPr>
        <p:spPr>
          <a:xfrm>
            <a:off x="137160" y="2011680"/>
            <a:ext cx="3727703" cy="47548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28600" y="2121408"/>
            <a:ext cx="3544823" cy="329184"/>
          </a:xfrm>
          <a:prstGeom prst="rect">
            <a:avLst/>
          </a:prstGeom>
          <a:noFill/>
        </p:spPr>
        <p:txBody>
          <a:bodyPr wrap="none">
            <a:spAutoFit/>
          </a:bodyPr>
          <a:lstStyle/>
          <a:p>
            <a:pPr algn="ctr"/>
            <a:r>
              <a:rPr sz="950" b="0" i="0">
                <a:solidFill>
                  <a:srgbClr val="FFFFFF"/>
                </a:solidFill>
              </a:rPr>
              <a:t>Live Data Feeds</a:t>
            </a:r>
          </a:p>
        </p:txBody>
      </p:sp>
      <p:sp>
        <p:nvSpPr>
          <p:cNvPr id="25" name="TextBox 24"/>
          <p:cNvSpPr txBox="1"/>
          <p:nvPr/>
        </p:nvSpPr>
        <p:spPr>
          <a:xfrm>
            <a:off x="3938016" y="2139696"/>
            <a:ext cx="219456" cy="219456"/>
          </a:xfrm>
          <a:prstGeom prst="rect">
            <a:avLst/>
          </a:prstGeom>
          <a:noFill/>
        </p:spPr>
        <p:txBody>
          <a:bodyPr wrap="square">
            <a:spAutoFit/>
          </a:bodyPr>
          <a:lstStyle/>
          <a:p>
            <a:pPr algn="ctr"/>
            <a:r>
              <a:rPr sz="1400" b="0" i="0">
                <a:solidFill>
                  <a:srgbClr val="17325C"/>
                </a:solidFill>
              </a:rPr>
              <a:t>→</a:t>
            </a:r>
          </a:p>
        </p:txBody>
      </p:sp>
      <p:sp>
        <p:nvSpPr>
          <p:cNvPr id="26" name="Rectangle 25"/>
          <p:cNvSpPr/>
          <p:nvPr/>
        </p:nvSpPr>
        <p:spPr>
          <a:xfrm>
            <a:off x="4230624" y="2011680"/>
            <a:ext cx="3727703" cy="47548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22064" y="2121408"/>
            <a:ext cx="3544823" cy="329184"/>
          </a:xfrm>
          <a:prstGeom prst="rect">
            <a:avLst/>
          </a:prstGeom>
          <a:noFill/>
        </p:spPr>
        <p:txBody>
          <a:bodyPr wrap="none">
            <a:spAutoFit/>
          </a:bodyPr>
          <a:lstStyle/>
          <a:p>
            <a:pPr algn="ctr"/>
            <a:r>
              <a:rPr sz="950" b="0" i="0">
                <a:solidFill>
                  <a:srgbClr val="FFFFFF"/>
                </a:solidFill>
              </a:rPr>
              <a:t>Enterprise Platform</a:t>
            </a:r>
          </a:p>
        </p:txBody>
      </p:sp>
      <p:sp>
        <p:nvSpPr>
          <p:cNvPr id="28" name="TextBox 27"/>
          <p:cNvSpPr txBox="1"/>
          <p:nvPr/>
        </p:nvSpPr>
        <p:spPr>
          <a:xfrm>
            <a:off x="8031480" y="2139696"/>
            <a:ext cx="219456" cy="219456"/>
          </a:xfrm>
          <a:prstGeom prst="rect">
            <a:avLst/>
          </a:prstGeom>
          <a:noFill/>
        </p:spPr>
        <p:txBody>
          <a:bodyPr wrap="square">
            <a:spAutoFit/>
          </a:bodyPr>
          <a:lstStyle/>
          <a:p>
            <a:pPr algn="ctr"/>
            <a:r>
              <a:rPr sz="1400" b="0" i="0">
                <a:solidFill>
                  <a:srgbClr val="17325C"/>
                </a:solidFill>
              </a:rPr>
              <a:t>→</a:t>
            </a:r>
          </a:p>
        </p:txBody>
      </p:sp>
      <p:sp>
        <p:nvSpPr>
          <p:cNvPr id="29" name="Rectangle 28"/>
          <p:cNvSpPr/>
          <p:nvPr/>
        </p:nvSpPr>
        <p:spPr>
          <a:xfrm>
            <a:off x="8324088" y="2011680"/>
            <a:ext cx="3727703" cy="47548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5528" y="2121408"/>
            <a:ext cx="3544823" cy="329184"/>
          </a:xfrm>
          <a:prstGeom prst="rect">
            <a:avLst/>
          </a:prstGeom>
          <a:noFill/>
        </p:spPr>
        <p:txBody>
          <a:bodyPr wrap="none">
            <a:spAutoFit/>
          </a:bodyPr>
          <a:lstStyle/>
          <a:p>
            <a:pPr algn="ctr"/>
            <a:r>
              <a:rPr sz="950" b="0" i="0">
                <a:solidFill>
                  <a:srgbClr val="FFFFFF"/>
                </a:solidFill>
              </a:rPr>
              <a:t>Real-Time Readiness</a:t>
            </a:r>
          </a:p>
        </p:txBody>
      </p:sp>
      <p:sp>
        <p:nvSpPr>
          <p:cNvPr id="31" name="Rectangle 30"/>
          <p:cNvSpPr/>
          <p:nvPr/>
        </p:nvSpPr>
        <p:spPr>
          <a:xfrm>
            <a:off x="137160" y="2670048"/>
            <a:ext cx="54864" cy="1280160"/>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92024" y="2670048"/>
            <a:ext cx="11859767" cy="128016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01751" y="2779776"/>
            <a:ext cx="11640311" cy="1060704"/>
          </a:xfrm>
          <a:prstGeom prst="rect">
            <a:avLst/>
          </a:prstGeom>
          <a:noFill/>
        </p:spPr>
        <p:txBody>
          <a:bodyPr wrap="square">
            <a:spAutoFit/>
          </a:bodyPr>
          <a:lstStyle/>
          <a:p>
            <a:pPr algn="l"/>
            <a:r>
              <a:rPr sz="900" b="0" i="0">
                <a:solidFill>
                  <a:srgbClr val="17325C"/>
                </a:solidFill>
              </a:rPr>
              <a:t>Since November 2025, the Army's Total Army Readiness Review has shifted from static presentations built through thousands of man-hours to live data reporting. Senior leaders can now see the status of every truck, tank, and helicopter in real time.</a:t>
            </a:r>
          </a:p>
        </p:txBody>
      </p:sp>
      <p:sp>
        <p:nvSpPr>
          <p:cNvPr id="34" name="TextBox 33"/>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WHAT IS PALANTIR FOUNDRY?</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TextBox 8"/>
          <p:cNvSpPr txBox="1"/>
          <p:nvPr/>
        </p:nvSpPr>
        <p:spPr>
          <a:xfrm>
            <a:off x="137160" y="640080"/>
            <a:ext cx="11914632" cy="201168"/>
          </a:xfrm>
          <a:prstGeom prst="rect">
            <a:avLst/>
          </a:prstGeom>
          <a:noFill/>
        </p:spPr>
        <p:txBody>
          <a:bodyPr wrap="square">
            <a:spAutoFit/>
          </a:bodyPr>
          <a:lstStyle/>
          <a:p>
            <a:pPr algn="l"/>
            <a:r>
              <a:rPr sz="850" b="0" i="0">
                <a:solidFill>
                  <a:srgbClr val="264D7E"/>
                </a:solidFill>
              </a:rPr>
              <a:t>The enterprise data and AI platform at the center of the Army's technology stack.</a:t>
            </a:r>
          </a:p>
        </p:txBody>
      </p:sp>
      <p:sp>
        <p:nvSpPr>
          <p:cNvPr id="10" name="Rectangle 9"/>
          <p:cNvSpPr/>
          <p:nvPr/>
        </p:nvSpPr>
        <p:spPr>
          <a:xfrm>
            <a:off x="137160" y="914400"/>
            <a:ext cx="5884164" cy="54864"/>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37160" y="969264"/>
            <a:ext cx="5884164" cy="2697479"/>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28600" y="1024128"/>
            <a:ext cx="5701283" cy="256032"/>
          </a:xfrm>
          <a:prstGeom prst="rect">
            <a:avLst/>
          </a:prstGeom>
          <a:noFill/>
        </p:spPr>
        <p:txBody>
          <a:bodyPr wrap="square">
            <a:spAutoFit/>
          </a:bodyPr>
          <a:lstStyle/>
          <a:p>
            <a:pPr algn="l"/>
            <a:r>
              <a:rPr sz="950" b="1" i="0">
                <a:solidFill>
                  <a:srgbClr val="17325C"/>
                </a:solidFill>
              </a:rPr>
              <a:t>DATA INTEGRATION</a:t>
            </a:r>
          </a:p>
        </p:txBody>
      </p:sp>
      <p:sp>
        <p:nvSpPr>
          <p:cNvPr id="13" name="TextBox 12"/>
          <p:cNvSpPr txBox="1"/>
          <p:nvPr/>
        </p:nvSpPr>
        <p:spPr>
          <a:xfrm>
            <a:off x="228600" y="1316736"/>
            <a:ext cx="5701283" cy="2258568"/>
          </a:xfrm>
          <a:prstGeom prst="rect">
            <a:avLst/>
          </a:prstGeom>
          <a:noFill/>
        </p:spPr>
        <p:txBody>
          <a:bodyPr wrap="square">
            <a:spAutoFit/>
          </a:bodyPr>
          <a:lstStyle/>
          <a:p>
            <a:pPr algn="l"/>
            <a:r>
              <a:rPr sz="900" b="0" i="0">
                <a:solidFill>
                  <a:srgbClr val="17325C"/>
                </a:solidFill>
              </a:rPr>
              <a:t>Connect and transform data from dozens of source systems into clean, unified datasets.</a:t>
            </a:r>
          </a:p>
        </p:txBody>
      </p:sp>
      <p:sp>
        <p:nvSpPr>
          <p:cNvPr id="14" name="Rectangle 13"/>
          <p:cNvSpPr/>
          <p:nvPr/>
        </p:nvSpPr>
        <p:spPr>
          <a:xfrm>
            <a:off x="6167628" y="914400"/>
            <a:ext cx="5884164" cy="54864"/>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7628" y="969264"/>
            <a:ext cx="5884164" cy="2697479"/>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59068" y="1024128"/>
            <a:ext cx="5701283" cy="256032"/>
          </a:xfrm>
          <a:prstGeom prst="rect">
            <a:avLst/>
          </a:prstGeom>
          <a:noFill/>
        </p:spPr>
        <p:txBody>
          <a:bodyPr wrap="square">
            <a:spAutoFit/>
          </a:bodyPr>
          <a:lstStyle/>
          <a:p>
            <a:pPr algn="l"/>
            <a:r>
              <a:rPr sz="950" b="1" i="0">
                <a:solidFill>
                  <a:srgbClr val="1A786E"/>
                </a:solidFill>
              </a:rPr>
              <a:t>ONTOLOGY</a:t>
            </a:r>
          </a:p>
        </p:txBody>
      </p:sp>
      <p:sp>
        <p:nvSpPr>
          <p:cNvPr id="17" name="TextBox 16"/>
          <p:cNvSpPr txBox="1"/>
          <p:nvPr/>
        </p:nvSpPr>
        <p:spPr>
          <a:xfrm>
            <a:off x="6259068" y="1316736"/>
            <a:ext cx="5701283" cy="2258568"/>
          </a:xfrm>
          <a:prstGeom prst="rect">
            <a:avLst/>
          </a:prstGeom>
          <a:noFill/>
        </p:spPr>
        <p:txBody>
          <a:bodyPr wrap="square">
            <a:spAutoFit/>
          </a:bodyPr>
          <a:lstStyle/>
          <a:p>
            <a:pPr algn="l"/>
            <a:r>
              <a:rPr sz="900" b="0" i="0">
                <a:solidFill>
                  <a:srgbClr val="17325C"/>
                </a:solidFill>
              </a:rPr>
              <a:t>Model real-world objects — units, equipment, personnel — as a connected knowledge graph.</a:t>
            </a:r>
          </a:p>
        </p:txBody>
      </p:sp>
      <p:sp>
        <p:nvSpPr>
          <p:cNvPr id="18" name="Rectangle 17"/>
          <p:cNvSpPr/>
          <p:nvPr/>
        </p:nvSpPr>
        <p:spPr>
          <a:xfrm>
            <a:off x="137160" y="3813048"/>
            <a:ext cx="5884164" cy="54864"/>
          </a:xfrm>
          <a:prstGeom prst="rect">
            <a:avLst/>
          </a:prstGeom>
          <a:solidFill>
            <a:srgbClr val="1A5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37160" y="3867911"/>
            <a:ext cx="5884164" cy="2697479"/>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28600" y="3922776"/>
            <a:ext cx="5701283" cy="256032"/>
          </a:xfrm>
          <a:prstGeom prst="rect">
            <a:avLst/>
          </a:prstGeom>
          <a:noFill/>
        </p:spPr>
        <p:txBody>
          <a:bodyPr wrap="square">
            <a:spAutoFit/>
          </a:bodyPr>
          <a:lstStyle/>
          <a:p>
            <a:pPr algn="l"/>
            <a:r>
              <a:rPr sz="950" b="1" i="0">
                <a:solidFill>
                  <a:srgbClr val="1A5CA8"/>
                </a:solidFill>
              </a:rPr>
              <a:t>APPLICATIONS</a:t>
            </a:r>
          </a:p>
        </p:txBody>
      </p:sp>
      <p:sp>
        <p:nvSpPr>
          <p:cNvPr id="21" name="TextBox 20"/>
          <p:cNvSpPr txBox="1"/>
          <p:nvPr/>
        </p:nvSpPr>
        <p:spPr>
          <a:xfrm>
            <a:off x="228600" y="4215384"/>
            <a:ext cx="5701283" cy="2258568"/>
          </a:xfrm>
          <a:prstGeom prst="rect">
            <a:avLst/>
          </a:prstGeom>
          <a:noFill/>
        </p:spPr>
        <p:txBody>
          <a:bodyPr wrap="square">
            <a:spAutoFit/>
          </a:bodyPr>
          <a:lstStyle/>
          <a:p>
            <a:pPr algn="l"/>
            <a:r>
              <a:rPr sz="900" b="0" i="0">
                <a:solidFill>
                  <a:srgbClr val="17325C"/>
                </a:solidFill>
              </a:rPr>
              <a:t>Build operational apps directly on top of live data — no separate development cycle.</a:t>
            </a:r>
          </a:p>
        </p:txBody>
      </p:sp>
      <p:sp>
        <p:nvSpPr>
          <p:cNvPr id="22" name="Rectangle 21"/>
          <p:cNvSpPr/>
          <p:nvPr/>
        </p:nvSpPr>
        <p:spPr>
          <a:xfrm>
            <a:off x="6167628" y="3813048"/>
            <a:ext cx="5884164" cy="54864"/>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67628" y="3867911"/>
            <a:ext cx="5884164" cy="2697479"/>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59068" y="3922776"/>
            <a:ext cx="5701283" cy="256032"/>
          </a:xfrm>
          <a:prstGeom prst="rect">
            <a:avLst/>
          </a:prstGeom>
          <a:noFill/>
        </p:spPr>
        <p:txBody>
          <a:bodyPr wrap="square">
            <a:spAutoFit/>
          </a:bodyPr>
          <a:lstStyle/>
          <a:p>
            <a:pPr algn="l"/>
            <a:r>
              <a:rPr sz="950" b="1" i="0">
                <a:solidFill>
                  <a:srgbClr val="264D7E"/>
                </a:solidFill>
              </a:rPr>
              <a:t>ANALYTICS &amp; AI</a:t>
            </a:r>
          </a:p>
        </p:txBody>
      </p:sp>
      <p:sp>
        <p:nvSpPr>
          <p:cNvPr id="25" name="TextBox 24"/>
          <p:cNvSpPr txBox="1"/>
          <p:nvPr/>
        </p:nvSpPr>
        <p:spPr>
          <a:xfrm>
            <a:off x="6259068" y="4215384"/>
            <a:ext cx="5701283" cy="2258568"/>
          </a:xfrm>
          <a:prstGeom prst="rect">
            <a:avLst/>
          </a:prstGeom>
          <a:noFill/>
        </p:spPr>
        <p:txBody>
          <a:bodyPr wrap="square">
            <a:spAutoFit/>
          </a:bodyPr>
          <a:lstStyle/>
          <a:p>
            <a:pPr algn="l"/>
            <a:r>
              <a:rPr sz="900" b="0" i="0">
                <a:solidFill>
                  <a:srgbClr val="17325C"/>
                </a:solidFill>
              </a:rPr>
              <a:t>Run analysis, machine learning, and AI workflows against enterprise-scale data.</a:t>
            </a:r>
          </a:p>
        </p:txBody>
      </p:sp>
      <p:sp>
        <p:nvSpPr>
          <p:cNvPr id="26" name="TextBox 25"/>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1140702" cy="283464"/>
          </a:xfrm>
          <a:prstGeom prst="rect">
            <a:avLst/>
          </a:prstGeom>
          <a:noFill/>
        </p:spPr>
        <p:txBody>
          <a:bodyPr wrap="square">
            <a:spAutoFit/>
          </a:bodyPr>
          <a:lstStyle/>
          <a:p>
            <a:pPr algn="l"/>
            <a:r>
              <a:rPr sz="800" b="0">
                <a:solidFill>
                  <a:srgbClr val="18335F"/>
                </a:solidFill>
              </a:rPr>
              <a:t>UNCLASSIFIED</a:t>
            </a:r>
          </a:p>
        </p:txBody>
      </p:sp>
      <p:sp>
        <p:nvSpPr>
          <p:cNvPr id="3" name="TextBox 2"/>
          <p:cNvSpPr txBox="1"/>
          <p:nvPr/>
        </p:nvSpPr>
        <p:spPr>
          <a:xfrm>
            <a:off x="0" y="6574536"/>
            <a:ext cx="11140702" cy="283464"/>
          </a:xfrm>
          <a:prstGeom prst="rect">
            <a:avLst/>
          </a:prstGeom>
          <a:noFill/>
        </p:spPr>
        <p:txBody>
          <a:bodyPr wrap="square">
            <a:spAutoFit/>
          </a:bodyPr>
          <a:lstStyle/>
          <a:p>
            <a:pPr algn="l"/>
            <a:r>
              <a:rPr sz="800" b="0">
                <a:solidFill>
                  <a:srgbClr val="18335F"/>
                </a:solidFill>
              </a:rPr>
              <a:t>UNCLASSIFIED</a:t>
            </a:r>
          </a:p>
        </p:txBody>
      </p:sp>
      <p:sp>
        <p:nvSpPr>
          <p:cNvPr id="4" name="TextBox 3"/>
          <p:cNvSpPr txBox="1"/>
          <p:nvPr/>
        </p:nvSpPr>
        <p:spPr>
          <a:xfrm>
            <a:off x="365760" y="320040"/>
            <a:ext cx="10058400" cy="411480"/>
          </a:xfrm>
          <a:prstGeom prst="rect">
            <a:avLst/>
          </a:prstGeom>
          <a:noFill/>
        </p:spPr>
        <p:txBody>
          <a:bodyPr wrap="square">
            <a:spAutoFit/>
          </a:bodyPr>
          <a:lstStyle/>
          <a:p>
            <a:pPr algn="l"/>
            <a:r>
              <a:rPr sz="1800" b="1">
                <a:solidFill>
                  <a:srgbClr val="17325C"/>
                </a:solidFill>
              </a:rPr>
              <a:t>WHERE YOU FIT IN</a:t>
            </a:r>
          </a:p>
        </p:txBody>
      </p:sp>
      <p:sp>
        <p:nvSpPr>
          <p:cNvPr id="5" name="TextBox 4"/>
          <p:cNvSpPr txBox="1"/>
          <p:nvPr/>
        </p:nvSpPr>
        <p:spPr>
          <a:xfrm>
            <a:off x="365760" y="804672"/>
            <a:ext cx="11155680" cy="320040"/>
          </a:xfrm>
          <a:prstGeom prst="rect">
            <a:avLst/>
          </a:prstGeom>
          <a:noFill/>
        </p:spPr>
        <p:txBody>
          <a:bodyPr wrap="square">
            <a:spAutoFit/>
          </a:bodyPr>
          <a:lstStyle/>
          <a:p>
            <a:pPr algn="l"/>
            <a:r>
              <a:rPr sz="1100" b="0">
                <a:solidFill>
                  <a:srgbClr val="264D7E"/>
                </a:solidFill>
              </a:rPr>
              <a:t>The enterprise platforms are in place. Your job is to use them — accurately.</a:t>
            </a:r>
          </a:p>
        </p:txBody>
      </p:sp>
      <p:sp>
        <p:nvSpPr>
          <p:cNvPr id="6" name="Rectangle 5"/>
          <p:cNvSpPr/>
          <p:nvPr/>
        </p:nvSpPr>
        <p:spPr>
          <a:xfrm>
            <a:off x="731520" y="1188720"/>
            <a:ext cx="6400800" cy="6583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261872"/>
            <a:ext cx="2743200" cy="347472"/>
          </a:xfrm>
          <a:prstGeom prst="rect">
            <a:avLst/>
          </a:prstGeom>
          <a:noFill/>
        </p:spPr>
        <p:txBody>
          <a:bodyPr wrap="square">
            <a:spAutoFit/>
          </a:bodyPr>
          <a:lstStyle/>
          <a:p>
            <a:pPr algn="l"/>
            <a:r>
              <a:rPr sz="1200" b="1">
                <a:solidFill>
                  <a:srgbClr val="264D7E"/>
                </a:solidFill>
              </a:rPr>
              <a:t>SOURCE SYSTEMS</a:t>
            </a:r>
          </a:p>
        </p:txBody>
      </p:sp>
      <p:sp>
        <p:nvSpPr>
          <p:cNvPr id="8" name="TextBox 7"/>
          <p:cNvSpPr txBox="1"/>
          <p:nvPr/>
        </p:nvSpPr>
        <p:spPr>
          <a:xfrm>
            <a:off x="868680" y="1536192"/>
            <a:ext cx="6126480" cy="256032"/>
          </a:xfrm>
          <a:prstGeom prst="rect">
            <a:avLst/>
          </a:prstGeom>
          <a:noFill/>
        </p:spPr>
        <p:txBody>
          <a:bodyPr wrap="square">
            <a:spAutoFit/>
          </a:bodyPr>
          <a:lstStyle/>
          <a:p>
            <a:pPr algn="l"/>
            <a:r>
              <a:rPr sz="950" b="0">
                <a:solidFill>
                  <a:srgbClr val="264D7E"/>
                </a:solidFill>
              </a:rPr>
              <a:t>ERPs, logistics, HR, readiness feeds — the raw data sources</a:t>
            </a:r>
          </a:p>
        </p:txBody>
      </p:sp>
      <p:sp>
        <p:nvSpPr>
          <p:cNvPr id="9" name="TextBox 8"/>
          <p:cNvSpPr txBox="1"/>
          <p:nvPr/>
        </p:nvSpPr>
        <p:spPr>
          <a:xfrm>
            <a:off x="3657600" y="1847088"/>
            <a:ext cx="457200" cy="155448"/>
          </a:xfrm>
          <a:prstGeom prst="rect">
            <a:avLst/>
          </a:prstGeom>
          <a:noFill/>
        </p:spPr>
        <p:txBody>
          <a:bodyPr wrap="square">
            <a:spAutoFit/>
          </a:bodyPr>
          <a:lstStyle/>
          <a:p>
            <a:pPr algn="ctr"/>
            <a:r>
              <a:rPr sz="1400" b="0">
                <a:solidFill>
                  <a:srgbClr val="264D7E"/>
                </a:solidFill>
              </a:rPr>
              <a:t>↓</a:t>
            </a:r>
          </a:p>
        </p:txBody>
      </p:sp>
      <p:sp>
        <p:nvSpPr>
          <p:cNvPr id="10" name="Rectangle 9"/>
          <p:cNvSpPr/>
          <p:nvPr/>
        </p:nvSpPr>
        <p:spPr>
          <a:xfrm>
            <a:off x="731520" y="1956816"/>
            <a:ext cx="6400800" cy="6583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2029968"/>
            <a:ext cx="2743200" cy="347472"/>
          </a:xfrm>
          <a:prstGeom prst="rect">
            <a:avLst/>
          </a:prstGeom>
          <a:noFill/>
        </p:spPr>
        <p:txBody>
          <a:bodyPr wrap="square">
            <a:spAutoFit/>
          </a:bodyPr>
          <a:lstStyle/>
          <a:p>
            <a:pPr algn="l"/>
            <a:r>
              <a:rPr sz="1200" b="1">
                <a:solidFill>
                  <a:srgbClr val="264D7E"/>
                </a:solidFill>
              </a:rPr>
              <a:t>DATA INTEGRATION</a:t>
            </a:r>
          </a:p>
        </p:txBody>
      </p:sp>
      <p:sp>
        <p:nvSpPr>
          <p:cNvPr id="12" name="TextBox 11"/>
          <p:cNvSpPr txBox="1"/>
          <p:nvPr/>
        </p:nvSpPr>
        <p:spPr>
          <a:xfrm>
            <a:off x="868680" y="2304288"/>
            <a:ext cx="6126480" cy="256032"/>
          </a:xfrm>
          <a:prstGeom prst="rect">
            <a:avLst/>
          </a:prstGeom>
          <a:noFill/>
        </p:spPr>
        <p:txBody>
          <a:bodyPr wrap="square">
            <a:spAutoFit/>
          </a:bodyPr>
          <a:lstStyle/>
          <a:p>
            <a:pPr algn="l"/>
            <a:r>
              <a:rPr sz="950" b="0">
                <a:solidFill>
                  <a:srgbClr val="264D7E"/>
                </a:solidFill>
              </a:rPr>
              <a:t>Pipelines that clean, transform, and connect data — built by data engineers</a:t>
            </a:r>
          </a:p>
        </p:txBody>
      </p:sp>
      <p:sp>
        <p:nvSpPr>
          <p:cNvPr id="13" name="TextBox 12"/>
          <p:cNvSpPr txBox="1"/>
          <p:nvPr/>
        </p:nvSpPr>
        <p:spPr>
          <a:xfrm>
            <a:off x="3657600" y="2615184"/>
            <a:ext cx="457200" cy="155448"/>
          </a:xfrm>
          <a:prstGeom prst="rect">
            <a:avLst/>
          </a:prstGeom>
          <a:noFill/>
        </p:spPr>
        <p:txBody>
          <a:bodyPr wrap="square">
            <a:spAutoFit/>
          </a:bodyPr>
          <a:lstStyle/>
          <a:p>
            <a:pPr algn="ctr"/>
            <a:r>
              <a:rPr sz="1400" b="0">
                <a:solidFill>
                  <a:srgbClr val="264D7E"/>
                </a:solidFill>
              </a:rPr>
              <a:t>↓</a:t>
            </a:r>
          </a:p>
        </p:txBody>
      </p:sp>
      <p:sp>
        <p:nvSpPr>
          <p:cNvPr id="14" name="Rectangle 13"/>
          <p:cNvSpPr/>
          <p:nvPr/>
        </p:nvSpPr>
        <p:spPr>
          <a:xfrm>
            <a:off x="731520" y="2724912"/>
            <a:ext cx="6400800" cy="658368"/>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798064"/>
            <a:ext cx="2743200" cy="347472"/>
          </a:xfrm>
          <a:prstGeom prst="rect">
            <a:avLst/>
          </a:prstGeom>
          <a:noFill/>
        </p:spPr>
        <p:txBody>
          <a:bodyPr wrap="square">
            <a:spAutoFit/>
          </a:bodyPr>
          <a:lstStyle/>
          <a:p>
            <a:pPr algn="l"/>
            <a:r>
              <a:rPr sz="1200" b="1">
                <a:solidFill>
                  <a:srgbClr val="264D7E"/>
                </a:solidFill>
              </a:rPr>
              <a:t>ONTOLOGY</a:t>
            </a:r>
          </a:p>
        </p:txBody>
      </p:sp>
      <p:sp>
        <p:nvSpPr>
          <p:cNvPr id="16" name="TextBox 15"/>
          <p:cNvSpPr txBox="1"/>
          <p:nvPr/>
        </p:nvSpPr>
        <p:spPr>
          <a:xfrm>
            <a:off x="868680" y="3072384"/>
            <a:ext cx="6126480" cy="256032"/>
          </a:xfrm>
          <a:prstGeom prst="rect">
            <a:avLst/>
          </a:prstGeom>
          <a:noFill/>
        </p:spPr>
        <p:txBody>
          <a:bodyPr wrap="square">
            <a:spAutoFit/>
          </a:bodyPr>
          <a:lstStyle/>
          <a:p>
            <a:pPr algn="l"/>
            <a:r>
              <a:rPr sz="950" b="0">
                <a:solidFill>
                  <a:srgbClr val="264D7E"/>
                </a:solidFill>
              </a:rPr>
              <a:t>Object types, link types, properties — the Army's data model</a:t>
            </a:r>
          </a:p>
        </p:txBody>
      </p:sp>
      <p:sp>
        <p:nvSpPr>
          <p:cNvPr id="17" name="TextBox 16"/>
          <p:cNvSpPr txBox="1"/>
          <p:nvPr/>
        </p:nvSpPr>
        <p:spPr>
          <a:xfrm>
            <a:off x="3657600" y="3383280"/>
            <a:ext cx="457200" cy="155448"/>
          </a:xfrm>
          <a:prstGeom prst="rect">
            <a:avLst/>
          </a:prstGeom>
          <a:noFill/>
        </p:spPr>
        <p:txBody>
          <a:bodyPr wrap="square">
            <a:spAutoFit/>
          </a:bodyPr>
          <a:lstStyle/>
          <a:p>
            <a:pPr algn="ctr"/>
            <a:r>
              <a:rPr sz="1400" b="0">
                <a:solidFill>
                  <a:srgbClr val="264D7E"/>
                </a:solidFill>
              </a:rPr>
              <a:t>↓</a:t>
            </a:r>
          </a:p>
        </p:txBody>
      </p:sp>
      <p:sp>
        <p:nvSpPr>
          <p:cNvPr id="18" name="Rectangle 17"/>
          <p:cNvSpPr/>
          <p:nvPr/>
        </p:nvSpPr>
        <p:spPr>
          <a:xfrm>
            <a:off x="731520" y="3493008"/>
            <a:ext cx="6400800" cy="658368"/>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566160"/>
            <a:ext cx="2743200" cy="347472"/>
          </a:xfrm>
          <a:prstGeom prst="rect">
            <a:avLst/>
          </a:prstGeom>
          <a:noFill/>
        </p:spPr>
        <p:txBody>
          <a:bodyPr wrap="square">
            <a:spAutoFit/>
          </a:bodyPr>
          <a:lstStyle/>
          <a:p>
            <a:pPr algn="l"/>
            <a:r>
              <a:rPr sz="1200" b="1">
                <a:solidFill>
                  <a:srgbClr val="FFFFFF"/>
                </a:solidFill>
              </a:rPr>
              <a:t>APPLICATIONS</a:t>
            </a:r>
          </a:p>
        </p:txBody>
      </p:sp>
      <p:sp>
        <p:nvSpPr>
          <p:cNvPr id="20" name="TextBox 19"/>
          <p:cNvSpPr txBox="1"/>
          <p:nvPr/>
        </p:nvSpPr>
        <p:spPr>
          <a:xfrm>
            <a:off x="868680" y="3840480"/>
            <a:ext cx="6126480" cy="256032"/>
          </a:xfrm>
          <a:prstGeom prst="rect">
            <a:avLst/>
          </a:prstGeom>
          <a:noFill/>
        </p:spPr>
        <p:txBody>
          <a:bodyPr wrap="square">
            <a:spAutoFit/>
          </a:bodyPr>
          <a:lstStyle/>
          <a:p>
            <a:pPr algn="l"/>
            <a:r>
              <a:rPr sz="950" b="0">
                <a:solidFill>
                  <a:srgbClr val="FFFFFF"/>
                </a:solidFill>
              </a:rPr>
              <a:t>Dashboards, workflows, decision-support tools — THIS IS WHERE YOU WORK</a:t>
            </a:r>
          </a:p>
        </p:txBody>
      </p:sp>
      <p:sp>
        <p:nvSpPr>
          <p:cNvPr id="21" name="TextBox 20"/>
          <p:cNvSpPr txBox="1"/>
          <p:nvPr/>
        </p:nvSpPr>
        <p:spPr>
          <a:xfrm>
            <a:off x="3657600" y="4151376"/>
            <a:ext cx="457200" cy="155448"/>
          </a:xfrm>
          <a:prstGeom prst="rect">
            <a:avLst/>
          </a:prstGeom>
          <a:noFill/>
        </p:spPr>
        <p:txBody>
          <a:bodyPr wrap="square">
            <a:spAutoFit/>
          </a:bodyPr>
          <a:lstStyle/>
          <a:p>
            <a:pPr algn="ctr"/>
            <a:r>
              <a:rPr sz="1400" b="0">
                <a:solidFill>
                  <a:srgbClr val="264D7E"/>
                </a:solidFill>
              </a:rPr>
              <a:t>↓</a:t>
            </a:r>
          </a:p>
        </p:txBody>
      </p:sp>
      <p:sp>
        <p:nvSpPr>
          <p:cNvPr id="22" name="Rectangle 21"/>
          <p:cNvSpPr/>
          <p:nvPr/>
        </p:nvSpPr>
        <p:spPr>
          <a:xfrm>
            <a:off x="731520" y="4261104"/>
            <a:ext cx="6400800" cy="658368"/>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4334256"/>
            <a:ext cx="2743200" cy="347472"/>
          </a:xfrm>
          <a:prstGeom prst="rect">
            <a:avLst/>
          </a:prstGeom>
          <a:noFill/>
        </p:spPr>
        <p:txBody>
          <a:bodyPr wrap="square">
            <a:spAutoFit/>
          </a:bodyPr>
          <a:lstStyle/>
          <a:p>
            <a:pPr algn="l"/>
            <a:r>
              <a:rPr sz="1200" b="1">
                <a:solidFill>
                  <a:srgbClr val="FFFFFF"/>
                </a:solidFill>
              </a:rPr>
              <a:t>DECISIONS</a:t>
            </a:r>
          </a:p>
        </p:txBody>
      </p:sp>
      <p:sp>
        <p:nvSpPr>
          <p:cNvPr id="24" name="TextBox 23"/>
          <p:cNvSpPr txBox="1"/>
          <p:nvPr/>
        </p:nvSpPr>
        <p:spPr>
          <a:xfrm>
            <a:off x="868680" y="4608576"/>
            <a:ext cx="6126480" cy="256032"/>
          </a:xfrm>
          <a:prstGeom prst="rect">
            <a:avLst/>
          </a:prstGeom>
          <a:noFill/>
        </p:spPr>
        <p:txBody>
          <a:bodyPr wrap="square">
            <a:spAutoFit/>
          </a:bodyPr>
          <a:lstStyle/>
          <a:p>
            <a:pPr algn="l"/>
            <a:r>
              <a:rPr sz="950" b="0">
                <a:solidFill>
                  <a:srgbClr val="FFFFFF"/>
                </a:solidFill>
              </a:rPr>
              <a:t>Commanders act on real-time, trusted data — THIS IS WHAT YOU ENABLE</a:t>
            </a:r>
          </a:p>
        </p:txBody>
      </p:sp>
      <p:sp>
        <p:nvSpPr>
          <p:cNvPr id="25" name="Rectangle 24"/>
          <p:cNvSpPr/>
          <p:nvPr/>
        </p:nvSpPr>
        <p:spPr>
          <a:xfrm>
            <a:off x="7498079" y="3474720"/>
            <a:ext cx="4114800" cy="1920240"/>
          </a:xfrm>
          <a:prstGeom prst="rect">
            <a:avLst/>
          </a:prstGeom>
          <a:solidFill>
            <a:srgbClr val="0D1F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62672" y="3611880"/>
            <a:ext cx="3840480" cy="1691640"/>
          </a:xfrm>
          <a:prstGeom prst="rect">
            <a:avLst/>
          </a:prstGeom>
          <a:noFill/>
        </p:spPr>
        <p:txBody>
          <a:bodyPr wrap="square">
            <a:spAutoFit/>
          </a:bodyPr>
          <a:lstStyle/>
          <a:p>
            <a:r>
              <a:rPr sz="1050" b="0">
                <a:solidFill>
                  <a:srgbClr val="C89A00"/>
                </a:solidFill>
              </a:rPr>
              <a:t>YOU OPERATE HERE</a:t>
            </a:r>
          </a:p>
          <a:p>
            <a:r>
              <a:rPr sz="1050" b="0">
                <a:solidFill>
                  <a:srgbClr val="C89A00"/>
                </a:solidFill>
              </a:rPr>
              <a:t/>
            </a:r>
          </a:p>
          <a:p>
            <a:r>
              <a:rPr sz="1050" b="0">
                <a:solidFill>
                  <a:srgbClr val="C89A00"/>
                </a:solidFill>
              </a:rPr>
              <a:t>Applications surface the data that builders have</a:t>
            </a:r>
          </a:p>
          <a:p>
            <a:r>
              <a:rPr sz="1050" b="0">
                <a:solidFill>
                  <a:srgbClr val="C89A00"/>
                </a:solidFill>
              </a:rPr>
              <a:t>structured and engineers have pipelined.</a:t>
            </a:r>
          </a:p>
          <a:p>
            <a:r>
              <a:rPr sz="1050" b="0">
                <a:solidFill>
                  <a:srgbClr val="C89A00"/>
                </a:solidFill>
              </a:rPr>
              <a:t/>
            </a:r>
          </a:p>
          <a:p>
            <a:r>
              <a:rPr sz="1050" b="0">
                <a:solidFill>
                  <a:srgbClr val="C89A00"/>
                </a:solidFill>
              </a:rPr>
              <a:t>Your job: use it accurately, report what's wrong,</a:t>
            </a:r>
          </a:p>
          <a:p>
            <a:r>
              <a:rPr sz="1050" b="0">
                <a:solidFill>
                  <a:srgbClr val="C89A00"/>
                </a:solidFill>
              </a:rPr>
              <a:t>and make sure the commander's picture is right.</a:t>
            </a:r>
          </a:p>
        </p:txBody>
      </p:sp>
      <p:sp>
        <p:nvSpPr>
          <p:cNvPr id="27" name="TextBox 26"/>
          <p:cNvSpPr txBox="1"/>
          <p:nvPr/>
        </p:nvSpPr>
        <p:spPr>
          <a:xfrm>
            <a:off x="274320" y="6510528"/>
            <a:ext cx="11430000" cy="256032"/>
          </a:xfrm>
          <a:prstGeom prst="rect">
            <a:avLst/>
          </a:prstGeom>
          <a:noFill/>
        </p:spPr>
        <p:txBody>
          <a:bodyPr wrap="square">
            <a:spAutoFit/>
          </a:bodyPr>
          <a:lstStyle/>
          <a:p>
            <a:pPr algn="l"/>
            <a:r>
              <a:rPr sz="800" b="0">
                <a:solidFill>
                  <a:srgbClr val="18335F"/>
                </a:solidFill>
              </a:rPr>
              <a:t>USAREUR-AF  ·  C2DAO  ·  MSS-TM10  ·  MAR 2026  ·  UNCLASSIFIED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1140702" cy="283464"/>
          </a:xfrm>
          <a:prstGeom prst="rect">
            <a:avLst/>
          </a:prstGeom>
          <a:noFill/>
        </p:spPr>
        <p:txBody>
          <a:bodyPr wrap="square">
            <a:spAutoFit/>
          </a:bodyPr>
          <a:lstStyle/>
          <a:p>
            <a:pPr algn="l"/>
            <a:r>
              <a:rPr sz="800" b="0">
                <a:solidFill>
                  <a:srgbClr val="18335F"/>
                </a:solidFill>
              </a:rPr>
              <a:t>UNCLASSIFIED</a:t>
            </a:r>
          </a:p>
        </p:txBody>
      </p:sp>
      <p:sp>
        <p:nvSpPr>
          <p:cNvPr id="3" name="TextBox 2"/>
          <p:cNvSpPr txBox="1"/>
          <p:nvPr/>
        </p:nvSpPr>
        <p:spPr>
          <a:xfrm>
            <a:off x="0" y="6574536"/>
            <a:ext cx="11140702" cy="283464"/>
          </a:xfrm>
          <a:prstGeom prst="rect">
            <a:avLst/>
          </a:prstGeom>
          <a:noFill/>
        </p:spPr>
        <p:txBody>
          <a:bodyPr wrap="square">
            <a:spAutoFit/>
          </a:bodyPr>
          <a:lstStyle/>
          <a:p>
            <a:pPr algn="l"/>
            <a:r>
              <a:rPr sz="800" b="0">
                <a:solidFill>
                  <a:srgbClr val="18335F"/>
                </a:solidFill>
              </a:rPr>
              <a:t>UNCLASSIFIED</a:t>
            </a:r>
          </a:p>
        </p:txBody>
      </p:sp>
      <p:sp>
        <p:nvSpPr>
          <p:cNvPr id="4" name="TextBox 3"/>
          <p:cNvSpPr txBox="1"/>
          <p:nvPr/>
        </p:nvSpPr>
        <p:spPr>
          <a:xfrm>
            <a:off x="365760" y="320040"/>
            <a:ext cx="10058400" cy="411480"/>
          </a:xfrm>
          <a:prstGeom prst="rect">
            <a:avLst/>
          </a:prstGeom>
          <a:noFill/>
        </p:spPr>
        <p:txBody>
          <a:bodyPr wrap="square">
            <a:spAutoFit/>
          </a:bodyPr>
          <a:lstStyle/>
          <a:p>
            <a:pPr algn="l"/>
            <a:r>
              <a:rPr sz="1800" b="1">
                <a:solidFill>
                  <a:srgbClr val="17325C"/>
                </a:solidFill>
              </a:rPr>
              <a:t>WHAT YOU'LL DO IN MSS</a:t>
            </a:r>
          </a:p>
        </p:txBody>
      </p:sp>
      <p:sp>
        <p:nvSpPr>
          <p:cNvPr id="5" name="TextBox 4"/>
          <p:cNvSpPr txBox="1"/>
          <p:nvPr/>
        </p:nvSpPr>
        <p:spPr>
          <a:xfrm>
            <a:off x="365760" y="804672"/>
            <a:ext cx="11155680" cy="320040"/>
          </a:xfrm>
          <a:prstGeom prst="rect">
            <a:avLst/>
          </a:prstGeom>
          <a:noFill/>
        </p:spPr>
        <p:txBody>
          <a:bodyPr wrap="square">
            <a:spAutoFit/>
          </a:bodyPr>
          <a:lstStyle/>
          <a:p>
            <a:pPr algn="l"/>
            <a:r>
              <a:rPr sz="1100" b="0">
                <a:solidFill>
                  <a:srgbClr val="264D7E"/>
                </a:solidFill>
              </a:rPr>
              <a:t>These are the tasks you will perform as an MSS user.</a:t>
            </a:r>
          </a:p>
        </p:txBody>
      </p:sp>
      <p:sp>
        <p:nvSpPr>
          <p:cNvPr id="6" name="Rectangle 5"/>
          <p:cNvSpPr/>
          <p:nvPr/>
        </p:nvSpPr>
        <p:spPr>
          <a:xfrm>
            <a:off x="274320" y="1188720"/>
            <a:ext cx="3566160" cy="411480"/>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84048" y="1225296"/>
            <a:ext cx="3383280" cy="365760"/>
          </a:xfrm>
          <a:prstGeom prst="rect">
            <a:avLst/>
          </a:prstGeom>
          <a:noFill/>
        </p:spPr>
        <p:txBody>
          <a:bodyPr wrap="square">
            <a:spAutoFit/>
          </a:bodyPr>
          <a:lstStyle/>
          <a:p>
            <a:pPr algn="l"/>
            <a:r>
              <a:rPr sz="1000" b="1">
                <a:solidFill>
                  <a:srgbClr val="FFFFFF"/>
                </a:solidFill>
              </a:rPr>
              <a:t>FIND &amp; READ INFORMATION</a:t>
            </a:r>
          </a:p>
        </p:txBody>
      </p:sp>
      <p:sp>
        <p:nvSpPr>
          <p:cNvPr id="8" name="Rectangle 7"/>
          <p:cNvSpPr/>
          <p:nvPr/>
        </p:nvSpPr>
        <p:spPr>
          <a:xfrm>
            <a:off x="274320" y="1600200"/>
            <a:ext cx="3566160" cy="4251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755648"/>
            <a:ext cx="3337560" cy="640080"/>
          </a:xfrm>
          <a:prstGeom prst="rect">
            <a:avLst/>
          </a:prstGeom>
          <a:noFill/>
        </p:spPr>
        <p:txBody>
          <a:bodyPr wrap="square">
            <a:spAutoFit/>
          </a:bodyPr>
          <a:lstStyle/>
          <a:p>
            <a:pPr algn="l"/>
            <a:r>
              <a:rPr sz="1050" b="0">
                <a:solidFill>
                  <a:srgbClr val="0D1F3C"/>
                </a:solidFill>
              </a:rPr>
              <a:t>▸  Navigate to your unit's applications</a:t>
            </a:r>
          </a:p>
        </p:txBody>
      </p:sp>
      <p:sp>
        <p:nvSpPr>
          <p:cNvPr id="10" name="TextBox 9"/>
          <p:cNvSpPr txBox="1"/>
          <p:nvPr/>
        </p:nvSpPr>
        <p:spPr>
          <a:xfrm>
            <a:off x="411480" y="2441448"/>
            <a:ext cx="3337560" cy="640080"/>
          </a:xfrm>
          <a:prstGeom prst="rect">
            <a:avLst/>
          </a:prstGeom>
          <a:noFill/>
        </p:spPr>
        <p:txBody>
          <a:bodyPr wrap="square">
            <a:spAutoFit/>
          </a:bodyPr>
          <a:lstStyle/>
          <a:p>
            <a:pPr algn="l"/>
            <a:r>
              <a:rPr sz="1050" b="0">
                <a:solidFill>
                  <a:srgbClr val="0D1F3C"/>
                </a:solidFill>
              </a:rPr>
              <a:t>▸  Read readiness and status dashboards</a:t>
            </a:r>
          </a:p>
        </p:txBody>
      </p:sp>
      <p:sp>
        <p:nvSpPr>
          <p:cNvPr id="11" name="TextBox 10"/>
          <p:cNvSpPr txBox="1"/>
          <p:nvPr/>
        </p:nvSpPr>
        <p:spPr>
          <a:xfrm>
            <a:off x="411480" y="3127248"/>
            <a:ext cx="3337560" cy="640080"/>
          </a:xfrm>
          <a:prstGeom prst="rect">
            <a:avLst/>
          </a:prstGeom>
          <a:noFill/>
        </p:spPr>
        <p:txBody>
          <a:bodyPr wrap="square">
            <a:spAutoFit/>
          </a:bodyPr>
          <a:lstStyle/>
          <a:p>
            <a:pPr algn="l"/>
            <a:r>
              <a:rPr sz="1050" b="0">
                <a:solidFill>
                  <a:srgbClr val="0D1F3C"/>
                </a:solidFill>
              </a:rPr>
              <a:t>▸  Search for specific soldiers, vehicles, or events</a:t>
            </a:r>
          </a:p>
        </p:txBody>
      </p:sp>
      <p:sp>
        <p:nvSpPr>
          <p:cNvPr id="12" name="TextBox 11"/>
          <p:cNvSpPr txBox="1"/>
          <p:nvPr/>
        </p:nvSpPr>
        <p:spPr>
          <a:xfrm>
            <a:off x="411480" y="3813048"/>
            <a:ext cx="3337560" cy="640080"/>
          </a:xfrm>
          <a:prstGeom prst="rect">
            <a:avLst/>
          </a:prstGeom>
          <a:noFill/>
        </p:spPr>
        <p:txBody>
          <a:bodyPr wrap="square">
            <a:spAutoFit/>
          </a:bodyPr>
          <a:lstStyle/>
          <a:p>
            <a:pPr algn="l"/>
            <a:r>
              <a:rPr sz="1050" b="0">
                <a:solidFill>
                  <a:srgbClr val="0D1F3C"/>
                </a:solidFill>
              </a:rPr>
              <a:t>▸  Filter and sort data to find what you need</a:t>
            </a:r>
          </a:p>
        </p:txBody>
      </p:sp>
      <p:sp>
        <p:nvSpPr>
          <p:cNvPr id="13" name="TextBox 12"/>
          <p:cNvSpPr txBox="1"/>
          <p:nvPr/>
        </p:nvSpPr>
        <p:spPr>
          <a:xfrm>
            <a:off x="411480" y="4498848"/>
            <a:ext cx="3337560" cy="640080"/>
          </a:xfrm>
          <a:prstGeom prst="rect">
            <a:avLst/>
          </a:prstGeom>
          <a:noFill/>
        </p:spPr>
        <p:txBody>
          <a:bodyPr wrap="square">
            <a:spAutoFit/>
          </a:bodyPr>
          <a:lstStyle/>
          <a:p>
            <a:pPr algn="l"/>
            <a:r>
              <a:rPr sz="1050" b="0">
                <a:solidFill>
                  <a:srgbClr val="0D1F3C"/>
                </a:solidFill>
              </a:rPr>
              <a:t>▸  Understand what the data is telling you</a:t>
            </a:r>
          </a:p>
        </p:txBody>
      </p:sp>
      <p:sp>
        <p:nvSpPr>
          <p:cNvPr id="14" name="Rectangle 13"/>
          <p:cNvSpPr/>
          <p:nvPr/>
        </p:nvSpPr>
        <p:spPr>
          <a:xfrm>
            <a:off x="4096512" y="1188720"/>
            <a:ext cx="3566160" cy="411480"/>
          </a:xfrm>
          <a:prstGeom prst="rect">
            <a:avLst/>
          </a:prstGeom>
          <a:solidFill>
            <a:srgbClr val="1A78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1225296"/>
            <a:ext cx="3383280" cy="365760"/>
          </a:xfrm>
          <a:prstGeom prst="rect">
            <a:avLst/>
          </a:prstGeom>
          <a:noFill/>
        </p:spPr>
        <p:txBody>
          <a:bodyPr wrap="square">
            <a:spAutoFit/>
          </a:bodyPr>
          <a:lstStyle/>
          <a:p>
            <a:pPr algn="l"/>
            <a:r>
              <a:rPr sz="1000" b="1">
                <a:solidFill>
                  <a:srgbClr val="FFFFFF"/>
                </a:solidFill>
              </a:rPr>
              <a:t>SUBMIT &amp; RECORD DATA</a:t>
            </a:r>
          </a:p>
        </p:txBody>
      </p:sp>
      <p:sp>
        <p:nvSpPr>
          <p:cNvPr id="16" name="Rectangle 15"/>
          <p:cNvSpPr/>
          <p:nvPr/>
        </p:nvSpPr>
        <p:spPr>
          <a:xfrm>
            <a:off x="4096512" y="1600200"/>
            <a:ext cx="3566160" cy="4251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33672" y="1755648"/>
            <a:ext cx="3337560" cy="640080"/>
          </a:xfrm>
          <a:prstGeom prst="rect">
            <a:avLst/>
          </a:prstGeom>
          <a:noFill/>
        </p:spPr>
        <p:txBody>
          <a:bodyPr wrap="square">
            <a:spAutoFit/>
          </a:bodyPr>
          <a:lstStyle/>
          <a:p>
            <a:pPr algn="l"/>
            <a:r>
              <a:rPr sz="1050" b="0">
                <a:solidFill>
                  <a:srgbClr val="0D1F3C"/>
                </a:solidFill>
              </a:rPr>
              <a:t>▸  Enter status updates through authorized forms</a:t>
            </a:r>
          </a:p>
        </p:txBody>
      </p:sp>
      <p:sp>
        <p:nvSpPr>
          <p:cNvPr id="18" name="TextBox 17"/>
          <p:cNvSpPr txBox="1"/>
          <p:nvPr/>
        </p:nvSpPr>
        <p:spPr>
          <a:xfrm>
            <a:off x="4233672" y="2441448"/>
            <a:ext cx="3337560" cy="640080"/>
          </a:xfrm>
          <a:prstGeom prst="rect">
            <a:avLst/>
          </a:prstGeom>
          <a:noFill/>
        </p:spPr>
        <p:txBody>
          <a:bodyPr wrap="square">
            <a:spAutoFit/>
          </a:bodyPr>
          <a:lstStyle/>
          <a:p>
            <a:pPr algn="l"/>
            <a:r>
              <a:rPr sz="1050" b="0">
                <a:solidFill>
                  <a:srgbClr val="0D1F3C"/>
                </a:solidFill>
              </a:rPr>
              <a:t>▸  Submit action requests through workflows</a:t>
            </a:r>
          </a:p>
        </p:txBody>
      </p:sp>
      <p:sp>
        <p:nvSpPr>
          <p:cNvPr id="19" name="TextBox 18"/>
          <p:cNvSpPr txBox="1"/>
          <p:nvPr/>
        </p:nvSpPr>
        <p:spPr>
          <a:xfrm>
            <a:off x="4233672" y="3127248"/>
            <a:ext cx="3337560" cy="640080"/>
          </a:xfrm>
          <a:prstGeom prst="rect">
            <a:avLst/>
          </a:prstGeom>
          <a:noFill/>
        </p:spPr>
        <p:txBody>
          <a:bodyPr wrap="square">
            <a:spAutoFit/>
          </a:bodyPr>
          <a:lstStyle/>
          <a:p>
            <a:pPr algn="l"/>
            <a:r>
              <a:rPr sz="1050" b="0">
                <a:solidFill>
                  <a:srgbClr val="0D1F3C"/>
                </a:solidFill>
              </a:rPr>
              <a:t>▸  Record events and observations accurately</a:t>
            </a:r>
          </a:p>
        </p:txBody>
      </p:sp>
      <p:sp>
        <p:nvSpPr>
          <p:cNvPr id="20" name="TextBox 19"/>
          <p:cNvSpPr txBox="1"/>
          <p:nvPr/>
        </p:nvSpPr>
        <p:spPr>
          <a:xfrm>
            <a:off x="4233672" y="3813048"/>
            <a:ext cx="3337560" cy="640080"/>
          </a:xfrm>
          <a:prstGeom prst="rect">
            <a:avLst/>
          </a:prstGeom>
          <a:noFill/>
        </p:spPr>
        <p:txBody>
          <a:bodyPr wrap="square">
            <a:spAutoFit/>
          </a:bodyPr>
          <a:lstStyle/>
          <a:p>
            <a:pPr algn="l"/>
            <a:r>
              <a:rPr sz="1050" b="0">
                <a:solidFill>
                  <a:srgbClr val="0D1F3C"/>
                </a:solidFill>
              </a:rPr>
              <a:t>▸  Verify your entry appeared correctly</a:t>
            </a:r>
          </a:p>
        </p:txBody>
      </p:sp>
      <p:sp>
        <p:nvSpPr>
          <p:cNvPr id="21" name="TextBox 20"/>
          <p:cNvSpPr txBox="1"/>
          <p:nvPr/>
        </p:nvSpPr>
        <p:spPr>
          <a:xfrm>
            <a:off x="4233672" y="4498848"/>
            <a:ext cx="3337560" cy="640080"/>
          </a:xfrm>
          <a:prstGeom prst="rect">
            <a:avLst/>
          </a:prstGeom>
          <a:noFill/>
        </p:spPr>
        <p:txBody>
          <a:bodyPr wrap="square">
            <a:spAutoFit/>
          </a:bodyPr>
          <a:lstStyle/>
          <a:p>
            <a:pPr algn="l"/>
            <a:r>
              <a:rPr sz="1050" b="0">
                <a:solidFill>
                  <a:srgbClr val="0D1F3C"/>
                </a:solidFill>
              </a:rPr>
              <a:t>▸  Never guess — if you don't know the value, find out</a:t>
            </a:r>
          </a:p>
        </p:txBody>
      </p:sp>
      <p:sp>
        <p:nvSpPr>
          <p:cNvPr id="22" name="Rectangle 21"/>
          <p:cNvSpPr/>
          <p:nvPr/>
        </p:nvSpPr>
        <p:spPr>
          <a:xfrm>
            <a:off x="7918704" y="1188720"/>
            <a:ext cx="3566160" cy="411480"/>
          </a:xfrm>
          <a:prstGeom prst="rect">
            <a:avLst/>
          </a:prstGeom>
          <a:solidFill>
            <a:srgbClr val="264D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28432" y="1225296"/>
            <a:ext cx="3383280" cy="365760"/>
          </a:xfrm>
          <a:prstGeom prst="rect">
            <a:avLst/>
          </a:prstGeom>
          <a:noFill/>
        </p:spPr>
        <p:txBody>
          <a:bodyPr wrap="square">
            <a:spAutoFit/>
          </a:bodyPr>
          <a:lstStyle/>
          <a:p>
            <a:pPr algn="l"/>
            <a:r>
              <a:rPr sz="1000" b="1">
                <a:solidFill>
                  <a:srgbClr val="FFFFFF"/>
                </a:solidFill>
              </a:rPr>
              <a:t>USE AI &amp; REPORT PROBLEMS</a:t>
            </a:r>
          </a:p>
        </p:txBody>
      </p:sp>
      <p:sp>
        <p:nvSpPr>
          <p:cNvPr id="24" name="Rectangle 23"/>
          <p:cNvSpPr/>
          <p:nvPr/>
        </p:nvSpPr>
        <p:spPr>
          <a:xfrm>
            <a:off x="7918704" y="1600200"/>
            <a:ext cx="3566160" cy="4251960"/>
          </a:xfrm>
          <a:prstGeom prst="rect">
            <a:avLst/>
          </a:prstGeom>
          <a:solidFill>
            <a:srgbClr val="F5F6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055864" y="1755648"/>
            <a:ext cx="3337560" cy="640080"/>
          </a:xfrm>
          <a:prstGeom prst="rect">
            <a:avLst/>
          </a:prstGeom>
          <a:noFill/>
        </p:spPr>
        <p:txBody>
          <a:bodyPr wrap="square">
            <a:spAutoFit/>
          </a:bodyPr>
          <a:lstStyle/>
          <a:p>
            <a:pPr algn="l"/>
            <a:r>
              <a:rPr sz="1050" b="0">
                <a:solidFill>
                  <a:srgbClr val="0D1F3C"/>
                </a:solidFill>
              </a:rPr>
              <a:t>▸  Use the AI assistant (AIP) to query unit data</a:t>
            </a:r>
          </a:p>
        </p:txBody>
      </p:sp>
      <p:sp>
        <p:nvSpPr>
          <p:cNvPr id="26" name="TextBox 25"/>
          <p:cNvSpPr txBox="1"/>
          <p:nvPr/>
        </p:nvSpPr>
        <p:spPr>
          <a:xfrm>
            <a:off x="8055864" y="2441448"/>
            <a:ext cx="3337560" cy="640080"/>
          </a:xfrm>
          <a:prstGeom prst="rect">
            <a:avLst/>
          </a:prstGeom>
          <a:noFill/>
        </p:spPr>
        <p:txBody>
          <a:bodyPr wrap="square">
            <a:spAutoFit/>
          </a:bodyPr>
          <a:lstStyle/>
          <a:p>
            <a:pPr algn="l"/>
            <a:r>
              <a:rPr sz="1050" b="0">
                <a:solidFill>
                  <a:srgbClr val="0D1F3C"/>
                </a:solidFill>
              </a:rPr>
              <a:t>▸  Verify AI answers before briefing them</a:t>
            </a:r>
          </a:p>
        </p:txBody>
      </p:sp>
      <p:sp>
        <p:nvSpPr>
          <p:cNvPr id="27" name="TextBox 26"/>
          <p:cNvSpPr txBox="1"/>
          <p:nvPr/>
        </p:nvSpPr>
        <p:spPr>
          <a:xfrm>
            <a:off x="8055864" y="3127248"/>
            <a:ext cx="3337560" cy="640080"/>
          </a:xfrm>
          <a:prstGeom prst="rect">
            <a:avLst/>
          </a:prstGeom>
          <a:noFill/>
        </p:spPr>
        <p:txBody>
          <a:bodyPr wrap="square">
            <a:spAutoFit/>
          </a:bodyPr>
          <a:lstStyle/>
          <a:p>
            <a:pPr algn="l"/>
            <a:r>
              <a:rPr sz="1050" b="0">
                <a:solidFill>
                  <a:srgbClr val="0D1F3C"/>
                </a:solidFill>
              </a:rPr>
              <a:t>▸  Identify and report data accuracy problems</a:t>
            </a:r>
          </a:p>
        </p:txBody>
      </p:sp>
      <p:sp>
        <p:nvSpPr>
          <p:cNvPr id="28" name="TextBox 27"/>
          <p:cNvSpPr txBox="1"/>
          <p:nvPr/>
        </p:nvSpPr>
        <p:spPr>
          <a:xfrm>
            <a:off x="8055864" y="3813048"/>
            <a:ext cx="3337560" cy="640080"/>
          </a:xfrm>
          <a:prstGeom prst="rect">
            <a:avLst/>
          </a:prstGeom>
          <a:noFill/>
        </p:spPr>
        <p:txBody>
          <a:bodyPr wrap="square">
            <a:spAutoFit/>
          </a:bodyPr>
          <a:lstStyle/>
          <a:p>
            <a:pPr algn="l"/>
            <a:r>
              <a:rPr sz="1050" b="0">
                <a:solidFill>
                  <a:srgbClr val="0D1F3C"/>
                </a:solidFill>
              </a:rPr>
              <a:t>▸  Contact your unit data manager with issues</a:t>
            </a:r>
          </a:p>
        </p:txBody>
      </p:sp>
      <p:sp>
        <p:nvSpPr>
          <p:cNvPr id="29" name="TextBox 28"/>
          <p:cNvSpPr txBox="1"/>
          <p:nvPr/>
        </p:nvSpPr>
        <p:spPr>
          <a:xfrm>
            <a:off x="8055864" y="4498848"/>
            <a:ext cx="3337560" cy="640080"/>
          </a:xfrm>
          <a:prstGeom prst="rect">
            <a:avLst/>
          </a:prstGeom>
          <a:noFill/>
        </p:spPr>
        <p:txBody>
          <a:bodyPr wrap="square">
            <a:spAutoFit/>
          </a:bodyPr>
          <a:lstStyle/>
          <a:p>
            <a:pPr algn="l"/>
            <a:r>
              <a:rPr sz="1050" b="0">
                <a:solidFill>
                  <a:srgbClr val="0D1F3C"/>
                </a:solidFill>
              </a:rPr>
              <a:t>▸  Follow your unit's data handling and security SOP</a:t>
            </a:r>
          </a:p>
        </p:txBody>
      </p:sp>
      <p:sp>
        <p:nvSpPr>
          <p:cNvPr id="30" name="TextBox 29"/>
          <p:cNvSpPr txBox="1"/>
          <p:nvPr/>
        </p:nvSpPr>
        <p:spPr>
          <a:xfrm>
            <a:off x="274320" y="6510528"/>
            <a:ext cx="11430000" cy="256032"/>
          </a:xfrm>
          <a:prstGeom prst="rect">
            <a:avLst/>
          </a:prstGeom>
          <a:noFill/>
        </p:spPr>
        <p:txBody>
          <a:bodyPr wrap="square">
            <a:spAutoFit/>
          </a:bodyPr>
          <a:lstStyle/>
          <a:p>
            <a:pPr algn="l"/>
            <a:r>
              <a:rPr sz="800" b="0">
                <a:solidFill>
                  <a:srgbClr val="18335F"/>
                </a:solidFill>
              </a:rPr>
              <a:t>USAREUR-AF  ·  C2DAO  ·  MSS-TM10  ·  MAR 2026  ·  UNCLASSIFIED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0" y="0"/>
            <a:ext cx="11140702" cy="283464"/>
          </a:xfrm>
          <a:prstGeom prst="rect">
            <a:avLst/>
          </a:prstGeom>
          <a:noFill/>
        </p:spPr>
        <p:txBody>
          <a:bodyPr wrap="square">
            <a:spAutoFit/>
          </a:bodyPr>
          <a:lstStyle/>
          <a:p>
            <a:pPr algn="l"/>
            <a:r>
              <a:rPr sz="800" b="0">
                <a:solidFill>
                  <a:srgbClr val="18335F"/>
                </a:solidFill>
              </a:rPr>
              <a:t>UNCLASSIFIED</a:t>
            </a:r>
          </a:p>
        </p:txBody>
      </p:sp>
      <p:sp>
        <p:nvSpPr>
          <p:cNvPr id="3" name="TextBox 2"/>
          <p:cNvSpPr txBox="1"/>
          <p:nvPr/>
        </p:nvSpPr>
        <p:spPr>
          <a:xfrm>
            <a:off x="0" y="6574536"/>
            <a:ext cx="11140702" cy="283464"/>
          </a:xfrm>
          <a:prstGeom prst="rect">
            <a:avLst/>
          </a:prstGeom>
          <a:noFill/>
        </p:spPr>
        <p:txBody>
          <a:bodyPr wrap="square">
            <a:spAutoFit/>
          </a:bodyPr>
          <a:lstStyle/>
          <a:p>
            <a:pPr algn="l"/>
            <a:r>
              <a:rPr sz="800" b="0">
                <a:solidFill>
                  <a:srgbClr val="18335F"/>
                </a:solidFill>
              </a:rPr>
              <a:t>UNCLASSIFIED</a:t>
            </a:r>
          </a:p>
        </p:txBody>
      </p:sp>
      <p:sp>
        <p:nvSpPr>
          <p:cNvPr id="4" name="Rectangle 3"/>
          <p:cNvSpPr/>
          <p:nvPr/>
        </p:nvSpPr>
        <p:spPr>
          <a:xfrm>
            <a:off x="0" y="548640"/>
            <a:ext cx="12188952" cy="6035040"/>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051560"/>
            <a:ext cx="10058400" cy="731520"/>
          </a:xfrm>
          <a:prstGeom prst="rect">
            <a:avLst/>
          </a:prstGeom>
          <a:noFill/>
        </p:spPr>
        <p:txBody>
          <a:bodyPr wrap="square">
            <a:spAutoFit/>
          </a:bodyPr>
          <a:lstStyle/>
          <a:p>
            <a:pPr algn="ctr"/>
            <a:r>
              <a:rPr sz="3600" b="1">
                <a:solidFill>
                  <a:srgbClr val="FFFFFF"/>
                </a:solidFill>
              </a:rPr>
              <a:t>YOUR MISSION</a:t>
            </a:r>
          </a:p>
        </p:txBody>
      </p:sp>
      <p:sp>
        <p:nvSpPr>
          <p:cNvPr id="6" name="TextBox 5"/>
          <p:cNvSpPr txBox="1"/>
          <p:nvPr/>
        </p:nvSpPr>
        <p:spPr>
          <a:xfrm>
            <a:off x="1371600" y="1874519"/>
            <a:ext cx="9144000" cy="594360"/>
          </a:xfrm>
          <a:prstGeom prst="rect">
            <a:avLst/>
          </a:prstGeom>
          <a:noFill/>
        </p:spPr>
        <p:txBody>
          <a:bodyPr wrap="square">
            <a:spAutoFit/>
          </a:bodyPr>
          <a:lstStyle/>
          <a:p>
            <a:pPr algn="ctr"/>
            <a:r>
              <a:rPr sz="2000" b="0">
                <a:solidFill>
                  <a:srgbClr val="C89A00"/>
                </a:solidFill>
              </a:rPr>
              <a:t>Use the data architecture that enables enterprise capability — accurately.</a:t>
            </a:r>
          </a:p>
        </p:txBody>
      </p:sp>
      <p:sp>
        <p:nvSpPr>
          <p:cNvPr id="7" name="Rectangle 6"/>
          <p:cNvSpPr/>
          <p:nvPr/>
        </p:nvSpPr>
        <p:spPr>
          <a:xfrm>
            <a:off x="1097280" y="2743200"/>
            <a:ext cx="502920" cy="502920"/>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807208"/>
            <a:ext cx="274320" cy="365760"/>
          </a:xfrm>
          <a:prstGeom prst="rect">
            <a:avLst/>
          </a:prstGeom>
          <a:noFill/>
        </p:spPr>
        <p:txBody>
          <a:bodyPr wrap="square">
            <a:spAutoFit/>
          </a:bodyPr>
          <a:lstStyle/>
          <a:p>
            <a:pPr algn="ctr"/>
            <a:r>
              <a:rPr sz="1600" b="1">
                <a:solidFill>
                  <a:srgbClr val="FFFFFF"/>
                </a:solidFill>
              </a:rPr>
              <a:t>✓</a:t>
            </a:r>
          </a:p>
        </p:txBody>
      </p:sp>
      <p:sp>
        <p:nvSpPr>
          <p:cNvPr id="9" name="TextBox 8"/>
          <p:cNvSpPr txBox="1"/>
          <p:nvPr/>
        </p:nvSpPr>
        <p:spPr>
          <a:xfrm>
            <a:off x="1737360" y="2807208"/>
            <a:ext cx="8686800" cy="457200"/>
          </a:xfrm>
          <a:prstGeom prst="rect">
            <a:avLst/>
          </a:prstGeom>
          <a:noFill/>
        </p:spPr>
        <p:txBody>
          <a:bodyPr wrap="square">
            <a:spAutoFit/>
          </a:bodyPr>
          <a:lstStyle/>
          <a:p>
            <a:pPr algn="l"/>
            <a:r>
              <a:rPr sz="1300" b="0">
                <a:solidFill>
                  <a:srgbClr val="FFFFFF"/>
                </a:solidFill>
              </a:rPr>
              <a:t>The Army has built live data infrastructure. Your job is to use it — not to build it.</a:t>
            </a:r>
          </a:p>
        </p:txBody>
      </p:sp>
      <p:sp>
        <p:nvSpPr>
          <p:cNvPr id="10" name="Rectangle 9"/>
          <p:cNvSpPr/>
          <p:nvPr/>
        </p:nvSpPr>
        <p:spPr>
          <a:xfrm>
            <a:off x="1097280" y="3566160"/>
            <a:ext cx="502920" cy="502920"/>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3630168"/>
            <a:ext cx="274320" cy="365760"/>
          </a:xfrm>
          <a:prstGeom prst="rect">
            <a:avLst/>
          </a:prstGeom>
          <a:noFill/>
        </p:spPr>
        <p:txBody>
          <a:bodyPr wrap="square">
            <a:spAutoFit/>
          </a:bodyPr>
          <a:lstStyle/>
          <a:p>
            <a:pPr algn="ctr"/>
            <a:r>
              <a:rPr sz="1600" b="1">
                <a:solidFill>
                  <a:srgbClr val="FFFFFF"/>
                </a:solidFill>
              </a:rPr>
              <a:t>✓</a:t>
            </a:r>
          </a:p>
        </p:txBody>
      </p:sp>
      <p:sp>
        <p:nvSpPr>
          <p:cNvPr id="12" name="TextBox 11"/>
          <p:cNvSpPr txBox="1"/>
          <p:nvPr/>
        </p:nvSpPr>
        <p:spPr>
          <a:xfrm>
            <a:off x="1737360" y="3630168"/>
            <a:ext cx="8686800" cy="457200"/>
          </a:xfrm>
          <a:prstGeom prst="rect">
            <a:avLst/>
          </a:prstGeom>
          <a:noFill/>
        </p:spPr>
        <p:txBody>
          <a:bodyPr wrap="square">
            <a:spAutoFit/>
          </a:bodyPr>
          <a:lstStyle/>
          <a:p>
            <a:pPr algn="l"/>
            <a:r>
              <a:rPr sz="1300" b="0">
                <a:solidFill>
                  <a:srgbClr val="FFFFFF"/>
                </a:solidFill>
              </a:rPr>
              <a:t>Every form you submit, every status you enter, feeds a commander's real-time picture.</a:t>
            </a:r>
          </a:p>
        </p:txBody>
      </p:sp>
      <p:sp>
        <p:nvSpPr>
          <p:cNvPr id="13" name="Rectangle 12"/>
          <p:cNvSpPr/>
          <p:nvPr/>
        </p:nvSpPr>
        <p:spPr>
          <a:xfrm>
            <a:off x="1097280" y="4389120"/>
            <a:ext cx="502920" cy="502920"/>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4453128"/>
            <a:ext cx="274320" cy="365760"/>
          </a:xfrm>
          <a:prstGeom prst="rect">
            <a:avLst/>
          </a:prstGeom>
          <a:noFill/>
        </p:spPr>
        <p:txBody>
          <a:bodyPr wrap="square">
            <a:spAutoFit/>
          </a:bodyPr>
          <a:lstStyle/>
          <a:p>
            <a:pPr algn="ctr"/>
            <a:r>
              <a:rPr sz="1600" b="1">
                <a:solidFill>
                  <a:srgbClr val="FFFFFF"/>
                </a:solidFill>
              </a:rPr>
              <a:t>✓</a:t>
            </a:r>
          </a:p>
        </p:txBody>
      </p:sp>
      <p:sp>
        <p:nvSpPr>
          <p:cNvPr id="15" name="TextBox 14"/>
          <p:cNvSpPr txBox="1"/>
          <p:nvPr/>
        </p:nvSpPr>
        <p:spPr>
          <a:xfrm>
            <a:off x="1737360" y="4453128"/>
            <a:ext cx="8686800" cy="457200"/>
          </a:xfrm>
          <a:prstGeom prst="rect">
            <a:avLst/>
          </a:prstGeom>
          <a:noFill/>
        </p:spPr>
        <p:txBody>
          <a:bodyPr wrap="square">
            <a:spAutoFit/>
          </a:bodyPr>
          <a:lstStyle/>
          <a:p>
            <a:pPr algn="l"/>
            <a:r>
              <a:rPr sz="1300" b="0">
                <a:solidFill>
                  <a:srgbClr val="FFFFFF"/>
                </a:solidFill>
              </a:rPr>
              <a:t>Accurate data in means accurate decisions out. That is the mission.</a:t>
            </a:r>
          </a:p>
        </p:txBody>
      </p:sp>
      <p:sp>
        <p:nvSpPr>
          <p:cNvPr id="16" name="TextBox 15"/>
          <p:cNvSpPr txBox="1"/>
          <p:nvPr/>
        </p:nvSpPr>
        <p:spPr>
          <a:xfrm>
            <a:off x="274320" y="6510528"/>
            <a:ext cx="11430000" cy="256032"/>
          </a:xfrm>
          <a:prstGeom prst="rect">
            <a:avLst/>
          </a:prstGeom>
          <a:noFill/>
        </p:spPr>
        <p:txBody>
          <a:bodyPr wrap="square">
            <a:spAutoFit/>
          </a:bodyPr>
          <a:lstStyle/>
          <a:p>
            <a:pPr algn="l"/>
            <a:r>
              <a:rPr sz="800" b="0">
                <a:solidFill>
                  <a:srgbClr val="18335F"/>
                </a:solidFill>
              </a:rPr>
              <a:t>USAREUR-AF  ·  C2DAO  ·  MSS-TM10  ·  MAR 2026  ·  UNCLASSIFIED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a:extLst>
              <a:ext uri="{FF2B5EF4-FFF2-40B4-BE49-F238E27FC236}">
                <a16:creationId xmlns:a16="http://schemas.microsoft.com/office/drawing/2014/main" id="{8E715E04-BA43-421C-27BE-4D6053801C15}"/>
              </a:ext>
            </a:extLst>
          </p:cNvPr>
          <p:cNvSpPr txBox="1"/>
          <p:nvPr/>
        </p:nvSpPr>
        <p:spPr>
          <a:xfrm>
            <a:off x="1062990" y="208526"/>
            <a:ext cx="6094476" cy="369332"/>
          </a:xfrm>
          <a:prstGeom prst="rect">
            <a:avLst/>
          </a:prstGeom>
          <a:noFill/>
        </p:spPr>
        <p:txBody>
          <a:bodyPr wrap="square">
            <a:spAutoFit/>
          </a:bodyPr>
          <a:lstStyle/>
          <a:p>
            <a:r>
              <a:rPr sz="1400" b="1">
                <a:solidFill>
                  <a:srgbClr val="17325C"/>
                </a:solidFill>
              </a:rPr>
              <a:t>YOUR MISSION</a:t>
            </a:r>
            <a:endParaRPr lang="en-CA" sz="1400" dirty="0">
              <a:latin typeface="Arial" panose="020B0604020202020204" pitchFamily="34" charset="0"/>
              <a:cs typeface="Arial" panose="020B0604020202020204" pitchFamily="34" charset="0"/>
            </a:endParaRPr>
          </a:p>
        </p:txBody>
      </p:sp>
      <p:sp>
        <p:nvSpPr>
          <p:cNvPr id="2" name="hlSlideMaster.BlankHeader" descr="CLASSIFICATION: UNCLASSIFIED//REL TO CAN, NATO">
            <a:extLst>
              <a:ext uri="{FF2B5EF4-FFF2-40B4-BE49-F238E27FC236}">
                <a16:creationId xmlns:a16="http://schemas.microsoft.com/office/drawing/2014/main" id="{29BF3DA0-AD4D-B0FA-DC24-FE551C0CC702}"/>
              </a:ext>
            </a:extLst>
          </p:cNvPr>
          <p:cNvSpPr txBox="1"/>
          <p:nvPr/>
        </p:nvSpPr>
        <p:spPr>
          <a:xfrm>
            <a:off x="0" y="0"/>
            <a:ext cx="12192000" cy="230832"/>
          </a:xfrm>
          <a:prstGeom prst="rect">
            <a:avLst/>
          </a:prstGeom>
          <a:noFill/>
        </p:spPr>
        <p:txBody>
          <a:bodyPr vert="horz" rtlCol="0">
            <a:spAutoFit/>
          </a:bodyPr>
          <a:lstStyle/>
          <a:p>
            <a:pPr algn="ctr"/>
            <a:r>
              <a:rPr lang="en-CA" sz="900" b="1" i="0" u="none" baseline="0" dirty="0">
                <a:solidFill>
                  <a:srgbClr val="7030A0"/>
                </a:solidFill>
                <a:latin typeface="Arial" panose="020B0604020202020204" pitchFamily="34" charset="0"/>
                <a:cs typeface="Arial" panose="020B0604020202020204" pitchFamily="34" charset="0"/>
              </a:rPr>
              <a:t>UNCLASSIFIED</a:t>
            </a:r>
          </a:p>
        </p:txBody>
      </p:sp>
      <p:sp>
        <p:nvSpPr>
          <p:cNvPr id="7" name="Title 6">
            <a:extLst>
              <a:ext uri="{FF2B5EF4-FFF2-40B4-BE49-F238E27FC236}">
                <a16:creationId xmlns:a16="http://schemas.microsoft.com/office/drawing/2014/main" id="{84985785-28F3-F833-8C85-F13A81C47E38}"/>
              </a:ext>
            </a:extLst>
          </p:cNvPr>
          <p:cNvSpPr>
            <a:spLocks noGrp="1"/>
          </p:cNvSpPr>
          <p:nvPr>
            <p:ph type="title"/>
          </p:nvPr>
        </p:nvSpPr>
        <p:spPr/>
        <p:txBody>
          <a:bodyPr/>
          <a:lstStyle/>
          <a:p>
            <a:endParaRPr lang="en-US" dirty="0">
              <a:latin typeface="Arial" panose="020B0604020202020204" pitchFamily="34" charset="0"/>
              <a:cs typeface="Arial" panose="020B0604020202020204" pitchFamily="34" charset="0"/>
            </a:endParaRPr>
          </a:p>
        </p:txBody>
      </p:sp>
      <p:sp>
        <p:nvSpPr>
          <p:cNvPr id="8" name="TextBox 7"/>
          <p:cNvSpPr txBox="1"/>
          <p:nvPr/>
        </p:nvSpPr>
        <p:spPr>
          <a:xfrm>
            <a:off x="0" y="6629400"/>
            <a:ext cx="12188952" cy="228600"/>
          </a:xfrm>
          <a:prstGeom prst="rect">
            <a:avLst/>
          </a:prstGeom>
          <a:noFill/>
        </p:spPr>
        <p:txBody>
          <a:bodyPr wrap="none">
            <a:spAutoFit/>
          </a:bodyPr>
          <a:lstStyle/>
          <a:p>
            <a:pPr algn="ctr"/>
            <a:r>
              <a:rPr sz="900" b="1">
                <a:solidFill>
                  <a:srgbClr val="7030A0"/>
                </a:solidFill>
              </a:rPr>
              <a:t>UNCLASSIFIED</a:t>
            </a:r>
          </a:p>
        </p:txBody>
      </p:sp>
      <p:sp>
        <p:nvSpPr>
          <p:cNvPr id="9" name="Rectangle 8"/>
          <p:cNvSpPr/>
          <p:nvPr/>
        </p:nvSpPr>
        <p:spPr>
          <a:xfrm>
            <a:off x="137160" y="914400"/>
            <a:ext cx="11914632" cy="36576"/>
          </a:xfrm>
          <a:prstGeom prst="rect">
            <a:avLst/>
          </a:prstGeom>
          <a:solidFill>
            <a:srgbClr val="C89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7160" y="1188719"/>
            <a:ext cx="11914632" cy="731520"/>
          </a:xfrm>
          <a:prstGeom prst="rect">
            <a:avLst/>
          </a:prstGeom>
          <a:noFill/>
        </p:spPr>
        <p:txBody>
          <a:bodyPr wrap="none">
            <a:spAutoFit/>
          </a:bodyPr>
          <a:lstStyle/>
          <a:p>
            <a:pPr algn="ctr"/>
            <a:r>
              <a:rPr sz="4400" b="1" i="0">
                <a:solidFill>
                  <a:srgbClr val="17325C"/>
                </a:solidFill>
              </a:rPr>
              <a:t>YOUR MISSION</a:t>
            </a:r>
          </a:p>
        </p:txBody>
      </p:sp>
      <p:sp>
        <p:nvSpPr>
          <p:cNvPr id="11" name="Rectangle 10"/>
          <p:cNvSpPr/>
          <p:nvPr/>
        </p:nvSpPr>
        <p:spPr>
          <a:xfrm>
            <a:off x="3115818" y="1975104"/>
            <a:ext cx="5957316" cy="36576"/>
          </a:xfrm>
          <a:prstGeom prst="rect">
            <a:avLst/>
          </a:prstGeom>
          <a:solidFill>
            <a:srgbClr val="1732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 y="2157984"/>
            <a:ext cx="11914632" cy="475488"/>
          </a:xfrm>
          <a:prstGeom prst="rect">
            <a:avLst/>
          </a:prstGeom>
          <a:noFill/>
        </p:spPr>
        <p:txBody>
          <a:bodyPr wrap="square">
            <a:spAutoFit/>
          </a:bodyPr>
          <a:lstStyle/>
          <a:p>
            <a:pPr algn="ctr"/>
            <a:r>
              <a:rPr sz="1400" b="0" i="0">
                <a:solidFill>
                  <a:srgbClr val="17325C"/>
                </a:solidFill>
              </a:rPr>
              <a:t>Build the data architecture that turns</a:t>
            </a:r>
          </a:p>
          <a:p>
            <a:pPr algn="ctr"/>
            <a:r>
              <a:rPr sz="1400" b="0" i="0">
                <a:solidFill>
                  <a:srgbClr val="17325C"/>
                </a:solidFill>
              </a:rPr>
              <a:t>enterprise platforms into enterprise capability.</a:t>
            </a:r>
          </a:p>
        </p:txBody>
      </p:sp>
      <p:sp>
        <p:nvSpPr>
          <p:cNvPr id="13" name="Rectangle 12"/>
          <p:cNvSpPr/>
          <p:nvPr/>
        </p:nvSpPr>
        <p:spPr>
          <a:xfrm>
            <a:off x="1051560" y="2926080"/>
            <a:ext cx="384048" cy="38404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2980944"/>
            <a:ext cx="384048" cy="274320"/>
          </a:xfrm>
          <a:prstGeom prst="rect">
            <a:avLst/>
          </a:prstGeom>
          <a:noFill/>
        </p:spPr>
        <p:txBody>
          <a:bodyPr wrap="square">
            <a:spAutoFit/>
          </a:bodyPr>
          <a:lstStyle/>
          <a:p>
            <a:pPr algn="ctr"/>
            <a:r>
              <a:rPr sz="1600" b="1" i="0">
                <a:solidFill>
                  <a:srgbClr val="FFFFFF"/>
                </a:solidFill>
              </a:rPr>
              <a:t>✓</a:t>
            </a:r>
          </a:p>
        </p:txBody>
      </p:sp>
      <p:sp>
        <p:nvSpPr>
          <p:cNvPr id="15" name="TextBox 14"/>
          <p:cNvSpPr txBox="1"/>
          <p:nvPr/>
        </p:nvSpPr>
        <p:spPr>
          <a:xfrm>
            <a:off x="1545336" y="2962656"/>
            <a:ext cx="9592055" cy="329184"/>
          </a:xfrm>
          <a:prstGeom prst="rect">
            <a:avLst/>
          </a:prstGeom>
          <a:noFill/>
        </p:spPr>
        <p:txBody>
          <a:bodyPr wrap="square">
            <a:spAutoFit/>
          </a:bodyPr>
          <a:lstStyle/>
          <a:p>
            <a:pPr algn="l"/>
            <a:r>
              <a:rPr sz="1000" b="0" i="0">
                <a:solidFill>
                  <a:srgbClr val="17325C"/>
                </a:solidFill>
              </a:rPr>
              <a:t>The Army is consolidating hundreds of systems onto enterprise platforms — this is irreversible.</a:t>
            </a:r>
          </a:p>
        </p:txBody>
      </p:sp>
      <p:sp>
        <p:nvSpPr>
          <p:cNvPr id="16" name="Rectangle 15"/>
          <p:cNvSpPr/>
          <p:nvPr/>
        </p:nvSpPr>
        <p:spPr>
          <a:xfrm>
            <a:off x="1051560" y="3547872"/>
            <a:ext cx="384048" cy="38404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3602736"/>
            <a:ext cx="384048" cy="274320"/>
          </a:xfrm>
          <a:prstGeom prst="rect">
            <a:avLst/>
          </a:prstGeom>
          <a:noFill/>
        </p:spPr>
        <p:txBody>
          <a:bodyPr wrap="square">
            <a:spAutoFit/>
          </a:bodyPr>
          <a:lstStyle/>
          <a:p>
            <a:pPr algn="ctr"/>
            <a:r>
              <a:rPr sz="1600" b="1" i="0">
                <a:solidFill>
                  <a:srgbClr val="FFFFFF"/>
                </a:solidFill>
              </a:rPr>
              <a:t>✓</a:t>
            </a:r>
          </a:p>
        </p:txBody>
      </p:sp>
      <p:sp>
        <p:nvSpPr>
          <p:cNvPr id="18" name="TextBox 17"/>
          <p:cNvSpPr txBox="1"/>
          <p:nvPr/>
        </p:nvSpPr>
        <p:spPr>
          <a:xfrm>
            <a:off x="1545336" y="3584448"/>
            <a:ext cx="9592055" cy="329184"/>
          </a:xfrm>
          <a:prstGeom prst="rect">
            <a:avLst/>
          </a:prstGeom>
          <a:noFill/>
        </p:spPr>
        <p:txBody>
          <a:bodyPr wrap="square">
            <a:spAutoFit/>
          </a:bodyPr>
          <a:lstStyle/>
          <a:p>
            <a:pPr algn="l"/>
            <a:r>
              <a:rPr sz="1000" b="0" i="0">
                <a:solidFill>
                  <a:srgbClr val="17325C"/>
                </a:solidFill>
              </a:rPr>
              <a:t>Palantir Foundry is the data and AI backbone. Your work here is foundational.</a:t>
            </a:r>
          </a:p>
        </p:txBody>
      </p:sp>
      <p:sp>
        <p:nvSpPr>
          <p:cNvPr id="19" name="Rectangle 18"/>
          <p:cNvSpPr/>
          <p:nvPr/>
        </p:nvSpPr>
        <p:spPr>
          <a:xfrm>
            <a:off x="1051560" y="4169664"/>
            <a:ext cx="384048" cy="384048"/>
          </a:xfrm>
          <a:prstGeom prst="rect">
            <a:avLst/>
          </a:prstGeom>
          <a:solidFill>
            <a:srgbClr val="2A6E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224528"/>
            <a:ext cx="384048" cy="274320"/>
          </a:xfrm>
          <a:prstGeom prst="rect">
            <a:avLst/>
          </a:prstGeom>
          <a:noFill/>
        </p:spPr>
        <p:txBody>
          <a:bodyPr wrap="square">
            <a:spAutoFit/>
          </a:bodyPr>
          <a:lstStyle/>
          <a:p>
            <a:pPr algn="ctr"/>
            <a:r>
              <a:rPr sz="1600" b="1" i="0">
                <a:solidFill>
                  <a:srgbClr val="FFFFFF"/>
                </a:solidFill>
              </a:rPr>
              <a:t>✓</a:t>
            </a:r>
          </a:p>
        </p:txBody>
      </p:sp>
      <p:sp>
        <p:nvSpPr>
          <p:cNvPr id="21" name="TextBox 20"/>
          <p:cNvSpPr txBox="1"/>
          <p:nvPr/>
        </p:nvSpPr>
        <p:spPr>
          <a:xfrm>
            <a:off x="1545336" y="4206240"/>
            <a:ext cx="9592055" cy="329184"/>
          </a:xfrm>
          <a:prstGeom prst="rect">
            <a:avLst/>
          </a:prstGeom>
          <a:noFill/>
        </p:spPr>
        <p:txBody>
          <a:bodyPr wrap="square">
            <a:spAutoFit/>
          </a:bodyPr>
          <a:lstStyle/>
          <a:p>
            <a:pPr algn="l"/>
            <a:r>
              <a:rPr sz="1000" b="0" i="0">
                <a:solidFill>
                  <a:srgbClr val="17325C"/>
                </a:solidFill>
              </a:rPr>
              <a:t>Without strong data architecture, none of the enterprise vision works. That's your job.</a:t>
            </a:r>
          </a:p>
        </p:txBody>
      </p:sp>
      <p:sp>
        <p:nvSpPr>
          <p:cNvPr id="22" name="TextBox 21"/>
          <p:cNvSpPr txBox="1"/>
          <p:nvPr/>
        </p:nvSpPr>
        <p:spPr>
          <a:xfrm>
            <a:off x="137160" y="6364224"/>
            <a:ext cx="11914632" cy="182880"/>
          </a:xfrm>
          <a:prstGeom prst="rect">
            <a:avLst/>
          </a:prstGeom>
          <a:noFill/>
        </p:spPr>
        <p:txBody>
          <a:bodyPr wrap="none">
            <a:spAutoFit/>
          </a:bodyPr>
          <a:lstStyle/>
          <a:p>
            <a:pPr algn="ctr"/>
            <a:r>
              <a:rPr sz="700" b="0" i="0">
                <a:solidFill>
                  <a:srgbClr val="18335F"/>
                </a:solidFill>
              </a:rPr>
              <a:t>USAREUR-AF  ·  C2DAO  ·  MSS-POI-001  ·  MAR 2026  ·  UNCLASSIFIED</a:t>
            </a:r>
          </a:p>
        </p:txBody>
      </p:sp>
    </p:spTree>
  </p:cSld>
  <p:clrMapOvr>
    <a:masterClrMapping/>
  </p:clrMapOvr>
</p:sld>
</file>

<file path=ppt/theme/theme1.xml><?xml version="1.0" encoding="utf-8"?>
<a:theme xmlns:a="http://schemas.openxmlformats.org/drawingml/2006/main" name="Title Slid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Standard Slide ">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1B12DE73CE5F54CA52A3C1EDD328F5B" ma:contentTypeVersion="3" ma:contentTypeDescription="Create a new document." ma:contentTypeScope="" ma:versionID="72069410d474a71a0bb69be6a8c60ac8">
  <xsd:schema xmlns:xsd="http://www.w3.org/2001/XMLSchema" xmlns:xs="http://www.w3.org/2001/XMLSchema" xmlns:p="http://schemas.microsoft.com/office/2006/metadata/properties" xmlns:ns2="f64051cc-6aa4-41cc-9162-9e63a73fdec7" targetNamespace="http://schemas.microsoft.com/office/2006/metadata/properties" ma:root="true" ma:fieldsID="30684f360ba2892a6954467fe3603677" ns2:_="">
    <xsd:import namespace="f64051cc-6aa4-41cc-9162-9e63a73fdec7"/>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4051cc-6aa4-41cc-9162-9e63a73fdec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class:Classification xmlns:class="urn:us:gov:cia:enterprise:schema:Classification:2.3" dateClassified="2025-04-30" portionMarking="false" caveat="false" tool="Desktop" toolVersion="202420">
  <class:ClassificationMarking type="USClassificationMarking" value="UNCLASSIFIED"/>
  <class:ClassifiedBy>Shadrach Hicks</class:ClassifiedBy>
  <class:ClassificationHeader>
    <class:ClassificationBanner>UNCLASSIFIED</class:ClassificationBanner>
    <class:SCICaveat/>
    <class:DescriptiveMarkings/>
  </class:ClassificationHeader>
  <class:ClassificationFooter>
    <class:DescriptiveMarkings/>
    <class:ClassificationBanner>UNCLASSIFIED</class:ClassificationBanner>
  </class:ClassificationFooter>
</class:Classification>
</file>

<file path=customXml/item4.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7A62D9D-827F-4313-9EB5-AFC7A3CFDC3E}">
  <ds:schemaRefs>
    <ds:schemaRef ds:uri="http://schemas.microsoft.com/sharepoint/v3/contenttype/forms"/>
  </ds:schemaRefs>
</ds:datastoreItem>
</file>

<file path=customXml/itemProps2.xml><?xml version="1.0" encoding="utf-8"?>
<ds:datastoreItem xmlns:ds="http://schemas.openxmlformats.org/officeDocument/2006/customXml" ds:itemID="{6EF77975-79F6-4C75-B509-3C1E0AD17F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64051cc-6aa4-41cc-9162-9e63a73fdec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AC345DC-8C3C-4045-A552-3671F45717F5}">
  <ds:schemaRefs>
    <ds:schemaRef ds:uri="urn:us:gov:cia:enterprise:schema:Classification:2.3"/>
  </ds:schemaRefs>
</ds:datastoreItem>
</file>

<file path=customXml/itemProps4.xml><?xml version="1.0" encoding="utf-8"?>
<ds:datastoreItem xmlns:ds="http://schemas.openxmlformats.org/officeDocument/2006/customXml" ds:itemID="{75441766-B0AA-4230-8FAD-516F41626D51}">
  <ds:schemaRefs>
    <ds:schemaRef ds:uri="http://schemas.openxmlformats.org/package/2006/metadata/core-properties"/>
    <ds:schemaRef ds:uri="http://schemas.microsoft.com/office/2006/metadata/properties"/>
    <ds:schemaRef ds:uri="http://schemas.microsoft.com/office/2006/documentManagement/types"/>
    <ds:schemaRef ds:uri="http://purl.org/dc/dcmitype/"/>
    <ds:schemaRef ds:uri="f64051cc-6aa4-41cc-9162-9e63a73fdec7"/>
    <ds:schemaRef ds:uri="http://purl.org/dc/elements/1.1/"/>
    <ds:schemaRef ds:uri="http://www.w3.org/XML/1998/namespace"/>
    <ds:schemaRef ds:uri="http://schemas.microsoft.com/office/infopath/2007/PartnerControls"/>
    <ds:schemaRef ds:uri="http://purl.org/dc/terms/"/>
  </ds:schemaRefs>
</ds:datastoreItem>
</file>

<file path=docMetadata/LabelInfo.xml><?xml version="1.0" encoding="utf-8"?>
<clbl:labelList xmlns:clbl="http://schemas.microsoft.com/office/2020/mipLabelMetadata">
  <clbl:label id="{554eecc5-e26c-4620-b240-5a8bb326c33d}" enabled="1" method="Privileged" siteId="{fae6d70f-954b-4811-92b6-0530d6f84c43}" removed="0"/>
</clbl:labelList>
</file>

<file path=docProps/app.xml><?xml version="1.0" encoding="utf-8"?>
<Properties xmlns="http://schemas.openxmlformats.org/officeDocument/2006/extended-properties" xmlns:vt="http://schemas.openxmlformats.org/officeDocument/2006/docPropsVTypes">
  <TotalTime>1377</TotalTime>
  <Words>7</Words>
  <Application>Microsoft Office PowerPoint</Application>
  <PresentationFormat>Widescreen</PresentationFormat>
  <Paragraphs>7</Paragraphs>
  <Slides>2</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2</vt:i4>
      </vt:variant>
    </vt:vector>
  </HeadingPairs>
  <TitlesOfParts>
    <vt:vector size="12" baseType="lpstr">
      <vt:lpstr>Aptos</vt:lpstr>
      <vt:lpstr>arial</vt:lpstr>
      <vt:lpstr>arial</vt:lpstr>
      <vt:lpstr>Calibri</vt:lpstr>
      <vt:lpstr>Franklin Gothic Demi</vt:lpstr>
      <vt:lpstr>Franklin Gothic Demi Cond</vt:lpstr>
      <vt:lpstr>Franklin Gothic Medium</vt:lpstr>
      <vt:lpstr>Franklin Gothic Medium Cond</vt:lpstr>
      <vt:lpstr>Title Slide</vt:lpstr>
      <vt:lpstr>Standard Slide </vt:lpstr>
      <vt:lpstr>Title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Schiff, Benjamin E MAJ USARMY USAREUR-AF (USA)</dc:creator>
  <cp:keywords>Classification=UNCLASSIFIED, Caveat=NATO</cp:keywords>
  <cp:lastModifiedBy>Hater, Andrew D CPT USARMY USAREUR-AF (USA)</cp:lastModifiedBy>
  <cp:revision>10</cp:revision>
  <cp:lastPrinted>2024-08-20T10:58:15Z</cp:lastPrinted>
  <dcterms:created xsi:type="dcterms:W3CDTF">2023-11-09T18:36:45Z</dcterms:created>
  <dcterms:modified xsi:type="dcterms:W3CDTF">2026-03-14T12:17:13Z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9bab5c8b-586e-4fd8-8a5a-4ef50aff8ba9</vt:lpwstr>
  </property>
  <property fmtid="{D5CDD505-2E9C-101B-9397-08002B2CF9AE}" pid="3" name="Classification">
    <vt:lpwstr>UNCLASSIFIED</vt:lpwstr>
  </property>
  <property fmtid="{D5CDD505-2E9C-101B-9397-08002B2CF9AE}" pid="4" name="Caveat">
    <vt:lpwstr>NATO2</vt:lpwstr>
  </property>
  <property fmtid="{D5CDD505-2E9C-101B-9397-08002B2CF9AE}" pid="5" name="MediaServiceImageTags">
    <vt:lpwstr/>
  </property>
  <property fmtid="{D5CDD505-2E9C-101B-9397-08002B2CF9AE}" pid="6" name="ContentTypeId">
    <vt:lpwstr>0x010100B1B12DE73CE5F54CA52A3C1EDD328F5B</vt:lpwstr>
  </property>
  <property fmtid="{D5CDD505-2E9C-101B-9397-08002B2CF9AE}" pid="7" name="AACG_OFFICE_DLL">
    <vt:bool>true</vt:bool>
  </property>
  <property fmtid="{D5CDD505-2E9C-101B-9397-08002B2CF9AE}" pid="8" name="AACG_Created">
    <vt:bool>true</vt:bool>
  </property>
  <property fmtid="{D5CDD505-2E9C-101B-9397-08002B2CF9AE}" pid="9" name="AACG_DescMarkings">
    <vt:lpwstr/>
  </property>
  <property fmtid="{D5CDD505-2E9C-101B-9397-08002B2CF9AE}" pid="10" name="AACG_AddMark">
    <vt:lpwstr/>
  </property>
  <property fmtid="{D5CDD505-2E9C-101B-9397-08002B2CF9AE}" pid="11" name="AACG_Header">
    <vt:lpwstr>UNCLASSIFIED</vt:lpwstr>
  </property>
  <property fmtid="{D5CDD505-2E9C-101B-9397-08002B2CF9AE}" pid="12" name="AACG_Footer">
    <vt:lpwstr>_x000d_UNCLASSIFIED</vt:lpwstr>
  </property>
  <property fmtid="{D5CDD505-2E9C-101B-9397-08002B2CF9AE}" pid="13" name="AACG_ClassBlock">
    <vt:lpwstr/>
  </property>
  <property fmtid="{D5CDD505-2E9C-101B-9397-08002B2CF9AE}" pid="14" name="AACG_ClassType">
    <vt:lpwstr>USClassificationMarking</vt:lpwstr>
  </property>
  <property fmtid="{D5CDD505-2E9C-101B-9397-08002B2CF9AE}" pid="15" name="AACG_DeclOnList">
    <vt:lpwstr/>
  </property>
  <property fmtid="{D5CDD505-2E9C-101B-9397-08002B2CF9AE}" pid="16" name="AACG_USAF_Derivatives">
    <vt:lpwstr/>
  </property>
  <property fmtid="{D5CDD505-2E9C-101B-9397-08002B2CF9AE}" pid="17" name="AACG_SCI_Other">
    <vt:lpwstr/>
  </property>
  <property fmtid="{D5CDD505-2E9C-101B-9397-08002B2CF9AE}" pid="18" name="AACG_Dissem_Other">
    <vt:lpwstr/>
  </property>
  <property fmtid="{D5CDD505-2E9C-101B-9397-08002B2CF9AE}" pid="19" name="PortionWaiver">
    <vt:lpwstr/>
  </property>
  <property fmtid="{D5CDD505-2E9C-101B-9397-08002B2CF9AE}" pid="20" name="AACG_OrconOriginator">
    <vt:lpwstr/>
  </property>
  <property fmtid="{D5CDD505-2E9C-101B-9397-08002B2CF9AE}" pid="21" name="AACG_OrconRecipients">
    <vt:lpwstr/>
  </property>
  <property fmtid="{D5CDD505-2E9C-101B-9397-08002B2CF9AE}" pid="22" name="AACG_SatWarningType">
    <vt:lpwstr/>
  </property>
  <property fmtid="{D5CDD505-2E9C-101B-9397-08002B2CF9AE}" pid="23" name="AACG_NatoWarningClassLevel">
    <vt:lpwstr/>
  </property>
  <property fmtid="{D5CDD505-2E9C-101B-9397-08002B2CF9AE}" pid="24" name="AACG_Version">
    <vt:lpwstr>202420</vt:lpwstr>
  </property>
  <property fmtid="{D5CDD505-2E9C-101B-9397-08002B2CF9AE}" pid="25" name="AACG_CustomClassXMLPart">
    <vt:lpwstr>{EAC345DC-8C3C-4045-A552-3671F45717F5}</vt:lpwstr>
  </property>
</Properties>
</file>